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6"/>
  </p:notesMasterIdLst>
  <p:sldIdLst>
    <p:sldId id="256" r:id="rId2"/>
    <p:sldId id="257" r:id="rId3"/>
    <p:sldId id="258" r:id="rId4"/>
    <p:sldId id="281" r:id="rId5"/>
    <p:sldId id="283" r:id="rId6"/>
    <p:sldId id="285" r:id="rId7"/>
    <p:sldId id="284" r:id="rId8"/>
    <p:sldId id="259" r:id="rId9"/>
    <p:sldId id="286" r:id="rId10"/>
    <p:sldId id="260" r:id="rId11"/>
    <p:sldId id="287" r:id="rId12"/>
    <p:sldId id="288" r:id="rId13"/>
    <p:sldId id="289" r:id="rId14"/>
    <p:sldId id="262" r:id="rId15"/>
    <p:sldId id="265" r:id="rId16"/>
    <p:sldId id="311" r:id="rId17"/>
    <p:sldId id="312" r:id="rId18"/>
    <p:sldId id="297" r:id="rId19"/>
    <p:sldId id="298" r:id="rId20"/>
    <p:sldId id="299" r:id="rId21"/>
    <p:sldId id="300" r:id="rId22"/>
    <p:sldId id="301" r:id="rId23"/>
    <p:sldId id="302" r:id="rId24"/>
    <p:sldId id="303" r:id="rId25"/>
    <p:sldId id="304" r:id="rId26"/>
    <p:sldId id="305" r:id="rId27"/>
    <p:sldId id="268" r:id="rId28"/>
    <p:sldId id="323" r:id="rId29"/>
    <p:sldId id="324" r:id="rId30"/>
    <p:sldId id="325" r:id="rId31"/>
    <p:sldId id="326" r:id="rId32"/>
    <p:sldId id="328" r:id="rId33"/>
    <p:sldId id="327" r:id="rId34"/>
    <p:sldId id="329" r:id="rId35"/>
    <p:sldId id="330" r:id="rId36"/>
    <p:sldId id="337" r:id="rId37"/>
    <p:sldId id="338" r:id="rId38"/>
    <p:sldId id="340" r:id="rId39"/>
    <p:sldId id="375" r:id="rId40"/>
    <p:sldId id="339" r:id="rId41"/>
    <p:sldId id="341" r:id="rId42"/>
    <p:sldId id="331" r:id="rId43"/>
    <p:sldId id="347" r:id="rId44"/>
    <p:sldId id="342" r:id="rId45"/>
    <p:sldId id="343" r:id="rId46"/>
    <p:sldId id="332" r:id="rId47"/>
    <p:sldId id="344" r:id="rId48"/>
    <p:sldId id="333" r:id="rId49"/>
    <p:sldId id="346" r:id="rId50"/>
    <p:sldId id="345" r:id="rId51"/>
    <p:sldId id="334" r:id="rId52"/>
    <p:sldId id="335" r:id="rId53"/>
    <p:sldId id="336" r:id="rId54"/>
    <p:sldId id="348" r:id="rId55"/>
    <p:sldId id="351" r:id="rId56"/>
    <p:sldId id="356" r:id="rId57"/>
    <p:sldId id="357" r:id="rId58"/>
    <p:sldId id="358" r:id="rId59"/>
    <p:sldId id="359" r:id="rId60"/>
    <p:sldId id="360" r:id="rId61"/>
    <p:sldId id="376" r:id="rId62"/>
    <p:sldId id="363" r:id="rId63"/>
    <p:sldId id="366" r:id="rId64"/>
    <p:sldId id="367" r:id="rId65"/>
    <p:sldId id="364" r:id="rId66"/>
    <p:sldId id="365" r:id="rId67"/>
    <p:sldId id="368" r:id="rId68"/>
    <p:sldId id="369" r:id="rId69"/>
    <p:sldId id="370" r:id="rId70"/>
    <p:sldId id="371" r:id="rId71"/>
    <p:sldId id="374" r:id="rId72"/>
    <p:sldId id="373" r:id="rId73"/>
    <p:sldId id="372" r:id="rId74"/>
    <p:sldId id="377" r:id="rId75"/>
    <p:sldId id="378" r:id="rId76"/>
    <p:sldId id="379" r:id="rId77"/>
    <p:sldId id="380" r:id="rId78"/>
    <p:sldId id="381" r:id="rId79"/>
    <p:sldId id="382" r:id="rId80"/>
    <p:sldId id="383" r:id="rId81"/>
    <p:sldId id="384" r:id="rId82"/>
    <p:sldId id="385" r:id="rId83"/>
    <p:sldId id="387" r:id="rId84"/>
    <p:sldId id="478" r:id="rId85"/>
    <p:sldId id="397" r:id="rId86"/>
    <p:sldId id="403" r:id="rId87"/>
    <p:sldId id="401" r:id="rId88"/>
    <p:sldId id="404" r:id="rId89"/>
    <p:sldId id="418" r:id="rId90"/>
    <p:sldId id="419" r:id="rId91"/>
    <p:sldId id="481" r:id="rId92"/>
    <p:sldId id="416" r:id="rId93"/>
    <p:sldId id="431" r:id="rId94"/>
    <p:sldId id="479" r:id="rId95"/>
    <p:sldId id="398" r:id="rId96"/>
    <p:sldId id="420" r:id="rId97"/>
    <p:sldId id="424" r:id="rId98"/>
    <p:sldId id="432" r:id="rId99"/>
    <p:sldId id="399" r:id="rId100"/>
    <p:sldId id="426" r:id="rId101"/>
    <p:sldId id="427" r:id="rId102"/>
    <p:sldId id="480" r:id="rId103"/>
    <p:sldId id="428" r:id="rId104"/>
    <p:sldId id="433" r:id="rId10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2" d="100"/>
          <a:sy n="92" d="100"/>
        </p:scale>
        <p:origin x="341"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F77B5E-A7EC-49A7-B7FC-4CA79B1F849B}" type="datetimeFigureOut">
              <a:rPr lang="en-CA" smtClean="0"/>
              <a:t>2025-10-20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62175D-B2C1-41E5-9381-6E468E8F1D0F}" type="slidenum">
              <a:rPr lang="en-CA" smtClean="0"/>
              <a:t>‹#›</a:t>
            </a:fld>
            <a:endParaRPr lang="en-CA"/>
          </a:p>
        </p:txBody>
      </p:sp>
    </p:spTree>
    <p:extLst>
      <p:ext uri="{BB962C8B-B14F-4D97-AF65-F5344CB8AC3E}">
        <p14:creationId xmlns:p14="http://schemas.microsoft.com/office/powerpoint/2010/main" val="277557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C62175D-B2C1-41E5-9381-6E468E8F1D0F}" type="slidenum">
              <a:rPr lang="en-CA" smtClean="0"/>
              <a:t>94</a:t>
            </a:fld>
            <a:endParaRPr lang="en-CA"/>
          </a:p>
        </p:txBody>
      </p:sp>
    </p:spTree>
    <p:extLst>
      <p:ext uri="{BB962C8B-B14F-4D97-AF65-F5344CB8AC3E}">
        <p14:creationId xmlns:p14="http://schemas.microsoft.com/office/powerpoint/2010/main" val="1039997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F7A2-29D9-4C94-8CC8-B53B1F5412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E49BB9A0-C43B-4916-B384-ED8E7980FA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8B88BFB7-3943-40DA-800B-A8319E0D83A3}"/>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5" name="Footer Placeholder 4">
            <a:extLst>
              <a:ext uri="{FF2B5EF4-FFF2-40B4-BE49-F238E27FC236}">
                <a16:creationId xmlns:a16="http://schemas.microsoft.com/office/drawing/2014/main" id="{ADCDFCB3-FC30-46C9-9932-8433E2F0F181}"/>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622DE44-83CD-40A3-B892-28260B878C2D}"/>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2792285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81C2C-EB30-4106-88A9-6408D56715E6}"/>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A00B0E10-7C16-4100-AD19-B6CEE19FB0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CF9DCDFD-0988-49E3-A3EA-3210B283DE91}"/>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5" name="Footer Placeholder 4">
            <a:extLst>
              <a:ext uri="{FF2B5EF4-FFF2-40B4-BE49-F238E27FC236}">
                <a16:creationId xmlns:a16="http://schemas.microsoft.com/office/drawing/2014/main" id="{F8ACD047-4792-4E72-818B-6AD1B9C5418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BEE0F1C3-9E66-4627-B5DF-A4726F73D6CA}"/>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71128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1442A-36E2-4CA9-B503-49D2B9DE82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D3893696-BC4D-4A7B-9321-02092AC18F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F55402-0B26-4F49-B0A9-C50226800112}"/>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5" name="Footer Placeholder 4">
            <a:extLst>
              <a:ext uri="{FF2B5EF4-FFF2-40B4-BE49-F238E27FC236}">
                <a16:creationId xmlns:a16="http://schemas.microsoft.com/office/drawing/2014/main" id="{543E4D60-EEA4-47A4-9A18-5ABD847527EC}"/>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AF8B85EA-495D-4E10-B8C9-1BBC5EB9156A}"/>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2919754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3413C-AC8F-4DEC-B801-7EED6FA22BE3}"/>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35D7CF45-E119-42BB-92D1-D6D039931F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8096A301-BE0A-42C9-A3C1-41B9124D94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B8AFC122-2CB1-49E2-A9A1-A50E14C70154}"/>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6" name="Footer Placeholder 5">
            <a:extLst>
              <a:ext uri="{FF2B5EF4-FFF2-40B4-BE49-F238E27FC236}">
                <a16:creationId xmlns:a16="http://schemas.microsoft.com/office/drawing/2014/main" id="{5C834592-8DF7-4281-B16A-ED7DF207E550}"/>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330261EF-2A85-4C04-B3FA-665C60DBE28F}"/>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1438821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333A6-80EC-4489-AE5C-DBD2ECA396C4}"/>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A6C26939-A0EE-4978-AC33-21206D81FA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486F97-AC54-467C-93D1-C0B282A52F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1B85223B-2DEC-4845-BFED-42FB19FDCF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6924AE-96C6-4B9E-A53F-5ACD2F4335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18D76173-A7A0-44B9-A6B2-9A93600ADDFE}"/>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8" name="Footer Placeholder 7">
            <a:extLst>
              <a:ext uri="{FF2B5EF4-FFF2-40B4-BE49-F238E27FC236}">
                <a16:creationId xmlns:a16="http://schemas.microsoft.com/office/drawing/2014/main" id="{05CA717C-1BE1-4064-89A3-32A4A75B9C75}"/>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B10E0955-A179-42E5-911C-AC49B6E0E579}"/>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498803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FE41F-3722-4A16-937A-426271DA5C73}"/>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66D0CF6F-9561-462C-8E71-A8BD51774B0C}"/>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4" name="Footer Placeholder 3">
            <a:extLst>
              <a:ext uri="{FF2B5EF4-FFF2-40B4-BE49-F238E27FC236}">
                <a16:creationId xmlns:a16="http://schemas.microsoft.com/office/drawing/2014/main" id="{E604D67F-DC7E-4948-806C-B856F8F0A9A5}"/>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3A551D46-D17B-40F8-A2E2-F6896AB0AA26}"/>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4236352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255123-A685-4276-BC6E-619E7DA10FC8}"/>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3" name="Footer Placeholder 2">
            <a:extLst>
              <a:ext uri="{FF2B5EF4-FFF2-40B4-BE49-F238E27FC236}">
                <a16:creationId xmlns:a16="http://schemas.microsoft.com/office/drawing/2014/main" id="{60D18139-EE3C-4381-BEC5-D18F0AE50421}"/>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455C38A7-11EB-440E-A286-6B31062D0D1A}"/>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2829517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1DB7F-94EB-4C1F-9FED-F0B84E0F50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C6C6EFD8-47CD-429D-BECF-E4139D32A3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9E12B3D3-9A6E-4EA8-9207-5218C617C3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64EE5E-70A0-48B3-BC28-A60198A1FE63}"/>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6" name="Footer Placeholder 5">
            <a:extLst>
              <a:ext uri="{FF2B5EF4-FFF2-40B4-BE49-F238E27FC236}">
                <a16:creationId xmlns:a16="http://schemas.microsoft.com/office/drawing/2014/main" id="{48BEB30C-C6E0-48FD-9E0D-4E186B5F5099}"/>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CB537D1E-709B-474F-B808-4291FBF7DA06}"/>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476547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BC329-2A59-4157-8065-CEA8AFFD6C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76B4DD9C-E15C-4C7E-8651-8672A1A4CF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339BE39C-25D5-4E25-AD54-3EC15874B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CCE4B1-E564-45BA-8EEB-E9EB6CD2E463}"/>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6" name="Footer Placeholder 5">
            <a:extLst>
              <a:ext uri="{FF2B5EF4-FFF2-40B4-BE49-F238E27FC236}">
                <a16:creationId xmlns:a16="http://schemas.microsoft.com/office/drawing/2014/main" id="{6ED409C7-3C02-4DFB-8428-D65F980BDB48}"/>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56D014F1-F050-4F1A-9BFB-BC49BA43B43E}"/>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3331317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F2C18-DF06-43DA-BC81-FC021F70DA77}"/>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3EDF11D8-2359-4745-8FCD-3D7179A413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6E97CAD4-2DBD-4AA1-8D11-B6B944F324EC}"/>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5" name="Footer Placeholder 4">
            <a:extLst>
              <a:ext uri="{FF2B5EF4-FFF2-40B4-BE49-F238E27FC236}">
                <a16:creationId xmlns:a16="http://schemas.microsoft.com/office/drawing/2014/main" id="{E54A50D4-7C24-4C58-9DAB-3CF632517A5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62D7B1C-3F02-4592-927C-2479C7ED0919}"/>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1349212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BEAEC3-321D-4C5A-8236-30B6846ECB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5B6721E2-0E16-423E-A8F3-7084BD5E78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C6BF6847-6EBA-4509-B13F-4A756E820A5D}"/>
              </a:ext>
            </a:extLst>
          </p:cNvPr>
          <p:cNvSpPr>
            <a:spLocks noGrp="1"/>
          </p:cNvSpPr>
          <p:nvPr>
            <p:ph type="dt" sz="half" idx="10"/>
          </p:nvPr>
        </p:nvSpPr>
        <p:spPr/>
        <p:txBody>
          <a:bodyPr/>
          <a:lstStyle/>
          <a:p>
            <a:fld id="{3191932A-5A5D-41CF-B1DF-493F37005B6B}" type="datetimeFigureOut">
              <a:rPr lang="fr-FR" smtClean="0"/>
              <a:t>20/10/2025</a:t>
            </a:fld>
            <a:endParaRPr lang="fr-FR"/>
          </a:p>
        </p:txBody>
      </p:sp>
      <p:sp>
        <p:nvSpPr>
          <p:cNvPr id="5" name="Footer Placeholder 4">
            <a:extLst>
              <a:ext uri="{FF2B5EF4-FFF2-40B4-BE49-F238E27FC236}">
                <a16:creationId xmlns:a16="http://schemas.microsoft.com/office/drawing/2014/main" id="{EA5CDC8A-0846-4240-8579-613B4967CA73}"/>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913F975-55C1-48A8-8458-03FA4A461242}"/>
              </a:ext>
            </a:extLst>
          </p:cNvPr>
          <p:cNvSpPr>
            <a:spLocks noGrp="1"/>
          </p:cNvSpPr>
          <p:nvPr>
            <p:ph type="sldNum" sz="quarter" idx="12"/>
          </p:nvPr>
        </p:nvSpPr>
        <p:spPr/>
        <p:txBody>
          <a:bodyPr/>
          <a:lstStyle/>
          <a:p>
            <a:fld id="{98B23261-19EA-4A90-961C-0955F684DB1B}" type="slidenum">
              <a:rPr lang="fr-FR" smtClean="0"/>
              <a:t>‹#›</a:t>
            </a:fld>
            <a:endParaRPr lang="fr-FR"/>
          </a:p>
        </p:txBody>
      </p:sp>
    </p:spTree>
    <p:extLst>
      <p:ext uri="{BB962C8B-B14F-4D97-AF65-F5344CB8AC3E}">
        <p14:creationId xmlns:p14="http://schemas.microsoft.com/office/powerpoint/2010/main" val="53879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0E3C55-512F-4499-98F1-7E4F913669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BCFC4EFC-E120-4CC1-9DD0-C1754D6F87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8D8F5FE6-BED4-4B01-88C1-9E2286783B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91932A-5A5D-41CF-B1DF-493F37005B6B}" type="datetimeFigureOut">
              <a:rPr lang="fr-FR" smtClean="0"/>
              <a:t>20/10/2025</a:t>
            </a:fld>
            <a:endParaRPr lang="fr-FR"/>
          </a:p>
        </p:txBody>
      </p:sp>
      <p:sp>
        <p:nvSpPr>
          <p:cNvPr id="5" name="Footer Placeholder 4">
            <a:extLst>
              <a:ext uri="{FF2B5EF4-FFF2-40B4-BE49-F238E27FC236}">
                <a16:creationId xmlns:a16="http://schemas.microsoft.com/office/drawing/2014/main" id="{38FFDAEC-3B79-4A13-A82F-97B24ACA97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6A460B9B-DC55-4626-88CE-4785C64BB1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B23261-19EA-4A90-961C-0955F684DB1B}" type="slidenum">
              <a:rPr lang="fr-FR" smtClean="0"/>
              <a:t>‹#›</a:t>
            </a:fld>
            <a:endParaRPr lang="fr-FR"/>
          </a:p>
        </p:txBody>
      </p:sp>
      <p:sp>
        <p:nvSpPr>
          <p:cNvPr id="7" name="TextBox 6">
            <a:extLst>
              <a:ext uri="{FF2B5EF4-FFF2-40B4-BE49-F238E27FC236}">
                <a16:creationId xmlns:a16="http://schemas.microsoft.com/office/drawing/2014/main" id="{B24294DD-A613-B3B0-4F42-A7F8902F91AD}"/>
              </a:ext>
            </a:extLst>
          </p:cNvPr>
          <p:cNvSpPr txBox="1"/>
          <p:nvPr userDrawn="1"/>
        </p:nvSpPr>
        <p:spPr>
          <a:xfrm>
            <a:off x="0" y="0"/>
            <a:ext cx="12192000" cy="553998"/>
          </a:xfrm>
          <a:prstGeom prst="rect">
            <a:avLst/>
          </a:prstGeom>
          <a:solidFill>
            <a:schemeClr val="tx1">
              <a:lumMod val="75000"/>
              <a:lumOff val="25000"/>
            </a:schemeClr>
          </a:solidFill>
        </p:spPr>
        <p:txBody>
          <a:bodyPr wrap="square" rtlCol="0">
            <a:spAutoFit/>
          </a:bodyPr>
          <a:lstStyle/>
          <a:p>
            <a:r>
              <a:rPr lang="en-US" sz="3000" b="1" dirty="0">
                <a:solidFill>
                  <a:schemeClr val="accent4">
                    <a:lumMod val="60000"/>
                    <a:lumOff val="40000"/>
                  </a:schemeClr>
                </a:solidFill>
              </a:rPr>
              <a:t>BEGINNER SOCIAL NETWORKS COURSE</a:t>
            </a:r>
            <a:endParaRPr lang="fr-FR" sz="3000" b="1" dirty="0">
              <a:solidFill>
                <a:schemeClr val="accent4">
                  <a:lumMod val="60000"/>
                  <a:lumOff val="40000"/>
                </a:schemeClr>
              </a:solidFill>
            </a:endParaRPr>
          </a:p>
        </p:txBody>
      </p:sp>
      <p:pic>
        <p:nvPicPr>
          <p:cNvPr id="8" name="Picture 7" descr="Logo&#10;&#10;Description automatically generated">
            <a:extLst>
              <a:ext uri="{FF2B5EF4-FFF2-40B4-BE49-F238E27FC236}">
                <a16:creationId xmlns:a16="http://schemas.microsoft.com/office/drawing/2014/main" id="{1EA3DD4F-5D89-652C-DB5C-8396DACB58B9}"/>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Tree>
    <p:extLst>
      <p:ext uri="{BB962C8B-B14F-4D97-AF65-F5344CB8AC3E}">
        <p14:creationId xmlns:p14="http://schemas.microsoft.com/office/powerpoint/2010/main" val="2290129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mailto:Matthew.Silk@ed.ac.uk"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NETDEM-project/CEFE_Networks_Course"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tif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png"/><Relationship Id="rId7" Type="http://schemas.openxmlformats.org/officeDocument/2006/relationships/image" Target="../media/image11.jpeg"/><Relationship Id="rId12"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jpeg"/><Relationship Id="rId5" Type="http://schemas.openxmlformats.org/officeDocument/2006/relationships/image" Target="../media/image9.jpe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16/j.anbehav.2017.08.029"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1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hyperlink" Target="https://doi.org/10.1101/2021.12.20.473541" TargetMode="External"/><Relationship Id="rId4" Type="http://schemas.openxmlformats.org/officeDocument/2006/relationships/hyperlink" Target="https://doi.org/10.1016/j.anbehav.2017.08.029"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jpeg"/></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NETDEM-project/CEFE_Networks_Course"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tif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s://twitter.com/mattjsilk/status/997029135548669957" TargetMode="External"/><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s://skewed.de/tiago/blog/descriptive-inferential" TargetMode="External"/><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igraph.org/c/doc/igraph-Community.html" TargetMode="External"/><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https://igraph.org/c/doc/igraph-Community.html" TargetMode="External"/><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hyperlink" Target="https://github.com/NETDEM-project/CEFE_Networks_Course"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tiff"/></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83.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jpeg"/></Relationships>
</file>

<file path=ppt/slides/_rels/slide8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5.jpeg"/><Relationship Id="rId4" Type="http://schemas.openxmlformats.org/officeDocument/2006/relationships/image" Target="../media/image34.png"/></Relationships>
</file>

<file path=ppt/slides/_rels/slide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jpeg"/><Relationship Id="rId4" Type="http://schemas.openxmlformats.org/officeDocument/2006/relationships/image" Target="../media/image36.png"/></Relationships>
</file>

<file path=ppt/slides/_rels/slide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7.jpeg"/></Relationships>
</file>

<file path=ppt/slides/_rels/slide10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58B91E0-12AF-4CF5-AE63-55594221DBB0}"/>
              </a:ext>
            </a:extLst>
          </p:cNvPr>
          <p:cNvSpPr txBox="1"/>
          <p:nvPr/>
        </p:nvSpPr>
        <p:spPr>
          <a:xfrm>
            <a:off x="0" y="418011"/>
            <a:ext cx="12192000" cy="553998"/>
          </a:xfrm>
          <a:prstGeom prst="rect">
            <a:avLst/>
          </a:prstGeom>
          <a:solidFill>
            <a:schemeClr val="tx1">
              <a:lumMod val="75000"/>
              <a:lumOff val="25000"/>
            </a:schemeClr>
          </a:solidFill>
        </p:spPr>
        <p:txBody>
          <a:bodyPr wrap="square" rtlCol="0">
            <a:spAutoFit/>
          </a:bodyPr>
          <a:lstStyle/>
          <a:p>
            <a:pPr algn="ctr"/>
            <a:r>
              <a:rPr lang="en-US" sz="3000" b="1" dirty="0">
                <a:solidFill>
                  <a:schemeClr val="accent4">
                    <a:lumMod val="60000"/>
                    <a:lumOff val="40000"/>
                  </a:schemeClr>
                </a:solidFill>
              </a:rPr>
              <a:t>CEFE SOCIAL NETWORKS COURSE</a:t>
            </a:r>
            <a:endParaRPr lang="fr-FR" sz="3000" b="1" dirty="0">
              <a:solidFill>
                <a:schemeClr val="accent4">
                  <a:lumMod val="60000"/>
                  <a:lumOff val="40000"/>
                </a:schemeClr>
              </a:solidFill>
            </a:endParaRPr>
          </a:p>
        </p:txBody>
      </p:sp>
      <p:pic>
        <p:nvPicPr>
          <p:cNvPr id="5" name="Picture 4">
            <a:extLst>
              <a:ext uri="{FF2B5EF4-FFF2-40B4-BE49-F238E27FC236}">
                <a16:creationId xmlns:a16="http://schemas.microsoft.com/office/drawing/2014/main" id="{7051FC9E-E48B-4B6F-AE7B-A90F566C1AA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60798" y="1698521"/>
            <a:ext cx="13513596" cy="3021528"/>
          </a:xfrm>
          <a:prstGeom prst="rect">
            <a:avLst/>
          </a:prstGeom>
        </p:spPr>
      </p:pic>
      <p:pic>
        <p:nvPicPr>
          <p:cNvPr id="6" name="Picture 5" descr="Logo&#10;&#10;Description automatically generated">
            <a:extLst>
              <a:ext uri="{FF2B5EF4-FFF2-40B4-BE49-F238E27FC236}">
                <a16:creationId xmlns:a16="http://schemas.microsoft.com/office/drawing/2014/main" id="{2DAB65CE-619D-4510-83D3-DD5779FEACA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477504" y="5312512"/>
            <a:ext cx="1540326" cy="1494143"/>
          </a:xfrm>
          <a:prstGeom prst="rect">
            <a:avLst/>
          </a:prstGeom>
        </p:spPr>
      </p:pic>
      <p:sp>
        <p:nvSpPr>
          <p:cNvPr id="3" name="TextBox 2">
            <a:extLst>
              <a:ext uri="{FF2B5EF4-FFF2-40B4-BE49-F238E27FC236}">
                <a16:creationId xmlns:a16="http://schemas.microsoft.com/office/drawing/2014/main" id="{570E09BC-BDB4-B28D-0399-C96A06DD20EC}"/>
              </a:ext>
            </a:extLst>
          </p:cNvPr>
          <p:cNvSpPr txBox="1"/>
          <p:nvPr/>
        </p:nvSpPr>
        <p:spPr>
          <a:xfrm>
            <a:off x="348342" y="5511791"/>
            <a:ext cx="6731726" cy="830997"/>
          </a:xfrm>
          <a:prstGeom prst="rect">
            <a:avLst/>
          </a:prstGeom>
          <a:noFill/>
        </p:spPr>
        <p:txBody>
          <a:bodyPr wrap="square" rtlCol="0">
            <a:spAutoFit/>
          </a:bodyPr>
          <a:lstStyle/>
          <a:p>
            <a:r>
              <a:rPr lang="en-US" sz="2400" b="1" dirty="0"/>
              <a:t>Matthew Silk</a:t>
            </a:r>
          </a:p>
          <a:p>
            <a:r>
              <a:rPr lang="en-US" sz="2400" b="1" dirty="0">
                <a:hlinkClick r:id="rId4"/>
              </a:rPr>
              <a:t>Matthew.Silk@ed.ac.uk</a:t>
            </a:r>
            <a:r>
              <a:rPr lang="en-US" sz="2400" b="1" dirty="0"/>
              <a:t> </a:t>
            </a:r>
          </a:p>
        </p:txBody>
      </p:sp>
      <p:pic>
        <p:nvPicPr>
          <p:cNvPr id="9" name="Picture 8" descr="A red background with white text&#10;&#10;Description automatically generated">
            <a:extLst>
              <a:ext uri="{FF2B5EF4-FFF2-40B4-BE49-F238E27FC236}">
                <a16:creationId xmlns:a16="http://schemas.microsoft.com/office/drawing/2014/main" id="{84019DB5-C299-D4F0-B9BF-CD2AB4914F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0622" y="5312512"/>
            <a:ext cx="1405923" cy="1405923"/>
          </a:xfrm>
          <a:prstGeom prst="rect">
            <a:avLst/>
          </a:prstGeom>
        </p:spPr>
      </p:pic>
      <p:pic>
        <p:nvPicPr>
          <p:cNvPr id="10" name="Picture 2">
            <a:extLst>
              <a:ext uri="{FF2B5EF4-FFF2-40B4-BE49-F238E27FC236}">
                <a16:creationId xmlns:a16="http://schemas.microsoft.com/office/drawing/2014/main" id="{A39FBBB6-C47A-8CE4-CD44-068E34FE4427}"/>
              </a:ext>
            </a:extLst>
          </p:cNvPr>
          <p:cNvPicPr>
            <a:picLocks noChangeAspect="1" noChangeArrowheads="1"/>
          </p:cNvPicPr>
          <p:nvPr/>
        </p:nvPicPr>
        <p:blipFill>
          <a:blip r:embed="rId6" cstate="screen">
            <a:extLst>
              <a:ext uri="{28A0092B-C50C-407E-A947-70E740481C1C}">
                <a14:useLocalDpi xmlns:a14="http://schemas.microsoft.com/office/drawing/2010/main" val="0"/>
              </a:ext>
            </a:extLst>
          </a:blip>
          <a:srcRect/>
          <a:stretch>
            <a:fillRect/>
          </a:stretch>
        </p:blipFill>
        <p:spPr bwMode="auto">
          <a:xfrm>
            <a:off x="5422391" y="5983525"/>
            <a:ext cx="3059385" cy="652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774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237DFF-E41D-4603-B9DA-90B08DC6BC64}"/>
              </a:ext>
            </a:extLst>
          </p:cNvPr>
          <p:cNvSpPr txBox="1"/>
          <p:nvPr/>
        </p:nvSpPr>
        <p:spPr>
          <a:xfrm>
            <a:off x="0" y="0"/>
            <a:ext cx="12192000" cy="553998"/>
          </a:xfrm>
          <a:prstGeom prst="rect">
            <a:avLst/>
          </a:prstGeom>
          <a:solidFill>
            <a:schemeClr val="tx1">
              <a:lumMod val="75000"/>
              <a:lumOff val="25000"/>
            </a:schemeClr>
          </a:solidFill>
        </p:spPr>
        <p:txBody>
          <a:bodyPr wrap="square" rtlCol="0">
            <a:spAutoFit/>
          </a:bodyPr>
          <a:lstStyle/>
          <a:p>
            <a:r>
              <a:rPr lang="en-US" sz="3000" b="1" dirty="0">
                <a:solidFill>
                  <a:schemeClr val="accent4">
                    <a:lumMod val="60000"/>
                    <a:lumOff val="40000"/>
                  </a:schemeClr>
                </a:solidFill>
              </a:rPr>
              <a:t>BEGINNER SOCIAL NETWORKS COURSE</a:t>
            </a:r>
            <a:endParaRPr lang="fr-FR" sz="3000" b="1" dirty="0">
              <a:solidFill>
                <a:schemeClr val="accent4">
                  <a:lumMod val="60000"/>
                  <a:lumOff val="40000"/>
                </a:schemeClr>
              </a:solidFill>
            </a:endParaRPr>
          </a:p>
        </p:txBody>
      </p:sp>
      <p:pic>
        <p:nvPicPr>
          <p:cNvPr id="3" name="Picture 2" descr="Logo&#10;&#10;Description automatically generated">
            <a:extLst>
              <a:ext uri="{FF2B5EF4-FFF2-40B4-BE49-F238E27FC236}">
                <a16:creationId xmlns:a16="http://schemas.microsoft.com/office/drawing/2014/main" id="{49691DB4-FD4F-4AA3-8590-BC44BFC6500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4363B0CE-4B61-4C57-BCEE-74DC96AEE77F}"/>
              </a:ext>
            </a:extLst>
          </p:cNvPr>
          <p:cNvSpPr txBox="1"/>
          <p:nvPr/>
        </p:nvSpPr>
        <p:spPr>
          <a:xfrm>
            <a:off x="182880" y="870857"/>
            <a:ext cx="11686903" cy="4893647"/>
          </a:xfrm>
          <a:prstGeom prst="rect">
            <a:avLst/>
          </a:prstGeom>
          <a:noFill/>
        </p:spPr>
        <p:txBody>
          <a:bodyPr wrap="square" rtlCol="0">
            <a:spAutoFit/>
          </a:bodyPr>
          <a:lstStyle/>
          <a:p>
            <a:r>
              <a:rPr lang="en-US" sz="2400" b="1" dirty="0"/>
              <a:t>Plan for the next two weeks:</a:t>
            </a:r>
          </a:p>
          <a:p>
            <a:endParaRPr lang="en-US" sz="2400" b="1" dirty="0"/>
          </a:p>
          <a:p>
            <a:r>
              <a:rPr lang="en-US" sz="2400" b="1" dirty="0"/>
              <a:t>SESSION 1 – What is a network?</a:t>
            </a:r>
          </a:p>
          <a:p>
            <a:endParaRPr lang="en-US" sz="2400" dirty="0"/>
          </a:p>
          <a:p>
            <a:r>
              <a:rPr lang="en-US" sz="2400" dirty="0"/>
              <a:t>SESSION 2 - How do we describe network structures?</a:t>
            </a:r>
          </a:p>
          <a:p>
            <a:endParaRPr lang="en-US" sz="2400" dirty="0"/>
          </a:p>
          <a:p>
            <a:r>
              <a:rPr lang="en-US" sz="2400" dirty="0"/>
              <a:t>SESSION 3 - How do we test hypotheses in networks?</a:t>
            </a:r>
          </a:p>
          <a:p>
            <a:endParaRPr lang="en-US" sz="2400" b="1" dirty="0"/>
          </a:p>
          <a:p>
            <a:endParaRPr lang="en-US" sz="2400" b="1" dirty="0"/>
          </a:p>
          <a:p>
            <a:endParaRPr lang="en-US" sz="2400" b="1" dirty="0"/>
          </a:p>
          <a:p>
            <a:r>
              <a:rPr lang="en-US" sz="2400" b="1" dirty="0">
                <a:highlight>
                  <a:srgbClr val="FFFF00"/>
                </a:highlight>
              </a:rPr>
              <a:t>Course materials:</a:t>
            </a:r>
            <a:br>
              <a:rPr lang="en-US" sz="2400" b="1" dirty="0">
                <a:highlight>
                  <a:srgbClr val="FFFF00"/>
                </a:highlight>
              </a:rPr>
            </a:br>
            <a:br>
              <a:rPr lang="en-US" sz="2400" b="1" dirty="0">
                <a:highlight>
                  <a:srgbClr val="FFFF00"/>
                </a:highlight>
              </a:rPr>
            </a:br>
            <a:r>
              <a:rPr lang="en-US" sz="2400" i="1" dirty="0">
                <a:highlight>
                  <a:srgbClr val="FFFF00"/>
                </a:highlight>
                <a:hlinkClick r:id="rId3"/>
              </a:rPr>
              <a:t>https://github.com/NETDEM-project/CEFE_Networks_Cours</a:t>
            </a:r>
            <a:r>
              <a:rPr lang="en-US" sz="2400" i="1" dirty="0">
                <a:hlinkClick r:id="rId3"/>
              </a:rPr>
              <a:t>e</a:t>
            </a:r>
            <a:r>
              <a:rPr lang="en-US" sz="2400" i="1" dirty="0"/>
              <a:t> </a:t>
            </a:r>
            <a:endParaRPr lang="fr-FR" sz="2400" i="1" dirty="0"/>
          </a:p>
        </p:txBody>
      </p:sp>
      <p:pic>
        <p:nvPicPr>
          <p:cNvPr id="5" name="Picture 4" descr="Map&#10;&#10;Description automatically generated">
            <a:extLst>
              <a:ext uri="{FF2B5EF4-FFF2-40B4-BE49-F238E27FC236}">
                <a16:creationId xmlns:a16="http://schemas.microsoft.com/office/drawing/2014/main" id="{D4DE085E-3A5F-44B5-B12E-92C131BECE5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818748" y="3764309"/>
            <a:ext cx="2842029" cy="2767119"/>
          </a:xfrm>
          <a:prstGeom prst="rect">
            <a:avLst/>
          </a:prstGeom>
        </p:spPr>
      </p:pic>
    </p:spTree>
    <p:extLst>
      <p:ext uri="{BB962C8B-B14F-4D97-AF65-F5344CB8AC3E}">
        <p14:creationId xmlns:p14="http://schemas.microsoft.com/office/powerpoint/2010/main" val="3436183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35B5008-A743-4561-B95C-3A8789F7A284}"/>
              </a:ext>
            </a:extLst>
          </p:cNvPr>
          <p:cNvSpPr txBox="1"/>
          <p:nvPr/>
        </p:nvSpPr>
        <p:spPr>
          <a:xfrm>
            <a:off x="182880" y="870857"/>
            <a:ext cx="11686903" cy="3416320"/>
          </a:xfrm>
          <a:prstGeom prst="rect">
            <a:avLst/>
          </a:prstGeom>
          <a:noFill/>
        </p:spPr>
        <p:txBody>
          <a:bodyPr wrap="square" rtlCol="0">
            <a:spAutoFit/>
          </a:bodyPr>
          <a:lstStyle/>
          <a:p>
            <a:r>
              <a:rPr lang="en-US" sz="2400" b="1" dirty="0"/>
              <a:t>Plan for today:</a:t>
            </a:r>
          </a:p>
          <a:p>
            <a:endParaRPr lang="en-US" sz="2400" b="1" dirty="0"/>
          </a:p>
          <a:p>
            <a:pPr marL="457200" indent="-457200">
              <a:buAutoNum type="arabicPeriod"/>
            </a:pPr>
            <a:r>
              <a:rPr lang="en-US" sz="2400" dirty="0"/>
              <a:t>What is a network?</a:t>
            </a:r>
            <a:endParaRPr lang="en-US" sz="2400" i="1" dirty="0"/>
          </a:p>
          <a:p>
            <a:pPr marL="457200" indent="-457200">
              <a:buAutoNum type="arabicPeriod"/>
            </a:pPr>
            <a:endParaRPr lang="en-US" sz="2400" i="1" dirty="0"/>
          </a:p>
          <a:p>
            <a:pPr marL="457200" indent="-457200">
              <a:buAutoNum type="arabicPeriod"/>
            </a:pPr>
            <a:r>
              <a:rPr lang="en-US" sz="2400" dirty="0"/>
              <a:t>What do network datasets look like?</a:t>
            </a:r>
          </a:p>
          <a:p>
            <a:pPr marL="457200" indent="-457200">
              <a:buAutoNum type="arabicPeriod"/>
            </a:pPr>
            <a:endParaRPr lang="en-US" sz="2400" dirty="0"/>
          </a:p>
          <a:p>
            <a:pPr marL="457200" indent="-457200">
              <a:buFontTx/>
              <a:buAutoNum type="arabicPeriod"/>
            </a:pPr>
            <a:r>
              <a:rPr lang="en-US" sz="2400" dirty="0"/>
              <a:t>Network basics in R</a:t>
            </a:r>
          </a:p>
          <a:p>
            <a:pPr marL="457200" indent="-457200">
              <a:buFontTx/>
              <a:buAutoNum type="arabicPeriod"/>
            </a:pPr>
            <a:endParaRPr lang="en-US" sz="2400" dirty="0"/>
          </a:p>
          <a:p>
            <a:pPr marL="457200" indent="-457200">
              <a:buFontTx/>
              <a:buAutoNum type="arabicPeriod"/>
            </a:pPr>
            <a:r>
              <a:rPr lang="en-US" sz="2400" dirty="0"/>
              <a:t>Weighted and dynamic networks</a:t>
            </a:r>
            <a:endParaRPr lang="fr-FR" sz="2400" dirty="0"/>
          </a:p>
        </p:txBody>
      </p:sp>
    </p:spTree>
    <p:extLst>
      <p:ext uri="{BB962C8B-B14F-4D97-AF65-F5344CB8AC3E}">
        <p14:creationId xmlns:p14="http://schemas.microsoft.com/office/powerpoint/2010/main" val="1735439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758F8005-F269-46F5-A3B2-D5C775BE94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50CCCDC2-F3A0-41E1-871E-617DD1D38B8F}"/>
              </a:ext>
            </a:extLst>
          </p:cNvPr>
          <p:cNvSpPr txBox="1"/>
          <p:nvPr/>
        </p:nvSpPr>
        <p:spPr>
          <a:xfrm>
            <a:off x="182880" y="870857"/>
            <a:ext cx="11686903" cy="461665"/>
          </a:xfrm>
          <a:prstGeom prst="rect">
            <a:avLst/>
          </a:prstGeom>
          <a:noFill/>
        </p:spPr>
        <p:txBody>
          <a:bodyPr wrap="square" rtlCol="0">
            <a:spAutoFit/>
          </a:bodyPr>
          <a:lstStyle/>
          <a:p>
            <a:pPr marL="457200" indent="-457200">
              <a:buAutoNum type="arabicPeriod"/>
            </a:pPr>
            <a:r>
              <a:rPr lang="en-US" sz="2400" b="1" dirty="0"/>
              <a:t>What is a network?</a:t>
            </a:r>
            <a:endParaRPr lang="en-US" sz="2400" b="1" i="1" dirty="0"/>
          </a:p>
        </p:txBody>
      </p:sp>
      <p:pic>
        <p:nvPicPr>
          <p:cNvPr id="7" name="Picture 6">
            <a:extLst>
              <a:ext uri="{FF2B5EF4-FFF2-40B4-BE49-F238E27FC236}">
                <a16:creationId xmlns:a16="http://schemas.microsoft.com/office/drawing/2014/main" id="{EF9AC097-1193-472C-ACD6-8057843A431D}"/>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710828" y="1889657"/>
            <a:ext cx="1057012" cy="1171408"/>
          </a:xfrm>
          <a:prstGeom prst="rect">
            <a:avLst/>
          </a:prstGeom>
        </p:spPr>
      </p:pic>
      <p:cxnSp>
        <p:nvCxnSpPr>
          <p:cNvPr id="9" name="Straight Connector 8">
            <a:extLst>
              <a:ext uri="{FF2B5EF4-FFF2-40B4-BE49-F238E27FC236}">
                <a16:creationId xmlns:a16="http://schemas.microsoft.com/office/drawing/2014/main" id="{4CB860D9-E6AC-401D-90AE-692EBE8A5840}"/>
              </a:ext>
            </a:extLst>
          </p:cNvPr>
          <p:cNvCxnSpPr/>
          <p:nvPr/>
        </p:nvCxnSpPr>
        <p:spPr>
          <a:xfrm>
            <a:off x="2046516" y="2475361"/>
            <a:ext cx="325700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ECCB1FD-0AD3-4F0C-AEBC-059CE19D46E8}"/>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364483" y="1889657"/>
            <a:ext cx="1057012" cy="1171408"/>
          </a:xfrm>
          <a:prstGeom prst="rect">
            <a:avLst/>
          </a:prstGeom>
        </p:spPr>
      </p:pic>
      <p:sp>
        <p:nvSpPr>
          <p:cNvPr id="5" name="TextBox 4">
            <a:extLst>
              <a:ext uri="{FF2B5EF4-FFF2-40B4-BE49-F238E27FC236}">
                <a16:creationId xmlns:a16="http://schemas.microsoft.com/office/drawing/2014/main" id="{E107636C-325C-4D87-80A5-11060BD235AC}"/>
              </a:ext>
            </a:extLst>
          </p:cNvPr>
          <p:cNvSpPr txBox="1"/>
          <p:nvPr/>
        </p:nvSpPr>
        <p:spPr>
          <a:xfrm>
            <a:off x="710828" y="3622760"/>
            <a:ext cx="7146460" cy="2677656"/>
          </a:xfrm>
          <a:prstGeom prst="rect">
            <a:avLst/>
          </a:prstGeom>
          <a:noFill/>
        </p:spPr>
        <p:txBody>
          <a:bodyPr wrap="square" rtlCol="0">
            <a:spAutoFit/>
          </a:bodyPr>
          <a:lstStyle/>
          <a:p>
            <a:r>
              <a:rPr lang="en-US" sz="2400" dirty="0"/>
              <a:t>Networks represent interactions and consist of:</a:t>
            </a:r>
          </a:p>
          <a:p>
            <a:endParaRPr lang="en-US" sz="2400" dirty="0"/>
          </a:p>
          <a:p>
            <a:pPr marL="285750" indent="-285750">
              <a:buFontTx/>
              <a:buChar char="-"/>
            </a:pPr>
            <a:r>
              <a:rPr lang="en-US" sz="2400" b="1" dirty="0">
                <a:solidFill>
                  <a:srgbClr val="0033CC"/>
                </a:solidFill>
              </a:rPr>
              <a:t>Nodes</a:t>
            </a:r>
            <a:r>
              <a:rPr lang="en-US" sz="2400" b="1" dirty="0"/>
              <a:t>/vertices/actors</a:t>
            </a:r>
          </a:p>
          <a:p>
            <a:pPr marL="285750" indent="-285750">
              <a:buFontTx/>
              <a:buChar char="-"/>
            </a:pPr>
            <a:endParaRPr lang="en-US" sz="2400" dirty="0"/>
          </a:p>
          <a:p>
            <a:r>
              <a:rPr lang="en-US" sz="2400" i="1" dirty="0"/>
              <a:t>connected by</a:t>
            </a:r>
          </a:p>
          <a:p>
            <a:endParaRPr lang="en-US" sz="2400" dirty="0"/>
          </a:p>
          <a:p>
            <a:pPr marL="285750" indent="-285750">
              <a:buFontTx/>
              <a:buChar char="-"/>
            </a:pPr>
            <a:r>
              <a:rPr lang="en-US" sz="2400" b="1" dirty="0"/>
              <a:t>Links/</a:t>
            </a:r>
            <a:r>
              <a:rPr lang="en-US" sz="2400" b="1" dirty="0">
                <a:solidFill>
                  <a:srgbClr val="00B050"/>
                </a:solidFill>
              </a:rPr>
              <a:t>edges</a:t>
            </a:r>
          </a:p>
        </p:txBody>
      </p:sp>
    </p:spTree>
    <p:extLst>
      <p:ext uri="{BB962C8B-B14F-4D97-AF65-F5344CB8AC3E}">
        <p14:creationId xmlns:p14="http://schemas.microsoft.com/office/powerpoint/2010/main" val="92616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758F8005-F269-46F5-A3B2-D5C775BE94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50CCCDC2-F3A0-41E1-871E-617DD1D38B8F}"/>
              </a:ext>
            </a:extLst>
          </p:cNvPr>
          <p:cNvSpPr txBox="1"/>
          <p:nvPr/>
        </p:nvSpPr>
        <p:spPr>
          <a:xfrm>
            <a:off x="182880" y="870857"/>
            <a:ext cx="11686903" cy="461665"/>
          </a:xfrm>
          <a:prstGeom prst="rect">
            <a:avLst/>
          </a:prstGeom>
          <a:noFill/>
        </p:spPr>
        <p:txBody>
          <a:bodyPr wrap="square" rtlCol="0">
            <a:spAutoFit/>
          </a:bodyPr>
          <a:lstStyle/>
          <a:p>
            <a:pPr marL="457200" indent="-457200">
              <a:buAutoNum type="arabicPeriod"/>
            </a:pPr>
            <a:r>
              <a:rPr lang="en-US" sz="2400" b="1" dirty="0"/>
              <a:t>What is a network?</a:t>
            </a:r>
            <a:endParaRPr lang="en-US" sz="2400" b="1" i="1" dirty="0"/>
          </a:p>
        </p:txBody>
      </p:sp>
      <p:pic>
        <p:nvPicPr>
          <p:cNvPr id="7" name="Picture 6">
            <a:extLst>
              <a:ext uri="{FF2B5EF4-FFF2-40B4-BE49-F238E27FC236}">
                <a16:creationId xmlns:a16="http://schemas.microsoft.com/office/drawing/2014/main" id="{EF9AC097-1193-472C-ACD6-8057843A431D}"/>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710828" y="1889657"/>
            <a:ext cx="1057012" cy="1171408"/>
          </a:xfrm>
          <a:prstGeom prst="rect">
            <a:avLst/>
          </a:prstGeom>
        </p:spPr>
      </p:pic>
      <p:cxnSp>
        <p:nvCxnSpPr>
          <p:cNvPr id="9" name="Straight Connector 8">
            <a:extLst>
              <a:ext uri="{FF2B5EF4-FFF2-40B4-BE49-F238E27FC236}">
                <a16:creationId xmlns:a16="http://schemas.microsoft.com/office/drawing/2014/main" id="{4CB860D9-E6AC-401D-90AE-692EBE8A5840}"/>
              </a:ext>
            </a:extLst>
          </p:cNvPr>
          <p:cNvCxnSpPr/>
          <p:nvPr/>
        </p:nvCxnSpPr>
        <p:spPr>
          <a:xfrm>
            <a:off x="2046516" y="2475361"/>
            <a:ext cx="325700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ECCB1FD-0AD3-4F0C-AEBC-059CE19D46E8}"/>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364483" y="1889657"/>
            <a:ext cx="1057012" cy="1171408"/>
          </a:xfrm>
          <a:prstGeom prst="rect">
            <a:avLst/>
          </a:prstGeom>
        </p:spPr>
      </p:pic>
      <p:sp>
        <p:nvSpPr>
          <p:cNvPr id="5" name="TextBox 4">
            <a:extLst>
              <a:ext uri="{FF2B5EF4-FFF2-40B4-BE49-F238E27FC236}">
                <a16:creationId xmlns:a16="http://schemas.microsoft.com/office/drawing/2014/main" id="{E107636C-325C-4D87-80A5-11060BD235AC}"/>
              </a:ext>
            </a:extLst>
          </p:cNvPr>
          <p:cNvSpPr txBox="1"/>
          <p:nvPr/>
        </p:nvSpPr>
        <p:spPr>
          <a:xfrm>
            <a:off x="710828" y="3622760"/>
            <a:ext cx="7146460" cy="2677656"/>
          </a:xfrm>
          <a:prstGeom prst="rect">
            <a:avLst/>
          </a:prstGeom>
          <a:noFill/>
        </p:spPr>
        <p:txBody>
          <a:bodyPr wrap="square" rtlCol="0">
            <a:spAutoFit/>
          </a:bodyPr>
          <a:lstStyle/>
          <a:p>
            <a:r>
              <a:rPr lang="en-US" sz="2400" dirty="0"/>
              <a:t>Networks represent interactions and consist of:</a:t>
            </a:r>
          </a:p>
          <a:p>
            <a:endParaRPr lang="en-US" sz="2400" dirty="0"/>
          </a:p>
          <a:p>
            <a:pPr marL="285750" indent="-285750">
              <a:buFontTx/>
              <a:buChar char="-"/>
            </a:pPr>
            <a:r>
              <a:rPr lang="en-US" sz="2400" b="1" dirty="0">
                <a:solidFill>
                  <a:srgbClr val="0033CC"/>
                </a:solidFill>
              </a:rPr>
              <a:t>Nodes</a:t>
            </a:r>
            <a:r>
              <a:rPr lang="en-US" sz="2400" b="1" dirty="0"/>
              <a:t>/vertices/actors</a:t>
            </a:r>
          </a:p>
          <a:p>
            <a:pPr marL="285750" indent="-285750">
              <a:buFontTx/>
              <a:buChar char="-"/>
            </a:pPr>
            <a:endParaRPr lang="en-US" sz="2400" dirty="0"/>
          </a:p>
          <a:p>
            <a:r>
              <a:rPr lang="en-US" sz="2400" i="1" dirty="0"/>
              <a:t>connected by</a:t>
            </a:r>
          </a:p>
          <a:p>
            <a:endParaRPr lang="en-US" sz="2400" dirty="0"/>
          </a:p>
          <a:p>
            <a:pPr marL="285750" indent="-285750">
              <a:buFontTx/>
              <a:buChar char="-"/>
            </a:pPr>
            <a:r>
              <a:rPr lang="en-US" sz="2400" b="1" dirty="0"/>
              <a:t>Links/</a:t>
            </a:r>
            <a:r>
              <a:rPr lang="en-US" sz="2400" b="1" dirty="0">
                <a:solidFill>
                  <a:srgbClr val="00B050"/>
                </a:solidFill>
              </a:rPr>
              <a:t>edges</a:t>
            </a:r>
          </a:p>
        </p:txBody>
      </p:sp>
    </p:spTree>
    <p:extLst>
      <p:ext uri="{BB962C8B-B14F-4D97-AF65-F5344CB8AC3E}">
        <p14:creationId xmlns:p14="http://schemas.microsoft.com/office/powerpoint/2010/main" val="3784344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758F8005-F269-46F5-A3B2-D5C775BE94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50CCCDC2-F3A0-41E1-871E-617DD1D38B8F}"/>
              </a:ext>
            </a:extLst>
          </p:cNvPr>
          <p:cNvSpPr txBox="1"/>
          <p:nvPr/>
        </p:nvSpPr>
        <p:spPr>
          <a:xfrm>
            <a:off x="182880" y="870857"/>
            <a:ext cx="11686903" cy="461665"/>
          </a:xfrm>
          <a:prstGeom prst="rect">
            <a:avLst/>
          </a:prstGeom>
          <a:noFill/>
        </p:spPr>
        <p:txBody>
          <a:bodyPr wrap="square" rtlCol="0">
            <a:spAutoFit/>
          </a:bodyPr>
          <a:lstStyle/>
          <a:p>
            <a:pPr marL="457200" indent="-457200">
              <a:buAutoNum type="arabicPeriod"/>
            </a:pPr>
            <a:r>
              <a:rPr lang="en-US" sz="2400" b="1" dirty="0"/>
              <a:t>What is a network?</a:t>
            </a:r>
            <a:endParaRPr lang="en-US" sz="2400" b="1" i="1" dirty="0"/>
          </a:p>
        </p:txBody>
      </p:sp>
      <p:pic>
        <p:nvPicPr>
          <p:cNvPr id="7" name="Picture 6">
            <a:extLst>
              <a:ext uri="{FF2B5EF4-FFF2-40B4-BE49-F238E27FC236}">
                <a16:creationId xmlns:a16="http://schemas.microsoft.com/office/drawing/2014/main" id="{EF9AC097-1193-472C-ACD6-8057843A431D}"/>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710828" y="1889657"/>
            <a:ext cx="1057012" cy="1171408"/>
          </a:xfrm>
          <a:prstGeom prst="rect">
            <a:avLst/>
          </a:prstGeom>
        </p:spPr>
      </p:pic>
      <p:cxnSp>
        <p:nvCxnSpPr>
          <p:cNvPr id="9" name="Straight Connector 8">
            <a:extLst>
              <a:ext uri="{FF2B5EF4-FFF2-40B4-BE49-F238E27FC236}">
                <a16:creationId xmlns:a16="http://schemas.microsoft.com/office/drawing/2014/main" id="{4CB860D9-E6AC-401D-90AE-692EBE8A5840}"/>
              </a:ext>
            </a:extLst>
          </p:cNvPr>
          <p:cNvCxnSpPr/>
          <p:nvPr/>
        </p:nvCxnSpPr>
        <p:spPr>
          <a:xfrm>
            <a:off x="2046516" y="2475361"/>
            <a:ext cx="325700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ECCB1FD-0AD3-4F0C-AEBC-059CE19D46E8}"/>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364483" y="1889657"/>
            <a:ext cx="1057012" cy="1171408"/>
          </a:xfrm>
          <a:prstGeom prst="rect">
            <a:avLst/>
          </a:prstGeom>
        </p:spPr>
      </p:pic>
      <p:sp>
        <p:nvSpPr>
          <p:cNvPr id="5" name="TextBox 4">
            <a:extLst>
              <a:ext uri="{FF2B5EF4-FFF2-40B4-BE49-F238E27FC236}">
                <a16:creationId xmlns:a16="http://schemas.microsoft.com/office/drawing/2014/main" id="{E107636C-325C-4D87-80A5-11060BD235AC}"/>
              </a:ext>
            </a:extLst>
          </p:cNvPr>
          <p:cNvSpPr txBox="1"/>
          <p:nvPr/>
        </p:nvSpPr>
        <p:spPr>
          <a:xfrm>
            <a:off x="710828" y="3622760"/>
            <a:ext cx="7146460" cy="2677656"/>
          </a:xfrm>
          <a:prstGeom prst="rect">
            <a:avLst/>
          </a:prstGeom>
          <a:noFill/>
        </p:spPr>
        <p:txBody>
          <a:bodyPr wrap="square" rtlCol="0">
            <a:spAutoFit/>
          </a:bodyPr>
          <a:lstStyle/>
          <a:p>
            <a:r>
              <a:rPr lang="en-US" sz="2400" dirty="0"/>
              <a:t>Networks represent interactions and consist of:</a:t>
            </a:r>
          </a:p>
          <a:p>
            <a:endParaRPr lang="en-US" sz="2400" dirty="0"/>
          </a:p>
          <a:p>
            <a:pPr marL="285750" indent="-285750">
              <a:buFontTx/>
              <a:buChar char="-"/>
            </a:pPr>
            <a:r>
              <a:rPr lang="en-US" sz="2400" b="1" dirty="0">
                <a:solidFill>
                  <a:srgbClr val="0033CC"/>
                </a:solidFill>
              </a:rPr>
              <a:t>Nodes</a:t>
            </a:r>
            <a:r>
              <a:rPr lang="en-US" sz="2400" b="1" dirty="0"/>
              <a:t>/vertices/actors</a:t>
            </a:r>
          </a:p>
          <a:p>
            <a:pPr marL="285750" indent="-285750">
              <a:buFontTx/>
              <a:buChar char="-"/>
            </a:pPr>
            <a:endParaRPr lang="en-US" sz="2400" dirty="0"/>
          </a:p>
          <a:p>
            <a:r>
              <a:rPr lang="en-US" sz="2400" i="1" dirty="0"/>
              <a:t>connected by</a:t>
            </a:r>
          </a:p>
          <a:p>
            <a:endParaRPr lang="en-US" sz="2400" dirty="0"/>
          </a:p>
          <a:p>
            <a:pPr marL="285750" indent="-285750">
              <a:buFontTx/>
              <a:buChar char="-"/>
            </a:pPr>
            <a:r>
              <a:rPr lang="en-US" sz="2400" b="1" dirty="0"/>
              <a:t>Links/</a:t>
            </a:r>
            <a:r>
              <a:rPr lang="en-US" sz="2400" b="1" dirty="0">
                <a:solidFill>
                  <a:srgbClr val="00B050"/>
                </a:solidFill>
              </a:rPr>
              <a:t>edges</a:t>
            </a:r>
          </a:p>
        </p:txBody>
      </p:sp>
      <p:sp>
        <p:nvSpPr>
          <p:cNvPr id="6" name="TextBox 5">
            <a:extLst>
              <a:ext uri="{FF2B5EF4-FFF2-40B4-BE49-F238E27FC236}">
                <a16:creationId xmlns:a16="http://schemas.microsoft.com/office/drawing/2014/main" id="{D667B82E-2036-44F4-B863-18F2E8648162}"/>
              </a:ext>
            </a:extLst>
          </p:cNvPr>
          <p:cNvSpPr txBox="1"/>
          <p:nvPr/>
        </p:nvSpPr>
        <p:spPr>
          <a:xfrm>
            <a:off x="7468677" y="1454331"/>
            <a:ext cx="4012495" cy="461665"/>
          </a:xfrm>
          <a:prstGeom prst="rect">
            <a:avLst/>
          </a:prstGeom>
          <a:noFill/>
        </p:spPr>
        <p:txBody>
          <a:bodyPr wrap="square" rtlCol="0">
            <a:spAutoFit/>
          </a:bodyPr>
          <a:lstStyle/>
          <a:p>
            <a:r>
              <a:rPr lang="en-US" sz="2400" b="1" dirty="0">
                <a:solidFill>
                  <a:srgbClr val="0033CC"/>
                </a:solidFill>
              </a:rPr>
              <a:t>Nodes</a:t>
            </a:r>
            <a:endParaRPr lang="fr-FR" sz="2400" b="1" dirty="0">
              <a:solidFill>
                <a:srgbClr val="0033CC"/>
              </a:solidFill>
            </a:endParaRPr>
          </a:p>
        </p:txBody>
      </p:sp>
      <p:pic>
        <p:nvPicPr>
          <p:cNvPr id="11" name="Picture 10">
            <a:extLst>
              <a:ext uri="{FF2B5EF4-FFF2-40B4-BE49-F238E27FC236}">
                <a16:creationId xmlns:a16="http://schemas.microsoft.com/office/drawing/2014/main" id="{FC2B3468-29BA-4F61-8DB6-D479CC58444D}"/>
              </a:ext>
            </a:extLst>
          </p:cNvPr>
          <p:cNvPicPr>
            <a:picLocks noChangeAspect="1"/>
          </p:cNvPicPr>
          <p:nvPr/>
        </p:nvPicPr>
        <p:blipFill>
          <a:blip r:embed="rId4"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7802027" y="2001269"/>
            <a:ext cx="709685" cy="786491"/>
          </a:xfrm>
          <a:prstGeom prst="rect">
            <a:avLst/>
          </a:prstGeom>
        </p:spPr>
      </p:pic>
      <p:pic>
        <p:nvPicPr>
          <p:cNvPr id="12" name="Picture 11">
            <a:extLst>
              <a:ext uri="{FF2B5EF4-FFF2-40B4-BE49-F238E27FC236}">
                <a16:creationId xmlns:a16="http://schemas.microsoft.com/office/drawing/2014/main" id="{D6C5A193-A98D-4685-B62C-8CC054D52650}"/>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t="-1"/>
          <a:stretch/>
        </p:blipFill>
        <p:spPr>
          <a:xfrm>
            <a:off x="8782399" y="1476324"/>
            <a:ext cx="1109845" cy="821867"/>
          </a:xfrm>
          <a:prstGeom prst="rect">
            <a:avLst/>
          </a:prstGeom>
        </p:spPr>
      </p:pic>
      <p:pic>
        <p:nvPicPr>
          <p:cNvPr id="15" name="Picture 14">
            <a:extLst>
              <a:ext uri="{FF2B5EF4-FFF2-40B4-BE49-F238E27FC236}">
                <a16:creationId xmlns:a16="http://schemas.microsoft.com/office/drawing/2014/main" id="{B627302E-293A-492E-8346-D1A32AB9D029}"/>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209248" y="1558776"/>
            <a:ext cx="1833169" cy="1833169"/>
          </a:xfrm>
          <a:prstGeom prst="rect">
            <a:avLst/>
          </a:prstGeom>
        </p:spPr>
      </p:pic>
      <p:pic>
        <p:nvPicPr>
          <p:cNvPr id="17" name="Picture 16">
            <a:extLst>
              <a:ext uri="{FF2B5EF4-FFF2-40B4-BE49-F238E27FC236}">
                <a16:creationId xmlns:a16="http://schemas.microsoft.com/office/drawing/2014/main" id="{81C99804-0573-4420-8B4F-EF5D4654CEEB}"/>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780211" y="1384120"/>
            <a:ext cx="1267019" cy="844680"/>
          </a:xfrm>
          <a:prstGeom prst="rect">
            <a:avLst/>
          </a:prstGeom>
        </p:spPr>
      </p:pic>
    </p:spTree>
    <p:extLst>
      <p:ext uri="{BB962C8B-B14F-4D97-AF65-F5344CB8AC3E}">
        <p14:creationId xmlns:p14="http://schemas.microsoft.com/office/powerpoint/2010/main" val="2957604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758F8005-F269-46F5-A3B2-D5C775BE94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50CCCDC2-F3A0-41E1-871E-617DD1D38B8F}"/>
              </a:ext>
            </a:extLst>
          </p:cNvPr>
          <p:cNvSpPr txBox="1"/>
          <p:nvPr/>
        </p:nvSpPr>
        <p:spPr>
          <a:xfrm>
            <a:off x="182880" y="870857"/>
            <a:ext cx="11686903" cy="461665"/>
          </a:xfrm>
          <a:prstGeom prst="rect">
            <a:avLst/>
          </a:prstGeom>
          <a:noFill/>
        </p:spPr>
        <p:txBody>
          <a:bodyPr wrap="square" rtlCol="0">
            <a:spAutoFit/>
          </a:bodyPr>
          <a:lstStyle/>
          <a:p>
            <a:pPr marL="457200" indent="-457200">
              <a:buAutoNum type="arabicPeriod"/>
            </a:pPr>
            <a:r>
              <a:rPr lang="en-US" sz="2400" b="1" dirty="0"/>
              <a:t>What is a network?</a:t>
            </a:r>
            <a:endParaRPr lang="en-US" sz="2400" b="1" i="1" dirty="0"/>
          </a:p>
        </p:txBody>
      </p:sp>
      <p:pic>
        <p:nvPicPr>
          <p:cNvPr id="7" name="Picture 6">
            <a:extLst>
              <a:ext uri="{FF2B5EF4-FFF2-40B4-BE49-F238E27FC236}">
                <a16:creationId xmlns:a16="http://schemas.microsoft.com/office/drawing/2014/main" id="{EF9AC097-1193-472C-ACD6-8057843A431D}"/>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710828" y="1889657"/>
            <a:ext cx="1057012" cy="1171408"/>
          </a:xfrm>
          <a:prstGeom prst="rect">
            <a:avLst/>
          </a:prstGeom>
        </p:spPr>
      </p:pic>
      <p:cxnSp>
        <p:nvCxnSpPr>
          <p:cNvPr id="9" name="Straight Connector 8">
            <a:extLst>
              <a:ext uri="{FF2B5EF4-FFF2-40B4-BE49-F238E27FC236}">
                <a16:creationId xmlns:a16="http://schemas.microsoft.com/office/drawing/2014/main" id="{4CB860D9-E6AC-401D-90AE-692EBE8A5840}"/>
              </a:ext>
            </a:extLst>
          </p:cNvPr>
          <p:cNvCxnSpPr/>
          <p:nvPr/>
        </p:nvCxnSpPr>
        <p:spPr>
          <a:xfrm>
            <a:off x="2046516" y="2475361"/>
            <a:ext cx="325700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ECCB1FD-0AD3-4F0C-AEBC-059CE19D46E8}"/>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364483" y="1889657"/>
            <a:ext cx="1057012" cy="1171408"/>
          </a:xfrm>
          <a:prstGeom prst="rect">
            <a:avLst/>
          </a:prstGeom>
        </p:spPr>
      </p:pic>
      <p:sp>
        <p:nvSpPr>
          <p:cNvPr id="5" name="TextBox 4">
            <a:extLst>
              <a:ext uri="{FF2B5EF4-FFF2-40B4-BE49-F238E27FC236}">
                <a16:creationId xmlns:a16="http://schemas.microsoft.com/office/drawing/2014/main" id="{E107636C-325C-4D87-80A5-11060BD235AC}"/>
              </a:ext>
            </a:extLst>
          </p:cNvPr>
          <p:cNvSpPr txBox="1"/>
          <p:nvPr/>
        </p:nvSpPr>
        <p:spPr>
          <a:xfrm>
            <a:off x="710828" y="3622760"/>
            <a:ext cx="7146460" cy="2677656"/>
          </a:xfrm>
          <a:prstGeom prst="rect">
            <a:avLst/>
          </a:prstGeom>
          <a:noFill/>
        </p:spPr>
        <p:txBody>
          <a:bodyPr wrap="square" rtlCol="0">
            <a:spAutoFit/>
          </a:bodyPr>
          <a:lstStyle/>
          <a:p>
            <a:r>
              <a:rPr lang="en-US" sz="2400" dirty="0"/>
              <a:t>Networks represent interactions and consist of:</a:t>
            </a:r>
          </a:p>
          <a:p>
            <a:endParaRPr lang="en-US" sz="2400" dirty="0"/>
          </a:p>
          <a:p>
            <a:pPr marL="285750" indent="-285750">
              <a:buFontTx/>
              <a:buChar char="-"/>
            </a:pPr>
            <a:r>
              <a:rPr lang="en-US" sz="2400" b="1" dirty="0">
                <a:solidFill>
                  <a:srgbClr val="0033CC"/>
                </a:solidFill>
              </a:rPr>
              <a:t>Nodes</a:t>
            </a:r>
            <a:r>
              <a:rPr lang="en-US" sz="2400" b="1" dirty="0"/>
              <a:t>/vertices/actors</a:t>
            </a:r>
          </a:p>
          <a:p>
            <a:pPr marL="285750" indent="-285750">
              <a:buFontTx/>
              <a:buChar char="-"/>
            </a:pPr>
            <a:endParaRPr lang="en-US" sz="2400" dirty="0"/>
          </a:p>
          <a:p>
            <a:r>
              <a:rPr lang="en-US" sz="2400" i="1" dirty="0"/>
              <a:t>connected by</a:t>
            </a:r>
          </a:p>
          <a:p>
            <a:endParaRPr lang="en-US" sz="2400" dirty="0"/>
          </a:p>
          <a:p>
            <a:pPr marL="285750" indent="-285750">
              <a:buFontTx/>
              <a:buChar char="-"/>
            </a:pPr>
            <a:r>
              <a:rPr lang="en-US" sz="2400" b="1" dirty="0"/>
              <a:t>Links/</a:t>
            </a:r>
            <a:r>
              <a:rPr lang="en-US" sz="2400" b="1" dirty="0">
                <a:solidFill>
                  <a:srgbClr val="00B050"/>
                </a:solidFill>
              </a:rPr>
              <a:t>edges</a:t>
            </a:r>
          </a:p>
        </p:txBody>
      </p:sp>
      <p:sp>
        <p:nvSpPr>
          <p:cNvPr id="6" name="TextBox 5">
            <a:extLst>
              <a:ext uri="{FF2B5EF4-FFF2-40B4-BE49-F238E27FC236}">
                <a16:creationId xmlns:a16="http://schemas.microsoft.com/office/drawing/2014/main" id="{D667B82E-2036-44F4-B863-18F2E8648162}"/>
              </a:ext>
            </a:extLst>
          </p:cNvPr>
          <p:cNvSpPr txBox="1"/>
          <p:nvPr/>
        </p:nvSpPr>
        <p:spPr>
          <a:xfrm>
            <a:off x="7468677" y="1454331"/>
            <a:ext cx="4012495" cy="461665"/>
          </a:xfrm>
          <a:prstGeom prst="rect">
            <a:avLst/>
          </a:prstGeom>
          <a:noFill/>
        </p:spPr>
        <p:txBody>
          <a:bodyPr wrap="square" rtlCol="0">
            <a:spAutoFit/>
          </a:bodyPr>
          <a:lstStyle/>
          <a:p>
            <a:r>
              <a:rPr lang="en-US" sz="2400" b="1" dirty="0">
                <a:solidFill>
                  <a:srgbClr val="0033CC"/>
                </a:solidFill>
              </a:rPr>
              <a:t>Nodes</a:t>
            </a:r>
            <a:endParaRPr lang="fr-FR" sz="2400" b="1" dirty="0">
              <a:solidFill>
                <a:srgbClr val="0033CC"/>
              </a:solidFill>
            </a:endParaRPr>
          </a:p>
        </p:txBody>
      </p:sp>
      <p:pic>
        <p:nvPicPr>
          <p:cNvPr id="11" name="Picture 10">
            <a:extLst>
              <a:ext uri="{FF2B5EF4-FFF2-40B4-BE49-F238E27FC236}">
                <a16:creationId xmlns:a16="http://schemas.microsoft.com/office/drawing/2014/main" id="{FC2B3468-29BA-4F61-8DB6-D479CC58444D}"/>
              </a:ext>
            </a:extLst>
          </p:cNvPr>
          <p:cNvPicPr>
            <a:picLocks noChangeAspect="1"/>
          </p:cNvPicPr>
          <p:nvPr/>
        </p:nvPicPr>
        <p:blipFill>
          <a:blip r:embed="rId4"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7802027" y="2001269"/>
            <a:ext cx="709685" cy="786491"/>
          </a:xfrm>
          <a:prstGeom prst="rect">
            <a:avLst/>
          </a:prstGeom>
        </p:spPr>
      </p:pic>
      <p:pic>
        <p:nvPicPr>
          <p:cNvPr id="12" name="Picture 11">
            <a:extLst>
              <a:ext uri="{FF2B5EF4-FFF2-40B4-BE49-F238E27FC236}">
                <a16:creationId xmlns:a16="http://schemas.microsoft.com/office/drawing/2014/main" id="{D6C5A193-A98D-4685-B62C-8CC054D52650}"/>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t="-1"/>
          <a:stretch/>
        </p:blipFill>
        <p:spPr>
          <a:xfrm>
            <a:off x="8782399" y="1476324"/>
            <a:ext cx="1109845" cy="821867"/>
          </a:xfrm>
          <a:prstGeom prst="rect">
            <a:avLst/>
          </a:prstGeom>
        </p:spPr>
      </p:pic>
      <p:pic>
        <p:nvPicPr>
          <p:cNvPr id="15" name="Picture 14">
            <a:extLst>
              <a:ext uri="{FF2B5EF4-FFF2-40B4-BE49-F238E27FC236}">
                <a16:creationId xmlns:a16="http://schemas.microsoft.com/office/drawing/2014/main" id="{B627302E-293A-492E-8346-D1A32AB9D029}"/>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209248" y="1558776"/>
            <a:ext cx="1833169" cy="1833169"/>
          </a:xfrm>
          <a:prstGeom prst="rect">
            <a:avLst/>
          </a:prstGeom>
        </p:spPr>
      </p:pic>
      <p:pic>
        <p:nvPicPr>
          <p:cNvPr id="17" name="Picture 16">
            <a:extLst>
              <a:ext uri="{FF2B5EF4-FFF2-40B4-BE49-F238E27FC236}">
                <a16:creationId xmlns:a16="http://schemas.microsoft.com/office/drawing/2014/main" id="{81C99804-0573-4420-8B4F-EF5D4654CEEB}"/>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780211" y="1384120"/>
            <a:ext cx="1267019" cy="844680"/>
          </a:xfrm>
          <a:prstGeom prst="rect">
            <a:avLst/>
          </a:prstGeom>
        </p:spPr>
      </p:pic>
      <p:sp>
        <p:nvSpPr>
          <p:cNvPr id="19" name="TextBox 18">
            <a:extLst>
              <a:ext uri="{FF2B5EF4-FFF2-40B4-BE49-F238E27FC236}">
                <a16:creationId xmlns:a16="http://schemas.microsoft.com/office/drawing/2014/main" id="{20626669-2D3D-4B66-84AE-4C2E6E4C5959}"/>
              </a:ext>
            </a:extLst>
          </p:cNvPr>
          <p:cNvSpPr txBox="1"/>
          <p:nvPr/>
        </p:nvSpPr>
        <p:spPr>
          <a:xfrm>
            <a:off x="7468677" y="3839408"/>
            <a:ext cx="1166949" cy="461665"/>
          </a:xfrm>
          <a:prstGeom prst="rect">
            <a:avLst/>
          </a:prstGeom>
          <a:noFill/>
        </p:spPr>
        <p:txBody>
          <a:bodyPr wrap="square">
            <a:spAutoFit/>
          </a:bodyPr>
          <a:lstStyle/>
          <a:p>
            <a:r>
              <a:rPr lang="en-US" sz="2400" b="1" dirty="0">
                <a:solidFill>
                  <a:srgbClr val="00B050"/>
                </a:solidFill>
              </a:rPr>
              <a:t>Edges</a:t>
            </a:r>
            <a:endParaRPr lang="fr-FR" sz="2400" dirty="0"/>
          </a:p>
        </p:txBody>
      </p:sp>
      <p:pic>
        <p:nvPicPr>
          <p:cNvPr id="21" name="Picture 20">
            <a:extLst>
              <a:ext uri="{FF2B5EF4-FFF2-40B4-BE49-F238E27FC236}">
                <a16:creationId xmlns:a16="http://schemas.microsoft.com/office/drawing/2014/main" id="{E740E28C-123C-42C1-BE6B-21EC27FB9F44}"/>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549399" y="4560904"/>
            <a:ext cx="1838556" cy="1034188"/>
          </a:xfrm>
          <a:prstGeom prst="ellipse">
            <a:avLst/>
          </a:prstGeom>
          <a:ln>
            <a:noFill/>
          </a:ln>
          <a:effectLst>
            <a:softEdge rad="112500"/>
          </a:effectLst>
        </p:spPr>
      </p:pic>
      <p:pic>
        <p:nvPicPr>
          <p:cNvPr id="23" name="Picture 22">
            <a:extLst>
              <a:ext uri="{FF2B5EF4-FFF2-40B4-BE49-F238E27FC236}">
                <a16:creationId xmlns:a16="http://schemas.microsoft.com/office/drawing/2014/main" id="{50DAC79B-5D50-4382-8EBE-F0674432C632}"/>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8354630" y="4070240"/>
            <a:ext cx="1965382" cy="1057462"/>
          </a:xfrm>
          <a:prstGeom prst="ellipse">
            <a:avLst/>
          </a:prstGeom>
          <a:ln>
            <a:noFill/>
          </a:ln>
          <a:effectLst>
            <a:softEdge rad="112500"/>
          </a:effectLst>
        </p:spPr>
      </p:pic>
      <p:pic>
        <p:nvPicPr>
          <p:cNvPr id="25" name="Picture 24">
            <a:extLst>
              <a:ext uri="{FF2B5EF4-FFF2-40B4-BE49-F238E27FC236}">
                <a16:creationId xmlns:a16="http://schemas.microsoft.com/office/drawing/2014/main" id="{712884CE-B44F-4072-AA96-2C22DCADFCBA}"/>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8511712" y="5240917"/>
            <a:ext cx="1415266" cy="1214400"/>
          </a:xfrm>
          <a:prstGeom prst="ellipse">
            <a:avLst/>
          </a:prstGeom>
          <a:ln>
            <a:noFill/>
          </a:ln>
          <a:effectLst>
            <a:softEdge rad="112500"/>
          </a:effectLst>
        </p:spPr>
      </p:pic>
      <p:pic>
        <p:nvPicPr>
          <p:cNvPr id="27" name="Picture 26">
            <a:extLst>
              <a:ext uri="{FF2B5EF4-FFF2-40B4-BE49-F238E27FC236}">
                <a16:creationId xmlns:a16="http://schemas.microsoft.com/office/drawing/2014/main" id="{85BE5EF7-B9D8-4F3E-AB83-6076753A1C72}"/>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10175702" y="4849817"/>
            <a:ext cx="1694081" cy="1392743"/>
          </a:xfrm>
          <a:prstGeom prst="ellipse">
            <a:avLst/>
          </a:prstGeom>
          <a:ln>
            <a:noFill/>
          </a:ln>
          <a:effectLst>
            <a:softEdge rad="112500"/>
          </a:effectLst>
        </p:spPr>
      </p:pic>
      <p:pic>
        <p:nvPicPr>
          <p:cNvPr id="29" name="Picture 28">
            <a:extLst>
              <a:ext uri="{FF2B5EF4-FFF2-40B4-BE49-F238E27FC236}">
                <a16:creationId xmlns:a16="http://schemas.microsoft.com/office/drawing/2014/main" id="{16FB31C4-47CD-42C4-A561-762F145FCBA3}"/>
              </a:ext>
            </a:extLst>
          </p:cNvPr>
          <p:cNvPicPr>
            <a:picLocks noChangeAspect="1"/>
          </p:cNvPicPr>
          <p:nvPr/>
        </p:nvPicPr>
        <p:blipFill rotWithShape="1">
          <a:blip r:embed="rId12" cstate="email">
            <a:extLst>
              <a:ext uri="{28A0092B-C50C-407E-A947-70E740481C1C}">
                <a14:useLocalDpi xmlns:a14="http://schemas.microsoft.com/office/drawing/2010/main"/>
              </a:ext>
            </a:extLst>
          </a:blip>
          <a:srcRect/>
          <a:stretch/>
        </p:blipFill>
        <p:spPr>
          <a:xfrm>
            <a:off x="10320012" y="3635202"/>
            <a:ext cx="1480102" cy="993999"/>
          </a:xfrm>
          <a:prstGeom prst="ellipse">
            <a:avLst/>
          </a:prstGeom>
          <a:ln>
            <a:noFill/>
          </a:ln>
          <a:effectLst>
            <a:softEdge rad="112500"/>
          </a:effectLst>
        </p:spPr>
      </p:pic>
    </p:spTree>
    <p:extLst>
      <p:ext uri="{BB962C8B-B14F-4D97-AF65-F5344CB8AC3E}">
        <p14:creationId xmlns:p14="http://schemas.microsoft.com/office/powerpoint/2010/main" val="56108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758F8005-F269-46F5-A3B2-D5C775BE94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50CCCDC2-F3A0-41E1-871E-617DD1D38B8F}"/>
              </a:ext>
            </a:extLst>
          </p:cNvPr>
          <p:cNvSpPr txBox="1"/>
          <p:nvPr/>
        </p:nvSpPr>
        <p:spPr>
          <a:xfrm>
            <a:off x="182880" y="870857"/>
            <a:ext cx="11686903" cy="461665"/>
          </a:xfrm>
          <a:prstGeom prst="rect">
            <a:avLst/>
          </a:prstGeom>
          <a:noFill/>
        </p:spPr>
        <p:txBody>
          <a:bodyPr wrap="square" rtlCol="0">
            <a:spAutoFit/>
          </a:bodyPr>
          <a:lstStyle/>
          <a:p>
            <a:pPr marL="457200" indent="-457200">
              <a:buAutoNum type="arabicPeriod"/>
            </a:pPr>
            <a:r>
              <a:rPr lang="en-US" sz="2400" b="1" dirty="0"/>
              <a:t>What is a network?</a:t>
            </a:r>
            <a:endParaRPr lang="en-US" sz="2400" b="1" i="1" dirty="0"/>
          </a:p>
        </p:txBody>
      </p:sp>
      <p:sp>
        <p:nvSpPr>
          <p:cNvPr id="11" name="Oval 10">
            <a:extLst>
              <a:ext uri="{FF2B5EF4-FFF2-40B4-BE49-F238E27FC236}">
                <a16:creationId xmlns:a16="http://schemas.microsoft.com/office/drawing/2014/main" id="{A185C67E-BAEF-4192-97C8-31E70F673A47}"/>
              </a:ext>
            </a:extLst>
          </p:cNvPr>
          <p:cNvSpPr/>
          <p:nvPr/>
        </p:nvSpPr>
        <p:spPr>
          <a:xfrm>
            <a:off x="1428206" y="4851222"/>
            <a:ext cx="644434" cy="64443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Straight Connector 11">
            <a:extLst>
              <a:ext uri="{FF2B5EF4-FFF2-40B4-BE49-F238E27FC236}">
                <a16:creationId xmlns:a16="http://schemas.microsoft.com/office/drawing/2014/main" id="{4DDAE635-45C8-4673-8D26-0DB688F456CB}"/>
              </a:ext>
            </a:extLst>
          </p:cNvPr>
          <p:cNvCxnSpPr/>
          <p:nvPr/>
        </p:nvCxnSpPr>
        <p:spPr>
          <a:xfrm>
            <a:off x="2072640" y="5164730"/>
            <a:ext cx="325700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2F5A9A42-CFE9-467C-8F2E-650062044567}"/>
              </a:ext>
            </a:extLst>
          </p:cNvPr>
          <p:cNvSpPr/>
          <p:nvPr/>
        </p:nvSpPr>
        <p:spPr>
          <a:xfrm>
            <a:off x="5268685" y="4851222"/>
            <a:ext cx="644434" cy="64443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Picture 13">
            <a:extLst>
              <a:ext uri="{FF2B5EF4-FFF2-40B4-BE49-F238E27FC236}">
                <a16:creationId xmlns:a16="http://schemas.microsoft.com/office/drawing/2014/main" id="{9872978A-CE86-4C4A-982D-92BD7CCAFE0F}"/>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710828" y="1889657"/>
            <a:ext cx="1057012" cy="1171408"/>
          </a:xfrm>
          <a:prstGeom prst="rect">
            <a:avLst/>
          </a:prstGeom>
        </p:spPr>
      </p:pic>
      <p:cxnSp>
        <p:nvCxnSpPr>
          <p:cNvPr id="15" name="Straight Connector 14">
            <a:extLst>
              <a:ext uri="{FF2B5EF4-FFF2-40B4-BE49-F238E27FC236}">
                <a16:creationId xmlns:a16="http://schemas.microsoft.com/office/drawing/2014/main" id="{1B9531BB-14DF-4BAC-975C-5E680DC024BA}"/>
              </a:ext>
            </a:extLst>
          </p:cNvPr>
          <p:cNvCxnSpPr/>
          <p:nvPr/>
        </p:nvCxnSpPr>
        <p:spPr>
          <a:xfrm>
            <a:off x="2046516" y="2475361"/>
            <a:ext cx="325700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C60110D4-927A-47A0-9681-D0A75646F7B2}"/>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364483" y="1889657"/>
            <a:ext cx="1057012" cy="1171408"/>
          </a:xfrm>
          <a:prstGeom prst="rect">
            <a:avLst/>
          </a:prstGeom>
        </p:spPr>
      </p:pic>
      <p:sp>
        <p:nvSpPr>
          <p:cNvPr id="17" name="Arrow: Striped Right 16">
            <a:extLst>
              <a:ext uri="{FF2B5EF4-FFF2-40B4-BE49-F238E27FC236}">
                <a16:creationId xmlns:a16="http://schemas.microsoft.com/office/drawing/2014/main" id="{D46BD233-2CB4-4508-951B-D18C576565E7}"/>
              </a:ext>
            </a:extLst>
          </p:cNvPr>
          <p:cNvSpPr/>
          <p:nvPr/>
        </p:nvSpPr>
        <p:spPr>
          <a:xfrm rot="5400000">
            <a:off x="2810692" y="3519543"/>
            <a:ext cx="1728651" cy="601006"/>
          </a:xfrm>
          <a:prstGeom prst="stripedRightArrow">
            <a:avLst>
              <a:gd name="adj1" fmla="val 47748"/>
              <a:gd name="adj2" fmla="val 50000"/>
            </a:avLst>
          </a:prstGeom>
          <a:solidFill>
            <a:schemeClr val="accent6">
              <a:lumMod val="20000"/>
              <a:lumOff val="8000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Arrow: Striped Right 17">
            <a:extLst>
              <a:ext uri="{FF2B5EF4-FFF2-40B4-BE49-F238E27FC236}">
                <a16:creationId xmlns:a16="http://schemas.microsoft.com/office/drawing/2014/main" id="{4BC8FCE5-FECF-4A5B-B287-B35595D8158A}"/>
              </a:ext>
            </a:extLst>
          </p:cNvPr>
          <p:cNvSpPr/>
          <p:nvPr/>
        </p:nvSpPr>
        <p:spPr>
          <a:xfrm>
            <a:off x="5892989" y="3618200"/>
            <a:ext cx="2456684" cy="601006"/>
          </a:xfrm>
          <a:prstGeom prst="stripedRightArrow">
            <a:avLst>
              <a:gd name="adj1" fmla="val 47748"/>
              <a:gd name="adj2" fmla="val 50000"/>
            </a:avLst>
          </a:prstGeom>
          <a:solidFill>
            <a:schemeClr val="accent6">
              <a:lumMod val="20000"/>
              <a:lumOff val="8000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Oval 28">
            <a:extLst>
              <a:ext uri="{FF2B5EF4-FFF2-40B4-BE49-F238E27FC236}">
                <a16:creationId xmlns:a16="http://schemas.microsoft.com/office/drawing/2014/main" id="{A4BE6D18-E577-4BF5-A8FB-98A3511C7C47}"/>
              </a:ext>
            </a:extLst>
          </p:cNvPr>
          <p:cNvSpPr/>
          <p:nvPr/>
        </p:nvSpPr>
        <p:spPr>
          <a:xfrm>
            <a:off x="10551015" y="1142529"/>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 name="Group 4">
            <a:extLst>
              <a:ext uri="{FF2B5EF4-FFF2-40B4-BE49-F238E27FC236}">
                <a16:creationId xmlns:a16="http://schemas.microsoft.com/office/drawing/2014/main" id="{A5CB871D-A217-4514-B393-28F6BD9195CB}"/>
              </a:ext>
            </a:extLst>
          </p:cNvPr>
          <p:cNvGrpSpPr/>
          <p:nvPr/>
        </p:nvGrpSpPr>
        <p:grpSpPr>
          <a:xfrm>
            <a:off x="9277162" y="2195066"/>
            <a:ext cx="1788767" cy="3083888"/>
            <a:chOff x="9277162" y="2195066"/>
            <a:chExt cx="1788767" cy="3083888"/>
          </a:xfrm>
        </p:grpSpPr>
        <p:cxnSp>
          <p:nvCxnSpPr>
            <p:cNvPr id="19" name="Straight Connector 18">
              <a:extLst>
                <a:ext uri="{FF2B5EF4-FFF2-40B4-BE49-F238E27FC236}">
                  <a16:creationId xmlns:a16="http://schemas.microsoft.com/office/drawing/2014/main" id="{F2F78BB8-6289-4D3E-8165-DCDEA496B9EC}"/>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681B85-1FCB-470E-A8E2-DB2D1D424A82}"/>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Oval 21">
              <a:extLst>
                <a:ext uri="{FF2B5EF4-FFF2-40B4-BE49-F238E27FC236}">
                  <a16:creationId xmlns:a16="http://schemas.microsoft.com/office/drawing/2014/main" id="{848C2969-CAD5-4861-AA2E-AF5AE74E699F}"/>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Oval 22">
              <a:extLst>
                <a:ext uri="{FF2B5EF4-FFF2-40B4-BE49-F238E27FC236}">
                  <a16:creationId xmlns:a16="http://schemas.microsoft.com/office/drawing/2014/main" id="{37E3681C-32E9-4BF2-A3CD-ECA4340BFDDE}"/>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Oval 23">
              <a:extLst>
                <a:ext uri="{FF2B5EF4-FFF2-40B4-BE49-F238E27FC236}">
                  <a16:creationId xmlns:a16="http://schemas.microsoft.com/office/drawing/2014/main" id="{37447CD9-7CE5-4DFA-B7AD-BA1DDD54459C}"/>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Oval 24">
              <a:extLst>
                <a:ext uri="{FF2B5EF4-FFF2-40B4-BE49-F238E27FC236}">
                  <a16:creationId xmlns:a16="http://schemas.microsoft.com/office/drawing/2014/main" id="{51D7DD46-7CDC-49CF-923C-2E1C22C94253}"/>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Oval 25">
              <a:extLst>
                <a:ext uri="{FF2B5EF4-FFF2-40B4-BE49-F238E27FC236}">
                  <a16:creationId xmlns:a16="http://schemas.microsoft.com/office/drawing/2014/main" id="{EBBA2B69-F1EB-48D2-983E-36E0AA973BA7}"/>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Oval 26">
              <a:extLst>
                <a:ext uri="{FF2B5EF4-FFF2-40B4-BE49-F238E27FC236}">
                  <a16:creationId xmlns:a16="http://schemas.microsoft.com/office/drawing/2014/main" id="{07B30000-B3FF-4C98-95BC-7C058094DF96}"/>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Oval 27">
              <a:extLst>
                <a:ext uri="{FF2B5EF4-FFF2-40B4-BE49-F238E27FC236}">
                  <a16:creationId xmlns:a16="http://schemas.microsoft.com/office/drawing/2014/main" id="{7708FF62-B636-497C-A0A2-95746DF8203D}"/>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0" name="Straight Connector 29">
              <a:extLst>
                <a:ext uri="{FF2B5EF4-FFF2-40B4-BE49-F238E27FC236}">
                  <a16:creationId xmlns:a16="http://schemas.microsoft.com/office/drawing/2014/main" id="{8FE6E072-B544-496A-B830-5A2357B24E90}"/>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2ACB2F-9D11-4564-ADF8-101442D69B2B}"/>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241BF85-69B6-4B13-9FE7-C171D50E5FBD}"/>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B13EFA3-9225-4A23-AADC-7EE235D804FA}"/>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67830AA-68AE-42FA-B173-A7E00ADB99DE}"/>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C8FAD5A-18E3-4708-A325-8EF77B07E858}"/>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2786C22-8572-480E-A5EC-99DF349DCC24}"/>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1102771-F264-4A17-853B-1A5BCC7E51B7}"/>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CC48DE5-9211-4F08-912D-A0335EDC8973}"/>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77769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C46122-9463-42C0-A009-5889AE5526C9}"/>
              </a:ext>
            </a:extLst>
          </p:cNvPr>
          <p:cNvSpPr txBox="1"/>
          <p:nvPr/>
        </p:nvSpPr>
        <p:spPr>
          <a:xfrm>
            <a:off x="0" y="0"/>
            <a:ext cx="12192000" cy="553998"/>
          </a:xfrm>
          <a:prstGeom prst="rect">
            <a:avLst/>
          </a:prstGeom>
          <a:solidFill>
            <a:schemeClr val="tx1">
              <a:lumMod val="75000"/>
              <a:lumOff val="25000"/>
            </a:schemeClr>
          </a:solidFill>
        </p:spPr>
        <p:txBody>
          <a:bodyPr wrap="square" rtlCol="0">
            <a:spAutoFit/>
          </a:bodyPr>
          <a:lstStyle/>
          <a:p>
            <a:r>
              <a:rPr lang="en-US" sz="3000" b="1" dirty="0">
                <a:solidFill>
                  <a:schemeClr val="accent4">
                    <a:lumMod val="60000"/>
                    <a:lumOff val="40000"/>
                  </a:schemeClr>
                </a:solidFill>
              </a:rPr>
              <a:t>CEFE SOCIAL NETWORKS COURSE</a:t>
            </a:r>
            <a:endParaRPr lang="fr-FR" sz="3000" b="1" dirty="0">
              <a:solidFill>
                <a:schemeClr val="accent4">
                  <a:lumMod val="60000"/>
                  <a:lumOff val="40000"/>
                </a:schemeClr>
              </a:solidFill>
            </a:endParaRPr>
          </a:p>
        </p:txBody>
      </p:sp>
      <p:pic>
        <p:nvPicPr>
          <p:cNvPr id="3" name="Picture 2" descr="Logo&#10;&#10;Description automatically generated">
            <a:extLst>
              <a:ext uri="{FF2B5EF4-FFF2-40B4-BE49-F238E27FC236}">
                <a16:creationId xmlns:a16="http://schemas.microsoft.com/office/drawing/2014/main" id="{758F8005-F269-46F5-A3B2-D5C775BE94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50CCCDC2-F3A0-41E1-871E-617DD1D38B8F}"/>
              </a:ext>
            </a:extLst>
          </p:cNvPr>
          <p:cNvSpPr txBox="1"/>
          <p:nvPr/>
        </p:nvSpPr>
        <p:spPr>
          <a:xfrm>
            <a:off x="182880" y="870857"/>
            <a:ext cx="11686903" cy="461665"/>
          </a:xfrm>
          <a:prstGeom prst="rect">
            <a:avLst/>
          </a:prstGeom>
          <a:noFill/>
        </p:spPr>
        <p:txBody>
          <a:bodyPr wrap="square" rtlCol="0">
            <a:spAutoFit/>
          </a:bodyPr>
          <a:lstStyle/>
          <a:p>
            <a:pPr marL="457200" indent="-457200">
              <a:buAutoNum type="arabicPeriod"/>
            </a:pPr>
            <a:r>
              <a:rPr lang="en-US" sz="2400" b="1" dirty="0"/>
              <a:t>What is a network?</a:t>
            </a:r>
            <a:endParaRPr lang="en-US" sz="2400" b="1" i="1" dirty="0"/>
          </a:p>
        </p:txBody>
      </p:sp>
      <p:sp>
        <p:nvSpPr>
          <p:cNvPr id="11" name="Oval 10">
            <a:extLst>
              <a:ext uri="{FF2B5EF4-FFF2-40B4-BE49-F238E27FC236}">
                <a16:creationId xmlns:a16="http://schemas.microsoft.com/office/drawing/2014/main" id="{A185C67E-BAEF-4192-97C8-31E70F673A47}"/>
              </a:ext>
            </a:extLst>
          </p:cNvPr>
          <p:cNvSpPr/>
          <p:nvPr/>
        </p:nvSpPr>
        <p:spPr>
          <a:xfrm>
            <a:off x="1428206" y="4851222"/>
            <a:ext cx="644434" cy="64443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Straight Connector 11">
            <a:extLst>
              <a:ext uri="{FF2B5EF4-FFF2-40B4-BE49-F238E27FC236}">
                <a16:creationId xmlns:a16="http://schemas.microsoft.com/office/drawing/2014/main" id="{4DDAE635-45C8-4673-8D26-0DB688F456CB}"/>
              </a:ext>
            </a:extLst>
          </p:cNvPr>
          <p:cNvCxnSpPr/>
          <p:nvPr/>
        </p:nvCxnSpPr>
        <p:spPr>
          <a:xfrm>
            <a:off x="2072640" y="5164730"/>
            <a:ext cx="325700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2F5A9A42-CFE9-467C-8F2E-650062044567}"/>
              </a:ext>
            </a:extLst>
          </p:cNvPr>
          <p:cNvSpPr/>
          <p:nvPr/>
        </p:nvSpPr>
        <p:spPr>
          <a:xfrm>
            <a:off x="5268685" y="4851222"/>
            <a:ext cx="644434" cy="64443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Picture 13">
            <a:extLst>
              <a:ext uri="{FF2B5EF4-FFF2-40B4-BE49-F238E27FC236}">
                <a16:creationId xmlns:a16="http://schemas.microsoft.com/office/drawing/2014/main" id="{9872978A-CE86-4C4A-982D-92BD7CCAFE0F}"/>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710828" y="1889657"/>
            <a:ext cx="1057012" cy="1171408"/>
          </a:xfrm>
          <a:prstGeom prst="rect">
            <a:avLst/>
          </a:prstGeom>
        </p:spPr>
      </p:pic>
      <p:cxnSp>
        <p:nvCxnSpPr>
          <p:cNvPr id="15" name="Straight Connector 14">
            <a:extLst>
              <a:ext uri="{FF2B5EF4-FFF2-40B4-BE49-F238E27FC236}">
                <a16:creationId xmlns:a16="http://schemas.microsoft.com/office/drawing/2014/main" id="{1B9531BB-14DF-4BAC-975C-5E680DC024BA}"/>
              </a:ext>
            </a:extLst>
          </p:cNvPr>
          <p:cNvCxnSpPr/>
          <p:nvPr/>
        </p:nvCxnSpPr>
        <p:spPr>
          <a:xfrm>
            <a:off x="2046516" y="2475361"/>
            <a:ext cx="325700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C60110D4-927A-47A0-9681-D0A75646F7B2}"/>
              </a:ext>
            </a:extLst>
          </p:cNvPr>
          <p:cNvPicPr>
            <a:picLocks noChangeAspect="1"/>
          </p:cNvPicPr>
          <p:nvPr/>
        </p:nvPicPr>
        <p:blipFill>
          <a:blip r:embed="rId3"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364483" y="1889657"/>
            <a:ext cx="1057012" cy="1171408"/>
          </a:xfrm>
          <a:prstGeom prst="rect">
            <a:avLst/>
          </a:prstGeom>
        </p:spPr>
      </p:pic>
      <p:sp>
        <p:nvSpPr>
          <p:cNvPr id="17" name="Arrow: Striped Right 16">
            <a:extLst>
              <a:ext uri="{FF2B5EF4-FFF2-40B4-BE49-F238E27FC236}">
                <a16:creationId xmlns:a16="http://schemas.microsoft.com/office/drawing/2014/main" id="{D46BD233-2CB4-4508-951B-D18C576565E7}"/>
              </a:ext>
            </a:extLst>
          </p:cNvPr>
          <p:cNvSpPr/>
          <p:nvPr/>
        </p:nvSpPr>
        <p:spPr>
          <a:xfrm rot="5400000">
            <a:off x="2810692" y="3519543"/>
            <a:ext cx="1728651" cy="601006"/>
          </a:xfrm>
          <a:prstGeom prst="stripedRightArrow">
            <a:avLst>
              <a:gd name="adj1" fmla="val 47748"/>
              <a:gd name="adj2" fmla="val 50000"/>
            </a:avLst>
          </a:prstGeom>
          <a:solidFill>
            <a:schemeClr val="accent6">
              <a:lumMod val="20000"/>
              <a:lumOff val="8000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Arrow: Striped Right 17">
            <a:extLst>
              <a:ext uri="{FF2B5EF4-FFF2-40B4-BE49-F238E27FC236}">
                <a16:creationId xmlns:a16="http://schemas.microsoft.com/office/drawing/2014/main" id="{4BC8FCE5-FECF-4A5B-B287-B35595D8158A}"/>
              </a:ext>
            </a:extLst>
          </p:cNvPr>
          <p:cNvSpPr/>
          <p:nvPr/>
        </p:nvSpPr>
        <p:spPr>
          <a:xfrm>
            <a:off x="5892989" y="3618200"/>
            <a:ext cx="2456684" cy="601006"/>
          </a:xfrm>
          <a:prstGeom prst="stripedRightArrow">
            <a:avLst>
              <a:gd name="adj1" fmla="val 47748"/>
              <a:gd name="adj2" fmla="val 50000"/>
            </a:avLst>
          </a:prstGeom>
          <a:solidFill>
            <a:schemeClr val="accent6">
              <a:lumMod val="20000"/>
              <a:lumOff val="8000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F2F78BB8-6289-4D3E-8165-DCDEA496B9EC}"/>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681B85-1FCB-470E-A8E2-DB2D1D424A82}"/>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Oval 21">
            <a:extLst>
              <a:ext uri="{FF2B5EF4-FFF2-40B4-BE49-F238E27FC236}">
                <a16:creationId xmlns:a16="http://schemas.microsoft.com/office/drawing/2014/main" id="{848C2969-CAD5-4861-AA2E-AF5AE74E699F}"/>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Oval 22">
            <a:extLst>
              <a:ext uri="{FF2B5EF4-FFF2-40B4-BE49-F238E27FC236}">
                <a16:creationId xmlns:a16="http://schemas.microsoft.com/office/drawing/2014/main" id="{37E3681C-32E9-4BF2-A3CD-ECA4340BFDDE}"/>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Oval 23">
            <a:extLst>
              <a:ext uri="{FF2B5EF4-FFF2-40B4-BE49-F238E27FC236}">
                <a16:creationId xmlns:a16="http://schemas.microsoft.com/office/drawing/2014/main" id="{37447CD9-7CE5-4DFA-B7AD-BA1DDD54459C}"/>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Oval 24">
            <a:extLst>
              <a:ext uri="{FF2B5EF4-FFF2-40B4-BE49-F238E27FC236}">
                <a16:creationId xmlns:a16="http://schemas.microsoft.com/office/drawing/2014/main" id="{51D7DD46-7CDC-49CF-923C-2E1C22C94253}"/>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Oval 25">
            <a:extLst>
              <a:ext uri="{FF2B5EF4-FFF2-40B4-BE49-F238E27FC236}">
                <a16:creationId xmlns:a16="http://schemas.microsoft.com/office/drawing/2014/main" id="{EBBA2B69-F1EB-48D2-983E-36E0AA973BA7}"/>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Oval 26">
            <a:extLst>
              <a:ext uri="{FF2B5EF4-FFF2-40B4-BE49-F238E27FC236}">
                <a16:creationId xmlns:a16="http://schemas.microsoft.com/office/drawing/2014/main" id="{07B30000-B3FF-4C98-95BC-7C058094DF96}"/>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Oval 27">
            <a:extLst>
              <a:ext uri="{FF2B5EF4-FFF2-40B4-BE49-F238E27FC236}">
                <a16:creationId xmlns:a16="http://schemas.microsoft.com/office/drawing/2014/main" id="{7708FF62-B636-497C-A0A2-95746DF8203D}"/>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Oval 28">
            <a:extLst>
              <a:ext uri="{FF2B5EF4-FFF2-40B4-BE49-F238E27FC236}">
                <a16:creationId xmlns:a16="http://schemas.microsoft.com/office/drawing/2014/main" id="{A4BE6D18-E577-4BF5-A8FB-98A3511C7C47}"/>
              </a:ext>
            </a:extLst>
          </p:cNvPr>
          <p:cNvSpPr/>
          <p:nvPr/>
        </p:nvSpPr>
        <p:spPr>
          <a:xfrm>
            <a:off x="10551015" y="1142529"/>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0" name="Straight Connector 29">
            <a:extLst>
              <a:ext uri="{FF2B5EF4-FFF2-40B4-BE49-F238E27FC236}">
                <a16:creationId xmlns:a16="http://schemas.microsoft.com/office/drawing/2014/main" id="{8FE6E072-B544-496A-B830-5A2357B24E90}"/>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2ACB2F-9D11-4564-ADF8-101442D69B2B}"/>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241BF85-69B6-4B13-9FE7-C171D50E5FBD}"/>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B13EFA3-9225-4A23-AADC-7EE235D804FA}"/>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67830AA-68AE-42FA-B173-A7E00ADB99DE}"/>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C8FAD5A-18E3-4708-A325-8EF77B07E858}"/>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2786C22-8572-480E-A5EC-99DF349DCC24}"/>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1102771-F264-4A17-853B-1A5BCC7E51B7}"/>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CC48DE5-9211-4F08-912D-A0335EDC8973}"/>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6A73D1-F718-4EDA-A15C-463111E21982}"/>
              </a:ext>
            </a:extLst>
          </p:cNvPr>
          <p:cNvSpPr txBox="1"/>
          <p:nvPr/>
        </p:nvSpPr>
        <p:spPr>
          <a:xfrm>
            <a:off x="6363855" y="5673048"/>
            <a:ext cx="5505928" cy="830997"/>
          </a:xfrm>
          <a:prstGeom prst="rect">
            <a:avLst/>
          </a:prstGeom>
          <a:noFill/>
        </p:spPr>
        <p:txBody>
          <a:bodyPr wrap="square">
            <a:spAutoFit/>
          </a:bodyPr>
          <a:lstStyle/>
          <a:p>
            <a:pPr algn="r"/>
            <a:r>
              <a:rPr lang="en-US" sz="2400" dirty="0"/>
              <a:t>Networks help link individual </a:t>
            </a:r>
            <a:r>
              <a:rPr lang="en-US" sz="2400" dirty="0" err="1"/>
              <a:t>behaviours</a:t>
            </a:r>
            <a:r>
              <a:rPr lang="en-US" sz="2400" dirty="0"/>
              <a:t> to population patterns</a:t>
            </a:r>
            <a:endParaRPr lang="fr-FR" sz="2400" dirty="0"/>
          </a:p>
        </p:txBody>
      </p:sp>
    </p:spTree>
    <p:extLst>
      <p:ext uri="{BB962C8B-B14F-4D97-AF65-F5344CB8AC3E}">
        <p14:creationId xmlns:p14="http://schemas.microsoft.com/office/powerpoint/2010/main" val="3951372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7771CC-B721-439A-AA40-80AA6384A34F}"/>
              </a:ext>
            </a:extLst>
          </p:cNvPr>
          <p:cNvSpPr txBox="1"/>
          <p:nvPr/>
        </p:nvSpPr>
        <p:spPr>
          <a:xfrm>
            <a:off x="0" y="0"/>
            <a:ext cx="12192000" cy="553998"/>
          </a:xfrm>
          <a:prstGeom prst="rect">
            <a:avLst/>
          </a:prstGeom>
          <a:solidFill>
            <a:schemeClr val="tx1">
              <a:lumMod val="75000"/>
              <a:lumOff val="25000"/>
            </a:schemeClr>
          </a:solidFill>
        </p:spPr>
        <p:txBody>
          <a:bodyPr wrap="square" rtlCol="0">
            <a:spAutoFit/>
          </a:bodyPr>
          <a:lstStyle/>
          <a:p>
            <a:r>
              <a:rPr lang="en-US" sz="3000" b="1" dirty="0">
                <a:solidFill>
                  <a:schemeClr val="accent4">
                    <a:lumMod val="60000"/>
                    <a:lumOff val="40000"/>
                  </a:schemeClr>
                </a:solidFill>
              </a:rPr>
              <a:t>CEFE SOCIAL NETWORKS COURSE</a:t>
            </a:r>
            <a:endParaRPr lang="fr-FR" sz="3000" b="1" dirty="0">
              <a:solidFill>
                <a:schemeClr val="accent4">
                  <a:lumMod val="60000"/>
                  <a:lumOff val="40000"/>
                </a:schemeClr>
              </a:solidFill>
            </a:endParaRPr>
          </a:p>
        </p:txBody>
      </p:sp>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B6856AB0-6C04-4516-A2AE-E8154A0B9C78}"/>
              </a:ext>
            </a:extLst>
          </p:cNvPr>
          <p:cNvSpPr txBox="1"/>
          <p:nvPr/>
        </p:nvSpPr>
        <p:spPr>
          <a:xfrm>
            <a:off x="182880" y="870857"/>
            <a:ext cx="11686903" cy="461665"/>
          </a:xfrm>
          <a:prstGeom prst="rect">
            <a:avLst/>
          </a:prstGeom>
          <a:noFill/>
        </p:spPr>
        <p:txBody>
          <a:bodyPr wrap="square" rtlCol="0">
            <a:spAutoFit/>
          </a:bodyPr>
          <a:lstStyle/>
          <a:p>
            <a:pPr marL="457200" indent="-457200">
              <a:buFont typeface="+mj-lt"/>
              <a:buAutoNum type="arabicPeriod" startAt="2"/>
            </a:pPr>
            <a:r>
              <a:rPr lang="en-US" sz="2400" b="1" dirty="0"/>
              <a:t>What do network datasets look like?</a:t>
            </a:r>
            <a:endParaRPr lang="en-US" sz="2400" b="1" i="1" dirty="0"/>
          </a:p>
        </p:txBody>
      </p:sp>
      <p:grpSp>
        <p:nvGrpSpPr>
          <p:cNvPr id="4" name="Group 3">
            <a:extLst>
              <a:ext uri="{FF2B5EF4-FFF2-40B4-BE49-F238E27FC236}">
                <a16:creationId xmlns:a16="http://schemas.microsoft.com/office/drawing/2014/main" id="{3E8EAA49-7B2E-4B6D-A1B0-64674DAE37B1}"/>
              </a:ext>
            </a:extLst>
          </p:cNvPr>
          <p:cNvGrpSpPr/>
          <p:nvPr/>
        </p:nvGrpSpPr>
        <p:grpSpPr>
          <a:xfrm>
            <a:off x="9236782" y="2185295"/>
            <a:ext cx="1869945" cy="3125033"/>
            <a:chOff x="9236782" y="2185295"/>
            <a:chExt cx="1869945" cy="3125033"/>
          </a:xfrm>
        </p:grpSpPr>
        <p:cxnSp>
          <p:nvCxnSpPr>
            <p:cNvPr id="18" name="Straight Connector 17">
              <a:extLst>
                <a:ext uri="{FF2B5EF4-FFF2-40B4-BE49-F238E27FC236}">
                  <a16:creationId xmlns:a16="http://schemas.microsoft.com/office/drawing/2014/main" id="{E03F83DF-0EF5-4E3E-BB64-2B49E99EE595}"/>
                </a:ext>
              </a:extLst>
            </p:cNvPr>
            <p:cNvCxnSpPr>
              <a:cxnSpLocks/>
            </p:cNvCxnSpPr>
            <p:nvPr/>
          </p:nvCxnSpPr>
          <p:spPr>
            <a:xfrm flipV="1">
              <a:off x="9448800" y="2381719"/>
              <a:ext cx="437733" cy="76486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19DBD7E-000B-4B5B-84C9-01AA91971928}"/>
                </a:ext>
              </a:extLst>
            </p:cNvPr>
            <p:cNvCxnSpPr>
              <a:cxnSpLocks/>
            </p:cNvCxnSpPr>
            <p:nvPr/>
          </p:nvCxnSpPr>
          <p:spPr>
            <a:xfrm>
              <a:off x="9886533" y="2366704"/>
              <a:ext cx="664482" cy="16371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A8B86F-F3A8-44BE-BD41-053F72546059}"/>
                </a:ext>
              </a:extLst>
            </p:cNvPr>
            <p:cNvCxnSpPr>
              <a:cxnSpLocks/>
            </p:cNvCxnSpPr>
            <p:nvPr/>
          </p:nvCxnSpPr>
          <p:spPr>
            <a:xfrm flipH="1" flipV="1">
              <a:off x="9886533" y="2366705"/>
              <a:ext cx="747976" cy="1029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E77C5B3-FC42-4B9F-A93E-A3E197BF8845}"/>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9B747561-CD53-471F-8727-62D464E453AB}"/>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16C30D7C-711E-4690-9E80-85DFF190F8A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E246FA38-AE4C-4963-827D-BC8D5F8D31BE}"/>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C4FAE70E-3C9D-4E4D-8DC1-7F89D2FA8008}"/>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5896D7B1-5A6E-4B56-9A55-4A51D30B8F7D}"/>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C47B5451-2C0B-4D6A-A94C-300DDE1DC880}"/>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D66427E4-CABD-4573-BAC9-150C1A34699D}"/>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FEABE413-DBC1-4F07-9E8E-EBA485A3D6C7}"/>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B295004E-0AF6-4349-96B5-DAF9D08210E3}"/>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B1464EF-C1E6-47A0-8CB5-CDE10BB0325C}"/>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2B864A9-774D-4E1C-9AEE-6B5F477EC725}"/>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BC7D62D-24B5-4100-A76A-022523232915}"/>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1D8DD48-A5FF-473D-9CF1-B01BF20C4E6C}"/>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1B77CB8-394C-43E9-AB5F-F2F2719CC4B6}"/>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4A2D8DD-0F49-48AE-B18F-E8FF2327A161}"/>
                </a:ext>
              </a:extLst>
            </p:cNvPr>
            <p:cNvSpPr txBox="1"/>
            <p:nvPr/>
          </p:nvSpPr>
          <p:spPr>
            <a:xfrm>
              <a:off x="9683332" y="2189933"/>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p:txBody>
        </p:sp>
        <p:sp>
          <p:nvSpPr>
            <p:cNvPr id="30" name="TextBox 29">
              <a:extLst>
                <a:ext uri="{FF2B5EF4-FFF2-40B4-BE49-F238E27FC236}">
                  <a16:creationId xmlns:a16="http://schemas.microsoft.com/office/drawing/2014/main" id="{7A2CAFA8-64A8-44FC-9276-5A9CC006C254}"/>
                </a:ext>
              </a:extLst>
            </p:cNvPr>
            <p:cNvSpPr txBox="1"/>
            <p:nvPr/>
          </p:nvSpPr>
          <p:spPr>
            <a:xfrm>
              <a:off x="10426063" y="218529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p:txBody>
        </p:sp>
        <p:sp>
          <p:nvSpPr>
            <p:cNvPr id="31" name="TextBox 30">
              <a:extLst>
                <a:ext uri="{FF2B5EF4-FFF2-40B4-BE49-F238E27FC236}">
                  <a16:creationId xmlns:a16="http://schemas.microsoft.com/office/drawing/2014/main" id="{CF1E7E11-1BA7-40A9-BE7F-D5BB076AFDC2}"/>
                </a:ext>
              </a:extLst>
            </p:cNvPr>
            <p:cNvSpPr txBox="1"/>
            <p:nvPr/>
          </p:nvSpPr>
          <p:spPr>
            <a:xfrm>
              <a:off x="9236782" y="2966332"/>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p:txBody>
        </p:sp>
        <p:sp>
          <p:nvSpPr>
            <p:cNvPr id="32" name="TextBox 31">
              <a:extLst>
                <a:ext uri="{FF2B5EF4-FFF2-40B4-BE49-F238E27FC236}">
                  <a16:creationId xmlns:a16="http://schemas.microsoft.com/office/drawing/2014/main" id="{72360B70-CFB3-4E01-802F-5337F0132C2E}"/>
                </a:ext>
              </a:extLst>
            </p:cNvPr>
            <p:cNvSpPr txBox="1"/>
            <p:nvPr/>
          </p:nvSpPr>
          <p:spPr>
            <a:xfrm>
              <a:off x="10681854" y="2973587"/>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p:txBody>
        </p:sp>
        <p:sp>
          <p:nvSpPr>
            <p:cNvPr id="33" name="TextBox 32">
              <a:extLst>
                <a:ext uri="{FF2B5EF4-FFF2-40B4-BE49-F238E27FC236}">
                  <a16:creationId xmlns:a16="http://schemas.microsoft.com/office/drawing/2014/main" id="{34015175-14A7-4D7D-AD07-C7BA94F9FC94}"/>
                </a:ext>
              </a:extLst>
            </p:cNvPr>
            <p:cNvSpPr txBox="1"/>
            <p:nvPr/>
          </p:nvSpPr>
          <p:spPr>
            <a:xfrm>
              <a:off x="9727148" y="3578948"/>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p:txBody>
        </p:sp>
        <p:sp>
          <p:nvSpPr>
            <p:cNvPr id="34" name="TextBox 33">
              <a:extLst>
                <a:ext uri="{FF2B5EF4-FFF2-40B4-BE49-F238E27FC236}">
                  <a16:creationId xmlns:a16="http://schemas.microsoft.com/office/drawing/2014/main" id="{0690B235-4B9B-496A-A8CF-4B3FF77DB6C6}"/>
                </a:ext>
              </a:extLst>
            </p:cNvPr>
            <p:cNvSpPr txBox="1"/>
            <p:nvPr/>
          </p:nvSpPr>
          <p:spPr>
            <a:xfrm>
              <a:off x="10339527" y="382416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p:txBody>
        </p:sp>
        <p:sp>
          <p:nvSpPr>
            <p:cNvPr id="35" name="TextBox 34">
              <a:extLst>
                <a:ext uri="{FF2B5EF4-FFF2-40B4-BE49-F238E27FC236}">
                  <a16:creationId xmlns:a16="http://schemas.microsoft.com/office/drawing/2014/main" id="{CB84DD6A-AE78-495D-B5D8-40D4C59DD5CB}"/>
                </a:ext>
              </a:extLst>
            </p:cNvPr>
            <p:cNvSpPr txBox="1"/>
            <p:nvPr/>
          </p:nvSpPr>
          <p:spPr>
            <a:xfrm>
              <a:off x="9753065" y="4179819"/>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p:txBody>
        </p:sp>
        <p:sp>
          <p:nvSpPr>
            <p:cNvPr id="36" name="TextBox 35">
              <a:extLst>
                <a:ext uri="{FF2B5EF4-FFF2-40B4-BE49-F238E27FC236}">
                  <a16:creationId xmlns:a16="http://schemas.microsoft.com/office/drawing/2014/main" id="{768CCC50-1ECD-4C5B-BFE8-CCE52E048855}"/>
                </a:ext>
              </a:extLst>
            </p:cNvPr>
            <p:cNvSpPr txBox="1"/>
            <p:nvPr/>
          </p:nvSpPr>
          <p:spPr>
            <a:xfrm>
              <a:off x="10168167" y="4940996"/>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p:txBody>
        </p:sp>
      </p:grpSp>
      <p:sp>
        <p:nvSpPr>
          <p:cNvPr id="37" name="TextBox 36">
            <a:extLst>
              <a:ext uri="{FF2B5EF4-FFF2-40B4-BE49-F238E27FC236}">
                <a16:creationId xmlns:a16="http://schemas.microsoft.com/office/drawing/2014/main" id="{C26563E6-45BA-4EB8-84DF-561B725A1BBA}"/>
              </a:ext>
            </a:extLst>
          </p:cNvPr>
          <p:cNvSpPr txBox="1"/>
          <p:nvPr/>
        </p:nvSpPr>
        <p:spPr>
          <a:xfrm>
            <a:off x="572283" y="1577124"/>
            <a:ext cx="7146460" cy="461665"/>
          </a:xfrm>
          <a:prstGeom prst="rect">
            <a:avLst/>
          </a:prstGeom>
          <a:noFill/>
        </p:spPr>
        <p:txBody>
          <a:bodyPr wrap="square" rtlCol="0">
            <a:spAutoFit/>
          </a:bodyPr>
          <a:lstStyle/>
          <a:p>
            <a:r>
              <a:rPr lang="en-US" sz="2400" dirty="0"/>
              <a:t>a) An </a:t>
            </a:r>
            <a:r>
              <a:rPr lang="en-US" sz="2400" b="1" i="1" dirty="0">
                <a:solidFill>
                  <a:srgbClr val="FFC000"/>
                </a:solidFill>
              </a:rPr>
              <a:t>ADJACENCY MATRIX</a:t>
            </a:r>
          </a:p>
        </p:txBody>
      </p:sp>
      <p:graphicFrame>
        <p:nvGraphicFramePr>
          <p:cNvPr id="38" name="Table 38">
            <a:extLst>
              <a:ext uri="{FF2B5EF4-FFF2-40B4-BE49-F238E27FC236}">
                <a16:creationId xmlns:a16="http://schemas.microsoft.com/office/drawing/2014/main" id="{9B149DC8-0CBA-4DA7-8AE4-7870886B6177}"/>
              </a:ext>
            </a:extLst>
          </p:cNvPr>
          <p:cNvGraphicFramePr>
            <a:graphicFrameLocks noGrp="1"/>
          </p:cNvGraphicFramePr>
          <p:nvPr>
            <p:extLst>
              <p:ext uri="{D42A27DB-BD31-4B8C-83A1-F6EECF244321}">
                <p14:modId xmlns:p14="http://schemas.microsoft.com/office/powerpoint/2010/main" val="4166241231"/>
              </p:ext>
            </p:extLst>
          </p:nvPr>
        </p:nvGraphicFramePr>
        <p:xfrm>
          <a:off x="1598960" y="2277470"/>
          <a:ext cx="3291840" cy="329184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1160791391"/>
                    </a:ext>
                  </a:extLst>
                </a:gridCol>
                <a:gridCol w="365760">
                  <a:extLst>
                    <a:ext uri="{9D8B030D-6E8A-4147-A177-3AD203B41FA5}">
                      <a16:colId xmlns:a16="http://schemas.microsoft.com/office/drawing/2014/main" val="3580078151"/>
                    </a:ext>
                  </a:extLst>
                </a:gridCol>
                <a:gridCol w="365760">
                  <a:extLst>
                    <a:ext uri="{9D8B030D-6E8A-4147-A177-3AD203B41FA5}">
                      <a16:colId xmlns:a16="http://schemas.microsoft.com/office/drawing/2014/main" val="3040861133"/>
                    </a:ext>
                  </a:extLst>
                </a:gridCol>
                <a:gridCol w="365760">
                  <a:extLst>
                    <a:ext uri="{9D8B030D-6E8A-4147-A177-3AD203B41FA5}">
                      <a16:colId xmlns:a16="http://schemas.microsoft.com/office/drawing/2014/main" val="3750205406"/>
                    </a:ext>
                  </a:extLst>
                </a:gridCol>
                <a:gridCol w="365760">
                  <a:extLst>
                    <a:ext uri="{9D8B030D-6E8A-4147-A177-3AD203B41FA5}">
                      <a16:colId xmlns:a16="http://schemas.microsoft.com/office/drawing/2014/main" val="137373489"/>
                    </a:ext>
                  </a:extLst>
                </a:gridCol>
                <a:gridCol w="365760">
                  <a:extLst>
                    <a:ext uri="{9D8B030D-6E8A-4147-A177-3AD203B41FA5}">
                      <a16:colId xmlns:a16="http://schemas.microsoft.com/office/drawing/2014/main" val="3559658997"/>
                    </a:ext>
                  </a:extLst>
                </a:gridCol>
                <a:gridCol w="365760">
                  <a:extLst>
                    <a:ext uri="{9D8B030D-6E8A-4147-A177-3AD203B41FA5}">
                      <a16:colId xmlns:a16="http://schemas.microsoft.com/office/drawing/2014/main" val="654325955"/>
                    </a:ext>
                  </a:extLst>
                </a:gridCol>
                <a:gridCol w="365760">
                  <a:extLst>
                    <a:ext uri="{9D8B030D-6E8A-4147-A177-3AD203B41FA5}">
                      <a16:colId xmlns:a16="http://schemas.microsoft.com/office/drawing/2014/main" val="340643525"/>
                    </a:ext>
                  </a:extLst>
                </a:gridCol>
                <a:gridCol w="365760">
                  <a:extLst>
                    <a:ext uri="{9D8B030D-6E8A-4147-A177-3AD203B41FA5}">
                      <a16:colId xmlns:a16="http://schemas.microsoft.com/office/drawing/2014/main" val="985285625"/>
                    </a:ext>
                  </a:extLst>
                </a:gridCol>
              </a:tblGrid>
              <a:tr h="355600">
                <a:tc>
                  <a:txBody>
                    <a:bodyPr/>
                    <a:lstStyle/>
                    <a:p>
                      <a:pPr algn="ctr"/>
                      <a:endParaRPr lang="fr-FR" dirty="0"/>
                    </a:p>
                  </a:txBody>
                  <a:tcPr>
                    <a:solidFill>
                      <a:schemeClr val="bg1"/>
                    </a:solidFill>
                  </a:tcPr>
                </a:tc>
                <a:tc>
                  <a:txBody>
                    <a:bodyPr/>
                    <a:lstStyle/>
                    <a:p>
                      <a:pPr algn="ctr"/>
                      <a:r>
                        <a:rPr lang="en-US" dirty="0">
                          <a:solidFill>
                            <a:schemeClr val="accent4">
                              <a:lumMod val="60000"/>
                              <a:lumOff val="40000"/>
                            </a:schemeClr>
                          </a:solidFill>
                        </a:rPr>
                        <a:t>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2</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3</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4</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5</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6</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7</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8</a:t>
                      </a:r>
                    </a:p>
                  </a:txBody>
                  <a:tcPr>
                    <a:solidFill>
                      <a:schemeClr val="tx1"/>
                    </a:solidFill>
                  </a:tcPr>
                </a:tc>
                <a:extLst>
                  <a:ext uri="{0D108BD9-81ED-4DB2-BD59-A6C34878D82A}">
                    <a16:rowId xmlns:a16="http://schemas.microsoft.com/office/drawing/2014/main" val="3337210578"/>
                  </a:ext>
                </a:extLst>
              </a:tr>
              <a:tr h="355600">
                <a:tc>
                  <a:txBody>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113491038"/>
                  </a:ext>
                </a:extLst>
              </a:tr>
              <a:tr h="355600">
                <a:tc>
                  <a:txBody>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852759760"/>
                  </a:ext>
                </a:extLst>
              </a:tr>
              <a:tr h="355600">
                <a:tc>
                  <a:txBody>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492037244"/>
                  </a:ext>
                </a:extLst>
              </a:tr>
              <a:tr h="355600">
                <a:tc>
                  <a:txBody>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3594548446"/>
                  </a:ext>
                </a:extLst>
              </a:tr>
              <a:tr h="355600">
                <a:tc>
                  <a:txBody>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48068657"/>
                  </a:ext>
                </a:extLst>
              </a:tr>
              <a:tr h="355600">
                <a:tc>
                  <a:txBody>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1858898233"/>
                  </a:ext>
                </a:extLst>
              </a:tr>
              <a:tr h="355600">
                <a:tc>
                  <a:txBody>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extLst>
                  <a:ext uri="{0D108BD9-81ED-4DB2-BD59-A6C34878D82A}">
                    <a16:rowId xmlns:a16="http://schemas.microsoft.com/office/drawing/2014/main" val="1993533395"/>
                  </a:ext>
                </a:extLst>
              </a:tr>
              <a:tr h="355600">
                <a:tc>
                  <a:txBody>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extLst>
                  <a:ext uri="{0D108BD9-81ED-4DB2-BD59-A6C34878D82A}">
                    <a16:rowId xmlns:a16="http://schemas.microsoft.com/office/drawing/2014/main" val="3647899706"/>
                  </a:ext>
                </a:extLst>
              </a:tr>
            </a:tbl>
          </a:graphicData>
        </a:graphic>
      </p:graphicFrame>
      <p:sp>
        <p:nvSpPr>
          <p:cNvPr id="39" name="Arrow: Up-Down 38">
            <a:extLst>
              <a:ext uri="{FF2B5EF4-FFF2-40B4-BE49-F238E27FC236}">
                <a16:creationId xmlns:a16="http://schemas.microsoft.com/office/drawing/2014/main" id="{05B43E3D-E5D1-4458-B939-817E39269F4D}"/>
              </a:ext>
            </a:extLst>
          </p:cNvPr>
          <p:cNvSpPr/>
          <p:nvPr/>
        </p:nvSpPr>
        <p:spPr>
          <a:xfrm rot="16200000">
            <a:off x="6671457" y="2285118"/>
            <a:ext cx="917011" cy="2987858"/>
          </a:xfrm>
          <a:prstGeom prst="upDownArrow">
            <a:avLst>
              <a:gd name="adj1" fmla="val 37614"/>
              <a:gd name="adj2" fmla="val 55192"/>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39">
            <a:extLst>
              <a:ext uri="{FF2B5EF4-FFF2-40B4-BE49-F238E27FC236}">
                <a16:creationId xmlns:a16="http://schemas.microsoft.com/office/drawing/2014/main" id="{6AFC701D-B7A2-4B18-A4CD-D5A63CA049FC}"/>
              </a:ext>
            </a:extLst>
          </p:cNvPr>
          <p:cNvSpPr/>
          <p:nvPr/>
        </p:nvSpPr>
        <p:spPr>
          <a:xfrm>
            <a:off x="1967345" y="2641600"/>
            <a:ext cx="2923455" cy="369332"/>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a:extLst>
              <a:ext uri="{FF2B5EF4-FFF2-40B4-BE49-F238E27FC236}">
                <a16:creationId xmlns:a16="http://schemas.microsoft.com/office/drawing/2014/main" id="{634616AE-D1EF-4721-916F-B62387C24609}"/>
              </a:ext>
            </a:extLst>
          </p:cNvPr>
          <p:cNvSpPr/>
          <p:nvPr/>
        </p:nvSpPr>
        <p:spPr>
          <a:xfrm rot="5400000">
            <a:off x="679456" y="3918662"/>
            <a:ext cx="2923455" cy="369332"/>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84193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E03F83DF-0EF5-4E3E-BB64-2B49E99EE595}"/>
              </a:ext>
            </a:extLst>
          </p:cNvPr>
          <p:cNvCxnSpPr>
            <a:cxnSpLocks/>
          </p:cNvCxnSpPr>
          <p:nvPr/>
        </p:nvCxnSpPr>
        <p:spPr>
          <a:xfrm flipV="1">
            <a:off x="9448800" y="2381719"/>
            <a:ext cx="437733" cy="76486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19DBD7E-000B-4B5B-84C9-01AA91971928}"/>
              </a:ext>
            </a:extLst>
          </p:cNvPr>
          <p:cNvCxnSpPr>
            <a:cxnSpLocks/>
          </p:cNvCxnSpPr>
          <p:nvPr/>
        </p:nvCxnSpPr>
        <p:spPr>
          <a:xfrm>
            <a:off x="9886533" y="2366704"/>
            <a:ext cx="664482" cy="16371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A8B86F-F3A8-44BE-BD41-053F72546059}"/>
              </a:ext>
            </a:extLst>
          </p:cNvPr>
          <p:cNvCxnSpPr>
            <a:cxnSpLocks/>
          </p:cNvCxnSpPr>
          <p:nvPr/>
        </p:nvCxnSpPr>
        <p:spPr>
          <a:xfrm flipH="1" flipV="1">
            <a:off x="9886533" y="2366705"/>
            <a:ext cx="747976" cy="1029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37771CC-B721-439A-AA40-80AA6384A34F}"/>
              </a:ext>
            </a:extLst>
          </p:cNvPr>
          <p:cNvSpPr txBox="1"/>
          <p:nvPr/>
        </p:nvSpPr>
        <p:spPr>
          <a:xfrm>
            <a:off x="0" y="0"/>
            <a:ext cx="12192000" cy="553998"/>
          </a:xfrm>
          <a:prstGeom prst="rect">
            <a:avLst/>
          </a:prstGeom>
          <a:solidFill>
            <a:schemeClr val="tx1">
              <a:lumMod val="75000"/>
              <a:lumOff val="25000"/>
            </a:schemeClr>
          </a:solidFill>
        </p:spPr>
        <p:txBody>
          <a:bodyPr wrap="square" rtlCol="0">
            <a:spAutoFit/>
          </a:bodyPr>
          <a:lstStyle/>
          <a:p>
            <a:r>
              <a:rPr lang="en-US" sz="3000" b="1" dirty="0">
                <a:solidFill>
                  <a:schemeClr val="accent4">
                    <a:lumMod val="60000"/>
                    <a:lumOff val="40000"/>
                  </a:schemeClr>
                </a:solidFill>
              </a:rPr>
              <a:t>CEFE SOCIAL NETWORKS COURSE</a:t>
            </a:r>
            <a:endParaRPr lang="fr-FR" sz="3000" b="1" dirty="0">
              <a:solidFill>
                <a:schemeClr val="accent4">
                  <a:lumMod val="60000"/>
                  <a:lumOff val="40000"/>
                </a:schemeClr>
              </a:solidFill>
            </a:endParaRPr>
          </a:p>
        </p:txBody>
      </p:sp>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B6856AB0-6C04-4516-A2AE-E8154A0B9C78}"/>
              </a:ext>
            </a:extLst>
          </p:cNvPr>
          <p:cNvSpPr txBox="1"/>
          <p:nvPr/>
        </p:nvSpPr>
        <p:spPr>
          <a:xfrm>
            <a:off x="182880" y="870857"/>
            <a:ext cx="11686903" cy="461665"/>
          </a:xfrm>
          <a:prstGeom prst="rect">
            <a:avLst/>
          </a:prstGeom>
          <a:noFill/>
        </p:spPr>
        <p:txBody>
          <a:bodyPr wrap="square" rtlCol="0">
            <a:spAutoFit/>
          </a:bodyPr>
          <a:lstStyle/>
          <a:p>
            <a:pPr marL="457200" indent="-457200">
              <a:buFont typeface="+mj-lt"/>
              <a:buAutoNum type="arabicPeriod" startAt="2"/>
            </a:pPr>
            <a:r>
              <a:rPr lang="en-US" sz="2400" b="1" dirty="0"/>
              <a:t>What do network datasets look like?</a:t>
            </a:r>
            <a:endParaRPr lang="en-US" sz="2400" b="1" i="1" dirty="0"/>
          </a:p>
        </p:txBody>
      </p:sp>
      <p:cxnSp>
        <p:nvCxnSpPr>
          <p:cNvPr id="9" name="Straight Connector 8">
            <a:extLst>
              <a:ext uri="{FF2B5EF4-FFF2-40B4-BE49-F238E27FC236}">
                <a16:creationId xmlns:a16="http://schemas.microsoft.com/office/drawing/2014/main" id="{BE77C5B3-FC42-4B9F-A93E-A3E197BF8845}"/>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9B747561-CD53-471F-8727-62D464E453AB}"/>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16C30D7C-711E-4690-9E80-85DFF190F8A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E246FA38-AE4C-4963-827D-BC8D5F8D31BE}"/>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C4FAE70E-3C9D-4E4D-8DC1-7F89D2FA8008}"/>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5896D7B1-5A6E-4B56-9A55-4A51D30B8F7D}"/>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C47B5451-2C0B-4D6A-A94C-300DDE1DC880}"/>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D66427E4-CABD-4573-BAC9-150C1A34699D}"/>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FEABE413-DBC1-4F07-9E8E-EBA485A3D6C7}"/>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B295004E-0AF6-4349-96B5-DAF9D08210E3}"/>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B1464EF-C1E6-47A0-8CB5-CDE10BB0325C}"/>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2B864A9-774D-4E1C-9AEE-6B5F477EC725}"/>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BC7D62D-24B5-4100-A76A-022523232915}"/>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1D8DD48-A5FF-473D-9CF1-B01BF20C4E6C}"/>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1B77CB8-394C-43E9-AB5F-F2F2719CC4B6}"/>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4A2D8DD-0F49-48AE-B18F-E8FF2327A161}"/>
              </a:ext>
            </a:extLst>
          </p:cNvPr>
          <p:cNvSpPr txBox="1"/>
          <p:nvPr/>
        </p:nvSpPr>
        <p:spPr>
          <a:xfrm>
            <a:off x="9683332" y="2189933"/>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p:txBody>
      </p:sp>
      <p:sp>
        <p:nvSpPr>
          <p:cNvPr id="30" name="TextBox 29">
            <a:extLst>
              <a:ext uri="{FF2B5EF4-FFF2-40B4-BE49-F238E27FC236}">
                <a16:creationId xmlns:a16="http://schemas.microsoft.com/office/drawing/2014/main" id="{7A2CAFA8-64A8-44FC-9276-5A9CC006C254}"/>
              </a:ext>
            </a:extLst>
          </p:cNvPr>
          <p:cNvSpPr txBox="1"/>
          <p:nvPr/>
        </p:nvSpPr>
        <p:spPr>
          <a:xfrm>
            <a:off x="10426063" y="218529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p:txBody>
      </p:sp>
      <p:sp>
        <p:nvSpPr>
          <p:cNvPr id="31" name="TextBox 30">
            <a:extLst>
              <a:ext uri="{FF2B5EF4-FFF2-40B4-BE49-F238E27FC236}">
                <a16:creationId xmlns:a16="http://schemas.microsoft.com/office/drawing/2014/main" id="{CF1E7E11-1BA7-40A9-BE7F-D5BB076AFDC2}"/>
              </a:ext>
            </a:extLst>
          </p:cNvPr>
          <p:cNvSpPr txBox="1"/>
          <p:nvPr/>
        </p:nvSpPr>
        <p:spPr>
          <a:xfrm>
            <a:off x="9236782" y="2966332"/>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p:txBody>
      </p:sp>
      <p:sp>
        <p:nvSpPr>
          <p:cNvPr id="32" name="TextBox 31">
            <a:extLst>
              <a:ext uri="{FF2B5EF4-FFF2-40B4-BE49-F238E27FC236}">
                <a16:creationId xmlns:a16="http://schemas.microsoft.com/office/drawing/2014/main" id="{72360B70-CFB3-4E01-802F-5337F0132C2E}"/>
              </a:ext>
            </a:extLst>
          </p:cNvPr>
          <p:cNvSpPr txBox="1"/>
          <p:nvPr/>
        </p:nvSpPr>
        <p:spPr>
          <a:xfrm>
            <a:off x="10681854" y="2973587"/>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p:txBody>
      </p:sp>
      <p:sp>
        <p:nvSpPr>
          <p:cNvPr id="33" name="TextBox 32">
            <a:extLst>
              <a:ext uri="{FF2B5EF4-FFF2-40B4-BE49-F238E27FC236}">
                <a16:creationId xmlns:a16="http://schemas.microsoft.com/office/drawing/2014/main" id="{34015175-14A7-4D7D-AD07-C7BA94F9FC94}"/>
              </a:ext>
            </a:extLst>
          </p:cNvPr>
          <p:cNvSpPr txBox="1"/>
          <p:nvPr/>
        </p:nvSpPr>
        <p:spPr>
          <a:xfrm>
            <a:off x="9727148" y="3578948"/>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p:txBody>
      </p:sp>
      <p:sp>
        <p:nvSpPr>
          <p:cNvPr id="34" name="TextBox 33">
            <a:extLst>
              <a:ext uri="{FF2B5EF4-FFF2-40B4-BE49-F238E27FC236}">
                <a16:creationId xmlns:a16="http://schemas.microsoft.com/office/drawing/2014/main" id="{0690B235-4B9B-496A-A8CF-4B3FF77DB6C6}"/>
              </a:ext>
            </a:extLst>
          </p:cNvPr>
          <p:cNvSpPr txBox="1"/>
          <p:nvPr/>
        </p:nvSpPr>
        <p:spPr>
          <a:xfrm>
            <a:off x="10339527" y="382416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p:txBody>
      </p:sp>
      <p:sp>
        <p:nvSpPr>
          <p:cNvPr id="35" name="TextBox 34">
            <a:extLst>
              <a:ext uri="{FF2B5EF4-FFF2-40B4-BE49-F238E27FC236}">
                <a16:creationId xmlns:a16="http://schemas.microsoft.com/office/drawing/2014/main" id="{CB84DD6A-AE78-495D-B5D8-40D4C59DD5CB}"/>
              </a:ext>
            </a:extLst>
          </p:cNvPr>
          <p:cNvSpPr txBox="1"/>
          <p:nvPr/>
        </p:nvSpPr>
        <p:spPr>
          <a:xfrm>
            <a:off x="9753065" y="4179819"/>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p:txBody>
      </p:sp>
      <p:sp>
        <p:nvSpPr>
          <p:cNvPr id="36" name="TextBox 35">
            <a:extLst>
              <a:ext uri="{FF2B5EF4-FFF2-40B4-BE49-F238E27FC236}">
                <a16:creationId xmlns:a16="http://schemas.microsoft.com/office/drawing/2014/main" id="{768CCC50-1ECD-4C5B-BFE8-CCE52E048855}"/>
              </a:ext>
            </a:extLst>
          </p:cNvPr>
          <p:cNvSpPr txBox="1"/>
          <p:nvPr/>
        </p:nvSpPr>
        <p:spPr>
          <a:xfrm>
            <a:off x="10168167" y="4940996"/>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p:txBody>
      </p:sp>
      <p:sp>
        <p:nvSpPr>
          <p:cNvPr id="37" name="TextBox 36">
            <a:extLst>
              <a:ext uri="{FF2B5EF4-FFF2-40B4-BE49-F238E27FC236}">
                <a16:creationId xmlns:a16="http://schemas.microsoft.com/office/drawing/2014/main" id="{C26563E6-45BA-4EB8-84DF-561B725A1BBA}"/>
              </a:ext>
            </a:extLst>
          </p:cNvPr>
          <p:cNvSpPr txBox="1"/>
          <p:nvPr/>
        </p:nvSpPr>
        <p:spPr>
          <a:xfrm>
            <a:off x="572283" y="1577124"/>
            <a:ext cx="7146460" cy="461665"/>
          </a:xfrm>
          <a:prstGeom prst="rect">
            <a:avLst/>
          </a:prstGeom>
          <a:noFill/>
        </p:spPr>
        <p:txBody>
          <a:bodyPr wrap="square" rtlCol="0">
            <a:spAutoFit/>
          </a:bodyPr>
          <a:lstStyle/>
          <a:p>
            <a:r>
              <a:rPr lang="en-US" sz="2400" dirty="0"/>
              <a:t>b) An </a:t>
            </a:r>
            <a:r>
              <a:rPr lang="en-US" sz="2400" b="1" i="1" dirty="0">
                <a:solidFill>
                  <a:srgbClr val="FFC000"/>
                </a:solidFill>
              </a:rPr>
              <a:t>EDGE LIST</a:t>
            </a:r>
          </a:p>
        </p:txBody>
      </p:sp>
      <p:sp>
        <p:nvSpPr>
          <p:cNvPr id="39" name="Arrow: Up-Down 38">
            <a:extLst>
              <a:ext uri="{FF2B5EF4-FFF2-40B4-BE49-F238E27FC236}">
                <a16:creationId xmlns:a16="http://schemas.microsoft.com/office/drawing/2014/main" id="{05B43E3D-E5D1-4458-B939-817E39269F4D}"/>
              </a:ext>
            </a:extLst>
          </p:cNvPr>
          <p:cNvSpPr/>
          <p:nvPr/>
        </p:nvSpPr>
        <p:spPr>
          <a:xfrm rot="16200000">
            <a:off x="6671457" y="2285118"/>
            <a:ext cx="917011" cy="2987858"/>
          </a:xfrm>
          <a:prstGeom prst="upDownArrow">
            <a:avLst>
              <a:gd name="adj1" fmla="val 37614"/>
              <a:gd name="adj2" fmla="val 55192"/>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 4">
            <a:extLst>
              <a:ext uri="{FF2B5EF4-FFF2-40B4-BE49-F238E27FC236}">
                <a16:creationId xmlns:a16="http://schemas.microsoft.com/office/drawing/2014/main" id="{49AAEE81-AE83-45CA-8B3B-0354A7AC5B1C}"/>
              </a:ext>
            </a:extLst>
          </p:cNvPr>
          <p:cNvGraphicFramePr>
            <a:graphicFrameLocks noGrp="1"/>
          </p:cNvGraphicFramePr>
          <p:nvPr>
            <p:extLst>
              <p:ext uri="{D42A27DB-BD31-4B8C-83A1-F6EECF244321}">
                <p14:modId xmlns:p14="http://schemas.microsoft.com/office/powerpoint/2010/main" val="275182003"/>
              </p:ext>
            </p:extLst>
          </p:nvPr>
        </p:nvGraphicFramePr>
        <p:xfrm>
          <a:off x="2921735" y="1791492"/>
          <a:ext cx="1704670" cy="4058920"/>
        </p:xfrm>
        <a:graphic>
          <a:graphicData uri="http://schemas.openxmlformats.org/drawingml/2006/table">
            <a:tbl>
              <a:tblPr firstRow="1" bandRow="1">
                <a:tableStyleId>{5C22544A-7EE6-4342-B048-85BDC9FD1C3A}</a:tableStyleId>
              </a:tblPr>
              <a:tblGrid>
                <a:gridCol w="852335">
                  <a:extLst>
                    <a:ext uri="{9D8B030D-6E8A-4147-A177-3AD203B41FA5}">
                      <a16:colId xmlns:a16="http://schemas.microsoft.com/office/drawing/2014/main" val="3633928271"/>
                    </a:ext>
                  </a:extLst>
                </a:gridCol>
                <a:gridCol w="852335">
                  <a:extLst>
                    <a:ext uri="{9D8B030D-6E8A-4147-A177-3AD203B41FA5}">
                      <a16:colId xmlns:a16="http://schemas.microsoft.com/office/drawing/2014/main" val="448717354"/>
                    </a:ext>
                  </a:extLst>
                </a:gridCol>
              </a:tblGrid>
              <a:tr h="370840">
                <a:tc>
                  <a:txBody>
                    <a:bodyPr/>
                    <a:lstStyle/>
                    <a:p>
                      <a:pPr algn="ctr"/>
                      <a:r>
                        <a:rPr lang="en-US" dirty="0">
                          <a:solidFill>
                            <a:schemeClr val="accent4">
                              <a:lumMod val="60000"/>
                              <a:lumOff val="40000"/>
                            </a:schemeClr>
                          </a:solidFill>
                        </a:rPr>
                        <a:t>ID 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ID 2</a:t>
                      </a:r>
                      <a:endParaRPr lang="fr-FR" dirty="0">
                        <a:solidFill>
                          <a:schemeClr val="accent4">
                            <a:lumMod val="60000"/>
                            <a:lumOff val="40000"/>
                          </a:schemeClr>
                        </a:solidFill>
                      </a:endParaRPr>
                    </a:p>
                  </a:txBody>
                  <a:tcPr>
                    <a:solidFill>
                      <a:schemeClr val="tx1"/>
                    </a:solidFill>
                  </a:tcPr>
                </a:tc>
                <a:extLst>
                  <a:ext uri="{0D108BD9-81ED-4DB2-BD59-A6C34878D82A}">
                    <a16:rowId xmlns:a16="http://schemas.microsoft.com/office/drawing/2014/main" val="3390748688"/>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extLst>
                  <a:ext uri="{0D108BD9-81ED-4DB2-BD59-A6C34878D82A}">
                    <a16:rowId xmlns:a16="http://schemas.microsoft.com/office/drawing/2014/main" val="551088812"/>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extLst>
                  <a:ext uri="{0D108BD9-81ED-4DB2-BD59-A6C34878D82A}">
                    <a16:rowId xmlns:a16="http://schemas.microsoft.com/office/drawing/2014/main" val="2745773553"/>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6</a:t>
                      </a:r>
                      <a:endParaRPr lang="fr-FR" dirty="0"/>
                    </a:p>
                  </a:txBody>
                  <a:tcPr>
                    <a:solidFill>
                      <a:schemeClr val="bg1">
                        <a:lumMod val="95000"/>
                      </a:schemeClr>
                    </a:solidFill>
                  </a:tcPr>
                </a:tc>
                <a:extLst>
                  <a:ext uri="{0D108BD9-81ED-4DB2-BD59-A6C34878D82A}">
                    <a16:rowId xmlns:a16="http://schemas.microsoft.com/office/drawing/2014/main" val="3019948275"/>
                  </a:ext>
                </a:extLst>
              </a:tr>
              <a:tr h="370840">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extLst>
                  <a:ext uri="{0D108BD9-81ED-4DB2-BD59-A6C34878D82A}">
                    <a16:rowId xmlns:a16="http://schemas.microsoft.com/office/drawing/2014/main" val="1806561758"/>
                  </a:ext>
                </a:extLst>
              </a:tr>
              <a:tr h="370840">
                <a:tc>
                  <a:txBody>
                    <a:bodyPr/>
                    <a:lstStyle/>
                    <a:p>
                      <a:pPr algn="ctr"/>
                      <a:r>
                        <a:rPr lang="en-US" dirty="0"/>
                        <a:t>3</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extLst>
                  <a:ext uri="{0D108BD9-81ED-4DB2-BD59-A6C34878D82A}">
                    <a16:rowId xmlns:a16="http://schemas.microsoft.com/office/drawing/2014/main" val="2008170764"/>
                  </a:ext>
                </a:extLst>
              </a:tr>
              <a:tr h="370840">
                <a:tc>
                  <a:txBody>
                    <a:bodyPr/>
                    <a:lstStyle/>
                    <a:p>
                      <a:pPr algn="ctr"/>
                      <a:r>
                        <a:rPr lang="en-US" dirty="0"/>
                        <a:t>3</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extLst>
                  <a:ext uri="{0D108BD9-81ED-4DB2-BD59-A6C34878D82A}">
                    <a16:rowId xmlns:a16="http://schemas.microsoft.com/office/drawing/2014/main" val="2456207752"/>
                  </a:ext>
                </a:extLst>
              </a:tr>
              <a:tr h="0">
                <a:tc>
                  <a:txBody>
                    <a:bodyPr/>
                    <a:lstStyle/>
                    <a:p>
                      <a:pPr algn="ctr"/>
                      <a:r>
                        <a:rPr lang="en-US" dirty="0"/>
                        <a:t>5</a:t>
                      </a:r>
                      <a:endParaRPr lang="fr-FR" dirty="0"/>
                    </a:p>
                  </a:txBody>
                  <a:tcPr>
                    <a:solidFill>
                      <a:schemeClr val="bg1">
                        <a:lumMod val="95000"/>
                      </a:schemeClr>
                    </a:solidFill>
                  </a:tcPr>
                </a:tc>
                <a:tc>
                  <a:txBody>
                    <a:bodyPr/>
                    <a:lstStyle/>
                    <a:p>
                      <a:pPr algn="ctr"/>
                      <a:r>
                        <a:rPr lang="en-US" dirty="0"/>
                        <a:t>6</a:t>
                      </a:r>
                      <a:endParaRPr lang="fr-FR" dirty="0"/>
                    </a:p>
                  </a:txBody>
                  <a:tcPr>
                    <a:solidFill>
                      <a:schemeClr val="bg1">
                        <a:lumMod val="95000"/>
                      </a:schemeClr>
                    </a:solidFill>
                  </a:tcPr>
                </a:tc>
                <a:extLst>
                  <a:ext uri="{0D108BD9-81ED-4DB2-BD59-A6C34878D82A}">
                    <a16:rowId xmlns:a16="http://schemas.microsoft.com/office/drawing/2014/main" val="440282349"/>
                  </a:ext>
                </a:extLst>
              </a:tr>
              <a:tr h="273050">
                <a:tc>
                  <a:txBody>
                    <a:bodyPr/>
                    <a:lstStyle/>
                    <a:p>
                      <a:pPr algn="ctr"/>
                      <a:r>
                        <a:rPr lang="en-US" dirty="0"/>
                        <a:t>5</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extLst>
                  <a:ext uri="{0D108BD9-81ED-4DB2-BD59-A6C34878D82A}">
                    <a16:rowId xmlns:a16="http://schemas.microsoft.com/office/drawing/2014/main" val="1697648120"/>
                  </a:ext>
                </a:extLst>
              </a:tr>
              <a:tr h="180340">
                <a:tc>
                  <a:txBody>
                    <a:bodyPr/>
                    <a:lstStyle/>
                    <a:p>
                      <a:pPr algn="ctr"/>
                      <a:r>
                        <a:rPr lang="en-US" dirty="0"/>
                        <a:t>6</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extLst>
                  <a:ext uri="{0D108BD9-81ED-4DB2-BD59-A6C34878D82A}">
                    <a16:rowId xmlns:a16="http://schemas.microsoft.com/office/drawing/2014/main" val="1414656967"/>
                  </a:ext>
                </a:extLst>
              </a:tr>
              <a:tr h="0">
                <a:tc>
                  <a:txBody>
                    <a:bodyPr/>
                    <a:lstStyle/>
                    <a:p>
                      <a:pPr algn="ctr"/>
                      <a:r>
                        <a:rPr lang="en-US" dirty="0"/>
                        <a:t>7</a:t>
                      </a:r>
                      <a:endParaRPr lang="fr-FR" dirty="0"/>
                    </a:p>
                  </a:txBody>
                  <a:tcPr>
                    <a:solidFill>
                      <a:schemeClr val="bg1">
                        <a:lumMod val="95000"/>
                      </a:schemeClr>
                    </a:solidFill>
                  </a:tcPr>
                </a:tc>
                <a:tc>
                  <a:txBody>
                    <a:bodyPr/>
                    <a:lstStyle/>
                    <a:p>
                      <a:pPr algn="ctr"/>
                      <a:r>
                        <a:rPr lang="en-US" dirty="0"/>
                        <a:t>8</a:t>
                      </a:r>
                      <a:endParaRPr lang="fr-FR" dirty="0"/>
                    </a:p>
                  </a:txBody>
                  <a:tcPr>
                    <a:solidFill>
                      <a:schemeClr val="bg1">
                        <a:lumMod val="95000"/>
                      </a:schemeClr>
                    </a:solidFill>
                  </a:tcPr>
                </a:tc>
                <a:extLst>
                  <a:ext uri="{0D108BD9-81ED-4DB2-BD59-A6C34878D82A}">
                    <a16:rowId xmlns:a16="http://schemas.microsoft.com/office/drawing/2014/main" val="3617806729"/>
                  </a:ext>
                </a:extLst>
              </a:tr>
            </a:tbl>
          </a:graphicData>
        </a:graphic>
      </p:graphicFrame>
      <p:sp>
        <p:nvSpPr>
          <p:cNvPr id="42" name="Rectangle 41">
            <a:extLst>
              <a:ext uri="{FF2B5EF4-FFF2-40B4-BE49-F238E27FC236}">
                <a16:creationId xmlns:a16="http://schemas.microsoft.com/office/drawing/2014/main" id="{4828BB0A-CA8B-4139-9968-FB0BE050F4C8}"/>
              </a:ext>
            </a:extLst>
          </p:cNvPr>
          <p:cNvSpPr/>
          <p:nvPr/>
        </p:nvSpPr>
        <p:spPr>
          <a:xfrm>
            <a:off x="2921736" y="2157587"/>
            <a:ext cx="1704670" cy="1102849"/>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65196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E03F83DF-0EF5-4E3E-BB64-2B49E99EE595}"/>
              </a:ext>
            </a:extLst>
          </p:cNvPr>
          <p:cNvCxnSpPr>
            <a:cxnSpLocks/>
          </p:cNvCxnSpPr>
          <p:nvPr/>
        </p:nvCxnSpPr>
        <p:spPr>
          <a:xfrm flipV="1">
            <a:off x="9448800" y="2381719"/>
            <a:ext cx="437733" cy="76486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19DBD7E-000B-4B5B-84C9-01AA91971928}"/>
              </a:ext>
            </a:extLst>
          </p:cNvPr>
          <p:cNvCxnSpPr>
            <a:cxnSpLocks/>
          </p:cNvCxnSpPr>
          <p:nvPr/>
        </p:nvCxnSpPr>
        <p:spPr>
          <a:xfrm>
            <a:off x="9886533" y="2366704"/>
            <a:ext cx="664482" cy="16371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A8B86F-F3A8-44BE-BD41-053F72546059}"/>
              </a:ext>
            </a:extLst>
          </p:cNvPr>
          <p:cNvCxnSpPr>
            <a:cxnSpLocks/>
          </p:cNvCxnSpPr>
          <p:nvPr/>
        </p:nvCxnSpPr>
        <p:spPr>
          <a:xfrm flipH="1" flipV="1">
            <a:off x="9886533" y="2366705"/>
            <a:ext cx="747976" cy="1029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37771CC-B721-439A-AA40-80AA6384A34F}"/>
              </a:ext>
            </a:extLst>
          </p:cNvPr>
          <p:cNvSpPr txBox="1"/>
          <p:nvPr/>
        </p:nvSpPr>
        <p:spPr>
          <a:xfrm>
            <a:off x="0" y="0"/>
            <a:ext cx="12192000" cy="553998"/>
          </a:xfrm>
          <a:prstGeom prst="rect">
            <a:avLst/>
          </a:prstGeom>
          <a:solidFill>
            <a:schemeClr val="tx1">
              <a:lumMod val="75000"/>
              <a:lumOff val="25000"/>
            </a:schemeClr>
          </a:solidFill>
        </p:spPr>
        <p:txBody>
          <a:bodyPr wrap="square" rtlCol="0">
            <a:spAutoFit/>
          </a:bodyPr>
          <a:lstStyle/>
          <a:p>
            <a:r>
              <a:rPr lang="en-US" sz="3000" b="1" dirty="0">
                <a:solidFill>
                  <a:schemeClr val="accent4">
                    <a:lumMod val="60000"/>
                    <a:lumOff val="40000"/>
                  </a:schemeClr>
                </a:solidFill>
              </a:rPr>
              <a:t>CEFE SOCIAL NETWORKS COURSE</a:t>
            </a:r>
            <a:endParaRPr lang="fr-FR" sz="3000" b="1" dirty="0">
              <a:solidFill>
                <a:schemeClr val="accent4">
                  <a:lumMod val="60000"/>
                  <a:lumOff val="40000"/>
                </a:schemeClr>
              </a:solidFill>
            </a:endParaRPr>
          </a:p>
        </p:txBody>
      </p:sp>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B6856AB0-6C04-4516-A2AE-E8154A0B9C78}"/>
              </a:ext>
            </a:extLst>
          </p:cNvPr>
          <p:cNvSpPr txBox="1"/>
          <p:nvPr/>
        </p:nvSpPr>
        <p:spPr>
          <a:xfrm>
            <a:off x="182880" y="870857"/>
            <a:ext cx="11686903" cy="461665"/>
          </a:xfrm>
          <a:prstGeom prst="rect">
            <a:avLst/>
          </a:prstGeom>
          <a:noFill/>
        </p:spPr>
        <p:txBody>
          <a:bodyPr wrap="square" rtlCol="0">
            <a:spAutoFit/>
          </a:bodyPr>
          <a:lstStyle/>
          <a:p>
            <a:pPr marL="457200" indent="-457200">
              <a:buFont typeface="+mj-lt"/>
              <a:buAutoNum type="arabicPeriod" startAt="2"/>
            </a:pPr>
            <a:r>
              <a:rPr lang="en-US" sz="2400" b="1" dirty="0"/>
              <a:t>What do network datasets look like?</a:t>
            </a:r>
            <a:endParaRPr lang="en-US" sz="2400" b="1" i="1" dirty="0"/>
          </a:p>
        </p:txBody>
      </p:sp>
      <p:cxnSp>
        <p:nvCxnSpPr>
          <p:cNvPr id="9" name="Straight Connector 8">
            <a:extLst>
              <a:ext uri="{FF2B5EF4-FFF2-40B4-BE49-F238E27FC236}">
                <a16:creationId xmlns:a16="http://schemas.microsoft.com/office/drawing/2014/main" id="{BE77C5B3-FC42-4B9F-A93E-A3E197BF8845}"/>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9B747561-CD53-471F-8727-62D464E453AB}"/>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16C30D7C-711E-4690-9E80-85DFF190F8A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E246FA38-AE4C-4963-827D-BC8D5F8D31BE}"/>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C4FAE70E-3C9D-4E4D-8DC1-7F89D2FA8008}"/>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5896D7B1-5A6E-4B56-9A55-4A51D30B8F7D}"/>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C47B5451-2C0B-4D6A-A94C-300DDE1DC880}"/>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D66427E4-CABD-4573-BAC9-150C1A34699D}"/>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FEABE413-DBC1-4F07-9E8E-EBA485A3D6C7}"/>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B295004E-0AF6-4349-96B5-DAF9D08210E3}"/>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B1464EF-C1E6-47A0-8CB5-CDE10BB0325C}"/>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2B864A9-774D-4E1C-9AEE-6B5F477EC725}"/>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BC7D62D-24B5-4100-A76A-022523232915}"/>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1D8DD48-A5FF-473D-9CF1-B01BF20C4E6C}"/>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1B77CB8-394C-43E9-AB5F-F2F2719CC4B6}"/>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4A2D8DD-0F49-48AE-B18F-E8FF2327A161}"/>
              </a:ext>
            </a:extLst>
          </p:cNvPr>
          <p:cNvSpPr txBox="1"/>
          <p:nvPr/>
        </p:nvSpPr>
        <p:spPr>
          <a:xfrm>
            <a:off x="9683332" y="2189933"/>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p:txBody>
      </p:sp>
      <p:sp>
        <p:nvSpPr>
          <p:cNvPr id="30" name="TextBox 29">
            <a:extLst>
              <a:ext uri="{FF2B5EF4-FFF2-40B4-BE49-F238E27FC236}">
                <a16:creationId xmlns:a16="http://schemas.microsoft.com/office/drawing/2014/main" id="{7A2CAFA8-64A8-44FC-9276-5A9CC006C254}"/>
              </a:ext>
            </a:extLst>
          </p:cNvPr>
          <p:cNvSpPr txBox="1"/>
          <p:nvPr/>
        </p:nvSpPr>
        <p:spPr>
          <a:xfrm>
            <a:off x="10426063" y="218529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p:txBody>
      </p:sp>
      <p:sp>
        <p:nvSpPr>
          <p:cNvPr id="31" name="TextBox 30">
            <a:extLst>
              <a:ext uri="{FF2B5EF4-FFF2-40B4-BE49-F238E27FC236}">
                <a16:creationId xmlns:a16="http://schemas.microsoft.com/office/drawing/2014/main" id="{CF1E7E11-1BA7-40A9-BE7F-D5BB076AFDC2}"/>
              </a:ext>
            </a:extLst>
          </p:cNvPr>
          <p:cNvSpPr txBox="1"/>
          <p:nvPr/>
        </p:nvSpPr>
        <p:spPr>
          <a:xfrm>
            <a:off x="9236782" y="2966332"/>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p:txBody>
      </p:sp>
      <p:sp>
        <p:nvSpPr>
          <p:cNvPr id="32" name="TextBox 31">
            <a:extLst>
              <a:ext uri="{FF2B5EF4-FFF2-40B4-BE49-F238E27FC236}">
                <a16:creationId xmlns:a16="http://schemas.microsoft.com/office/drawing/2014/main" id="{72360B70-CFB3-4E01-802F-5337F0132C2E}"/>
              </a:ext>
            </a:extLst>
          </p:cNvPr>
          <p:cNvSpPr txBox="1"/>
          <p:nvPr/>
        </p:nvSpPr>
        <p:spPr>
          <a:xfrm>
            <a:off x="10681854" y="2973587"/>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p:txBody>
      </p:sp>
      <p:sp>
        <p:nvSpPr>
          <p:cNvPr id="33" name="TextBox 32">
            <a:extLst>
              <a:ext uri="{FF2B5EF4-FFF2-40B4-BE49-F238E27FC236}">
                <a16:creationId xmlns:a16="http://schemas.microsoft.com/office/drawing/2014/main" id="{34015175-14A7-4D7D-AD07-C7BA94F9FC94}"/>
              </a:ext>
            </a:extLst>
          </p:cNvPr>
          <p:cNvSpPr txBox="1"/>
          <p:nvPr/>
        </p:nvSpPr>
        <p:spPr>
          <a:xfrm>
            <a:off x="9727148" y="3578948"/>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p:txBody>
      </p:sp>
      <p:sp>
        <p:nvSpPr>
          <p:cNvPr id="34" name="TextBox 33">
            <a:extLst>
              <a:ext uri="{FF2B5EF4-FFF2-40B4-BE49-F238E27FC236}">
                <a16:creationId xmlns:a16="http://schemas.microsoft.com/office/drawing/2014/main" id="{0690B235-4B9B-496A-A8CF-4B3FF77DB6C6}"/>
              </a:ext>
            </a:extLst>
          </p:cNvPr>
          <p:cNvSpPr txBox="1"/>
          <p:nvPr/>
        </p:nvSpPr>
        <p:spPr>
          <a:xfrm>
            <a:off x="10339527" y="382416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p:txBody>
      </p:sp>
      <p:sp>
        <p:nvSpPr>
          <p:cNvPr id="35" name="TextBox 34">
            <a:extLst>
              <a:ext uri="{FF2B5EF4-FFF2-40B4-BE49-F238E27FC236}">
                <a16:creationId xmlns:a16="http://schemas.microsoft.com/office/drawing/2014/main" id="{CB84DD6A-AE78-495D-B5D8-40D4C59DD5CB}"/>
              </a:ext>
            </a:extLst>
          </p:cNvPr>
          <p:cNvSpPr txBox="1"/>
          <p:nvPr/>
        </p:nvSpPr>
        <p:spPr>
          <a:xfrm>
            <a:off x="9753065" y="4179819"/>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p:txBody>
      </p:sp>
      <p:sp>
        <p:nvSpPr>
          <p:cNvPr id="36" name="TextBox 35">
            <a:extLst>
              <a:ext uri="{FF2B5EF4-FFF2-40B4-BE49-F238E27FC236}">
                <a16:creationId xmlns:a16="http://schemas.microsoft.com/office/drawing/2014/main" id="{768CCC50-1ECD-4C5B-BFE8-CCE52E048855}"/>
              </a:ext>
            </a:extLst>
          </p:cNvPr>
          <p:cNvSpPr txBox="1"/>
          <p:nvPr/>
        </p:nvSpPr>
        <p:spPr>
          <a:xfrm>
            <a:off x="10168167" y="4940996"/>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p:txBody>
      </p:sp>
      <p:sp>
        <p:nvSpPr>
          <p:cNvPr id="37" name="TextBox 36">
            <a:extLst>
              <a:ext uri="{FF2B5EF4-FFF2-40B4-BE49-F238E27FC236}">
                <a16:creationId xmlns:a16="http://schemas.microsoft.com/office/drawing/2014/main" id="{C26563E6-45BA-4EB8-84DF-561B725A1BBA}"/>
              </a:ext>
            </a:extLst>
          </p:cNvPr>
          <p:cNvSpPr txBox="1"/>
          <p:nvPr/>
        </p:nvSpPr>
        <p:spPr>
          <a:xfrm>
            <a:off x="572283" y="1577124"/>
            <a:ext cx="7146460" cy="461665"/>
          </a:xfrm>
          <a:prstGeom prst="rect">
            <a:avLst/>
          </a:prstGeom>
          <a:noFill/>
        </p:spPr>
        <p:txBody>
          <a:bodyPr wrap="square" rtlCol="0">
            <a:spAutoFit/>
          </a:bodyPr>
          <a:lstStyle/>
          <a:p>
            <a:r>
              <a:rPr lang="en-US" sz="2400" dirty="0"/>
              <a:t>b) An </a:t>
            </a:r>
            <a:r>
              <a:rPr lang="en-US" sz="2400" b="1" i="1" dirty="0">
                <a:solidFill>
                  <a:srgbClr val="FFC000"/>
                </a:solidFill>
              </a:rPr>
              <a:t>EDGE LIST</a:t>
            </a:r>
          </a:p>
        </p:txBody>
      </p:sp>
      <p:sp>
        <p:nvSpPr>
          <p:cNvPr id="39" name="Arrow: Up-Down 38">
            <a:extLst>
              <a:ext uri="{FF2B5EF4-FFF2-40B4-BE49-F238E27FC236}">
                <a16:creationId xmlns:a16="http://schemas.microsoft.com/office/drawing/2014/main" id="{05B43E3D-E5D1-4458-B939-817E39269F4D}"/>
              </a:ext>
            </a:extLst>
          </p:cNvPr>
          <p:cNvSpPr/>
          <p:nvPr/>
        </p:nvSpPr>
        <p:spPr>
          <a:xfrm rot="16200000">
            <a:off x="6671457" y="2285118"/>
            <a:ext cx="917011" cy="2987858"/>
          </a:xfrm>
          <a:prstGeom prst="upDownArrow">
            <a:avLst>
              <a:gd name="adj1" fmla="val 37614"/>
              <a:gd name="adj2" fmla="val 55192"/>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 4">
            <a:extLst>
              <a:ext uri="{FF2B5EF4-FFF2-40B4-BE49-F238E27FC236}">
                <a16:creationId xmlns:a16="http://schemas.microsoft.com/office/drawing/2014/main" id="{49AAEE81-AE83-45CA-8B3B-0354A7AC5B1C}"/>
              </a:ext>
            </a:extLst>
          </p:cNvPr>
          <p:cNvGraphicFramePr>
            <a:graphicFrameLocks noGrp="1"/>
          </p:cNvGraphicFramePr>
          <p:nvPr>
            <p:extLst>
              <p:ext uri="{D42A27DB-BD31-4B8C-83A1-F6EECF244321}">
                <p14:modId xmlns:p14="http://schemas.microsoft.com/office/powerpoint/2010/main" val="4224952177"/>
              </p:ext>
            </p:extLst>
          </p:nvPr>
        </p:nvGraphicFramePr>
        <p:xfrm>
          <a:off x="2921735" y="1791492"/>
          <a:ext cx="2551176" cy="4058920"/>
        </p:xfrm>
        <a:graphic>
          <a:graphicData uri="http://schemas.openxmlformats.org/drawingml/2006/table">
            <a:tbl>
              <a:tblPr firstRow="1" bandRow="1">
                <a:tableStyleId>{5C22544A-7EE6-4342-B048-85BDC9FD1C3A}</a:tableStyleId>
              </a:tblPr>
              <a:tblGrid>
                <a:gridCol w="850392">
                  <a:extLst>
                    <a:ext uri="{9D8B030D-6E8A-4147-A177-3AD203B41FA5}">
                      <a16:colId xmlns:a16="http://schemas.microsoft.com/office/drawing/2014/main" val="3633928271"/>
                    </a:ext>
                  </a:extLst>
                </a:gridCol>
                <a:gridCol w="850392">
                  <a:extLst>
                    <a:ext uri="{9D8B030D-6E8A-4147-A177-3AD203B41FA5}">
                      <a16:colId xmlns:a16="http://schemas.microsoft.com/office/drawing/2014/main" val="448717354"/>
                    </a:ext>
                  </a:extLst>
                </a:gridCol>
                <a:gridCol w="850392">
                  <a:extLst>
                    <a:ext uri="{9D8B030D-6E8A-4147-A177-3AD203B41FA5}">
                      <a16:colId xmlns:a16="http://schemas.microsoft.com/office/drawing/2014/main" val="4130169604"/>
                    </a:ext>
                  </a:extLst>
                </a:gridCol>
              </a:tblGrid>
              <a:tr h="370840">
                <a:tc>
                  <a:txBody>
                    <a:bodyPr/>
                    <a:lstStyle/>
                    <a:p>
                      <a:pPr algn="ctr"/>
                      <a:r>
                        <a:rPr lang="en-US" dirty="0">
                          <a:solidFill>
                            <a:schemeClr val="accent4">
                              <a:lumMod val="60000"/>
                              <a:lumOff val="40000"/>
                            </a:schemeClr>
                          </a:solidFill>
                        </a:rPr>
                        <a:t>ID 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ID 2</a:t>
                      </a:r>
                      <a:endParaRPr lang="fr-FR" dirty="0">
                        <a:solidFill>
                          <a:schemeClr val="accent4">
                            <a:lumMod val="60000"/>
                            <a:lumOff val="40000"/>
                          </a:schemeClr>
                        </a:solidFill>
                      </a:endParaRPr>
                    </a:p>
                  </a:txBody>
                  <a:tcPr>
                    <a:solidFill>
                      <a:schemeClr val="tx1"/>
                    </a:solidFill>
                  </a:tcPr>
                </a:tc>
                <a:tc>
                  <a:txBody>
                    <a:bodyPr/>
                    <a:lstStyle/>
                    <a:p>
                      <a:pPr algn="ctr"/>
                      <a:r>
                        <a:rPr lang="en-US" sz="1200" dirty="0">
                          <a:solidFill>
                            <a:schemeClr val="accent4">
                              <a:lumMod val="60000"/>
                              <a:lumOff val="40000"/>
                            </a:schemeClr>
                          </a:solidFill>
                        </a:rPr>
                        <a:t>Attribute</a:t>
                      </a:r>
                      <a:endParaRPr lang="fr-FR" sz="1200" dirty="0">
                        <a:solidFill>
                          <a:schemeClr val="accent4">
                            <a:lumMod val="60000"/>
                            <a:lumOff val="40000"/>
                          </a:schemeClr>
                        </a:solidFill>
                      </a:endParaRPr>
                    </a:p>
                  </a:txBody>
                  <a:tcPr anchor="ctr">
                    <a:solidFill>
                      <a:schemeClr val="tx1"/>
                    </a:solidFill>
                  </a:tcPr>
                </a:tc>
                <a:extLst>
                  <a:ext uri="{0D108BD9-81ED-4DB2-BD59-A6C34878D82A}">
                    <a16:rowId xmlns:a16="http://schemas.microsoft.com/office/drawing/2014/main" val="3390748688"/>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551088812"/>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2745773553"/>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6</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3019948275"/>
                  </a:ext>
                </a:extLst>
              </a:tr>
              <a:tr h="370840">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1806561758"/>
                  </a:ext>
                </a:extLst>
              </a:tr>
              <a:tr h="370840">
                <a:tc>
                  <a:txBody>
                    <a:bodyPr/>
                    <a:lstStyle/>
                    <a:p>
                      <a:pPr algn="ctr"/>
                      <a:r>
                        <a:rPr lang="en-US" dirty="0"/>
                        <a:t>3</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2008170764"/>
                  </a:ext>
                </a:extLst>
              </a:tr>
              <a:tr h="370840">
                <a:tc>
                  <a:txBody>
                    <a:bodyPr/>
                    <a:lstStyle/>
                    <a:p>
                      <a:pPr algn="ctr"/>
                      <a:r>
                        <a:rPr lang="en-US" dirty="0"/>
                        <a:t>3</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2456207752"/>
                  </a:ext>
                </a:extLst>
              </a:tr>
              <a:tr h="0">
                <a:tc>
                  <a:txBody>
                    <a:bodyPr/>
                    <a:lstStyle/>
                    <a:p>
                      <a:pPr algn="ctr"/>
                      <a:r>
                        <a:rPr lang="en-US" dirty="0"/>
                        <a:t>5</a:t>
                      </a:r>
                      <a:endParaRPr lang="fr-FR" dirty="0"/>
                    </a:p>
                  </a:txBody>
                  <a:tcPr>
                    <a:solidFill>
                      <a:schemeClr val="bg1">
                        <a:lumMod val="95000"/>
                      </a:schemeClr>
                    </a:solidFill>
                  </a:tcPr>
                </a:tc>
                <a:tc>
                  <a:txBody>
                    <a:bodyPr/>
                    <a:lstStyle/>
                    <a:p>
                      <a:pPr algn="ctr"/>
                      <a:r>
                        <a:rPr lang="en-US" dirty="0"/>
                        <a:t>6</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440282349"/>
                  </a:ext>
                </a:extLst>
              </a:tr>
              <a:tr h="273050">
                <a:tc>
                  <a:txBody>
                    <a:bodyPr/>
                    <a:lstStyle/>
                    <a:p>
                      <a:pPr algn="ctr"/>
                      <a:r>
                        <a:rPr lang="en-US" dirty="0"/>
                        <a:t>5</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1697648120"/>
                  </a:ext>
                </a:extLst>
              </a:tr>
              <a:tr h="180340">
                <a:tc>
                  <a:txBody>
                    <a:bodyPr/>
                    <a:lstStyle/>
                    <a:p>
                      <a:pPr algn="ctr"/>
                      <a:r>
                        <a:rPr lang="en-US" dirty="0"/>
                        <a:t>6</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1414656967"/>
                  </a:ext>
                </a:extLst>
              </a:tr>
              <a:tr h="0">
                <a:tc>
                  <a:txBody>
                    <a:bodyPr/>
                    <a:lstStyle/>
                    <a:p>
                      <a:pPr algn="ctr"/>
                      <a:r>
                        <a:rPr lang="en-US" dirty="0"/>
                        <a:t>7</a:t>
                      </a:r>
                      <a:endParaRPr lang="fr-FR" dirty="0"/>
                    </a:p>
                  </a:txBody>
                  <a:tcPr>
                    <a:solidFill>
                      <a:schemeClr val="bg1">
                        <a:lumMod val="95000"/>
                      </a:schemeClr>
                    </a:solidFill>
                  </a:tcPr>
                </a:tc>
                <a:tc>
                  <a:txBody>
                    <a:bodyPr/>
                    <a:lstStyle/>
                    <a:p>
                      <a:pPr algn="ctr"/>
                      <a:r>
                        <a:rPr lang="en-US" dirty="0"/>
                        <a:t>8</a:t>
                      </a:r>
                      <a:endParaRPr lang="fr-FR" dirty="0"/>
                    </a:p>
                  </a:txBody>
                  <a:tcPr>
                    <a:solidFill>
                      <a:schemeClr val="bg1">
                        <a:lumMod val="95000"/>
                      </a:schemeClr>
                    </a:solidFill>
                  </a:tcPr>
                </a:tc>
                <a:tc>
                  <a:txBody>
                    <a:bodyPr/>
                    <a:lstStyle/>
                    <a:p>
                      <a:pPr algn="ctr"/>
                      <a:endParaRPr lang="fr-FR" dirty="0"/>
                    </a:p>
                  </a:txBody>
                  <a:tcPr>
                    <a:solidFill>
                      <a:schemeClr val="bg1">
                        <a:lumMod val="95000"/>
                      </a:schemeClr>
                    </a:solidFill>
                  </a:tcPr>
                </a:tc>
                <a:extLst>
                  <a:ext uri="{0D108BD9-81ED-4DB2-BD59-A6C34878D82A}">
                    <a16:rowId xmlns:a16="http://schemas.microsoft.com/office/drawing/2014/main" val="3617806729"/>
                  </a:ext>
                </a:extLst>
              </a:tr>
            </a:tbl>
          </a:graphicData>
        </a:graphic>
      </p:graphicFrame>
      <p:sp>
        <p:nvSpPr>
          <p:cNvPr id="42" name="Rectangle 41">
            <a:extLst>
              <a:ext uri="{FF2B5EF4-FFF2-40B4-BE49-F238E27FC236}">
                <a16:creationId xmlns:a16="http://schemas.microsoft.com/office/drawing/2014/main" id="{4828BB0A-CA8B-4139-9968-FB0BE050F4C8}"/>
              </a:ext>
            </a:extLst>
          </p:cNvPr>
          <p:cNvSpPr/>
          <p:nvPr/>
        </p:nvSpPr>
        <p:spPr>
          <a:xfrm>
            <a:off x="2921735" y="2157587"/>
            <a:ext cx="2529577" cy="1102849"/>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99324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E03F83DF-0EF5-4E3E-BB64-2B49E99EE595}"/>
              </a:ext>
            </a:extLst>
          </p:cNvPr>
          <p:cNvCxnSpPr>
            <a:cxnSpLocks/>
          </p:cNvCxnSpPr>
          <p:nvPr/>
        </p:nvCxnSpPr>
        <p:spPr>
          <a:xfrm flipV="1">
            <a:off x="9448800" y="2381719"/>
            <a:ext cx="437733" cy="76486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19DBD7E-000B-4B5B-84C9-01AA91971928}"/>
              </a:ext>
            </a:extLst>
          </p:cNvPr>
          <p:cNvCxnSpPr>
            <a:cxnSpLocks/>
          </p:cNvCxnSpPr>
          <p:nvPr/>
        </p:nvCxnSpPr>
        <p:spPr>
          <a:xfrm>
            <a:off x="9886533" y="2366704"/>
            <a:ext cx="664482" cy="16371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A8B86F-F3A8-44BE-BD41-053F72546059}"/>
              </a:ext>
            </a:extLst>
          </p:cNvPr>
          <p:cNvCxnSpPr>
            <a:cxnSpLocks/>
          </p:cNvCxnSpPr>
          <p:nvPr/>
        </p:nvCxnSpPr>
        <p:spPr>
          <a:xfrm flipH="1" flipV="1">
            <a:off x="9886533" y="2366705"/>
            <a:ext cx="747976" cy="1029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37771CC-B721-439A-AA40-80AA6384A34F}"/>
              </a:ext>
            </a:extLst>
          </p:cNvPr>
          <p:cNvSpPr txBox="1"/>
          <p:nvPr/>
        </p:nvSpPr>
        <p:spPr>
          <a:xfrm>
            <a:off x="0" y="0"/>
            <a:ext cx="12192000" cy="553998"/>
          </a:xfrm>
          <a:prstGeom prst="rect">
            <a:avLst/>
          </a:prstGeom>
          <a:solidFill>
            <a:schemeClr val="tx1">
              <a:lumMod val="75000"/>
              <a:lumOff val="25000"/>
            </a:schemeClr>
          </a:solidFill>
        </p:spPr>
        <p:txBody>
          <a:bodyPr wrap="square" rtlCol="0">
            <a:spAutoFit/>
          </a:bodyPr>
          <a:lstStyle/>
          <a:p>
            <a:r>
              <a:rPr lang="en-US" sz="3000" b="1" dirty="0">
                <a:solidFill>
                  <a:schemeClr val="accent4">
                    <a:lumMod val="60000"/>
                    <a:lumOff val="40000"/>
                  </a:schemeClr>
                </a:solidFill>
              </a:rPr>
              <a:t>CEFE SOCIAL NETWORKS COURSE</a:t>
            </a:r>
            <a:endParaRPr lang="fr-FR" sz="3000" b="1" dirty="0">
              <a:solidFill>
                <a:schemeClr val="accent4">
                  <a:lumMod val="60000"/>
                  <a:lumOff val="40000"/>
                </a:schemeClr>
              </a:solidFill>
            </a:endParaRPr>
          </a:p>
        </p:txBody>
      </p:sp>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B6856AB0-6C04-4516-A2AE-E8154A0B9C78}"/>
              </a:ext>
            </a:extLst>
          </p:cNvPr>
          <p:cNvSpPr txBox="1"/>
          <p:nvPr/>
        </p:nvSpPr>
        <p:spPr>
          <a:xfrm>
            <a:off x="182880" y="870857"/>
            <a:ext cx="11686903" cy="461665"/>
          </a:xfrm>
          <a:prstGeom prst="rect">
            <a:avLst/>
          </a:prstGeom>
          <a:noFill/>
        </p:spPr>
        <p:txBody>
          <a:bodyPr wrap="square" rtlCol="0">
            <a:spAutoFit/>
          </a:bodyPr>
          <a:lstStyle/>
          <a:p>
            <a:pPr marL="457200" indent="-457200">
              <a:buFont typeface="+mj-lt"/>
              <a:buAutoNum type="arabicPeriod" startAt="2"/>
            </a:pPr>
            <a:r>
              <a:rPr lang="en-US" sz="2400" b="1" dirty="0"/>
              <a:t>What do network datasets look like?</a:t>
            </a:r>
            <a:endParaRPr lang="en-US" sz="2400" b="1" i="1" dirty="0"/>
          </a:p>
        </p:txBody>
      </p:sp>
      <p:cxnSp>
        <p:nvCxnSpPr>
          <p:cNvPr id="9" name="Straight Connector 8">
            <a:extLst>
              <a:ext uri="{FF2B5EF4-FFF2-40B4-BE49-F238E27FC236}">
                <a16:creationId xmlns:a16="http://schemas.microsoft.com/office/drawing/2014/main" id="{BE77C5B3-FC42-4B9F-A93E-A3E197BF8845}"/>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9B747561-CD53-471F-8727-62D464E453AB}"/>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16C30D7C-711E-4690-9E80-85DFF190F8A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E246FA38-AE4C-4963-827D-BC8D5F8D31BE}"/>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C4FAE70E-3C9D-4E4D-8DC1-7F89D2FA8008}"/>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5896D7B1-5A6E-4B56-9A55-4A51D30B8F7D}"/>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C47B5451-2C0B-4D6A-A94C-300DDE1DC880}"/>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D66427E4-CABD-4573-BAC9-150C1A34699D}"/>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FEABE413-DBC1-4F07-9E8E-EBA485A3D6C7}"/>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B295004E-0AF6-4349-96B5-DAF9D08210E3}"/>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B1464EF-C1E6-47A0-8CB5-CDE10BB0325C}"/>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2B864A9-774D-4E1C-9AEE-6B5F477EC725}"/>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BC7D62D-24B5-4100-A76A-022523232915}"/>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1D8DD48-A5FF-473D-9CF1-B01BF20C4E6C}"/>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1B77CB8-394C-43E9-AB5F-F2F2719CC4B6}"/>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4A2D8DD-0F49-48AE-B18F-E8FF2327A161}"/>
              </a:ext>
            </a:extLst>
          </p:cNvPr>
          <p:cNvSpPr txBox="1"/>
          <p:nvPr/>
        </p:nvSpPr>
        <p:spPr>
          <a:xfrm>
            <a:off x="9683332" y="2189933"/>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p:txBody>
      </p:sp>
      <p:sp>
        <p:nvSpPr>
          <p:cNvPr id="30" name="TextBox 29">
            <a:extLst>
              <a:ext uri="{FF2B5EF4-FFF2-40B4-BE49-F238E27FC236}">
                <a16:creationId xmlns:a16="http://schemas.microsoft.com/office/drawing/2014/main" id="{7A2CAFA8-64A8-44FC-9276-5A9CC006C254}"/>
              </a:ext>
            </a:extLst>
          </p:cNvPr>
          <p:cNvSpPr txBox="1"/>
          <p:nvPr/>
        </p:nvSpPr>
        <p:spPr>
          <a:xfrm>
            <a:off x="10426063" y="218529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p:txBody>
      </p:sp>
      <p:sp>
        <p:nvSpPr>
          <p:cNvPr id="31" name="TextBox 30">
            <a:extLst>
              <a:ext uri="{FF2B5EF4-FFF2-40B4-BE49-F238E27FC236}">
                <a16:creationId xmlns:a16="http://schemas.microsoft.com/office/drawing/2014/main" id="{CF1E7E11-1BA7-40A9-BE7F-D5BB076AFDC2}"/>
              </a:ext>
            </a:extLst>
          </p:cNvPr>
          <p:cNvSpPr txBox="1"/>
          <p:nvPr/>
        </p:nvSpPr>
        <p:spPr>
          <a:xfrm>
            <a:off x="9236782" y="2966332"/>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p:txBody>
      </p:sp>
      <p:sp>
        <p:nvSpPr>
          <p:cNvPr id="32" name="TextBox 31">
            <a:extLst>
              <a:ext uri="{FF2B5EF4-FFF2-40B4-BE49-F238E27FC236}">
                <a16:creationId xmlns:a16="http://schemas.microsoft.com/office/drawing/2014/main" id="{72360B70-CFB3-4E01-802F-5337F0132C2E}"/>
              </a:ext>
            </a:extLst>
          </p:cNvPr>
          <p:cNvSpPr txBox="1"/>
          <p:nvPr/>
        </p:nvSpPr>
        <p:spPr>
          <a:xfrm>
            <a:off x="10681854" y="2973587"/>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p:txBody>
      </p:sp>
      <p:sp>
        <p:nvSpPr>
          <p:cNvPr id="33" name="TextBox 32">
            <a:extLst>
              <a:ext uri="{FF2B5EF4-FFF2-40B4-BE49-F238E27FC236}">
                <a16:creationId xmlns:a16="http://schemas.microsoft.com/office/drawing/2014/main" id="{34015175-14A7-4D7D-AD07-C7BA94F9FC94}"/>
              </a:ext>
            </a:extLst>
          </p:cNvPr>
          <p:cNvSpPr txBox="1"/>
          <p:nvPr/>
        </p:nvSpPr>
        <p:spPr>
          <a:xfrm>
            <a:off x="9727148" y="3578948"/>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p:txBody>
      </p:sp>
      <p:sp>
        <p:nvSpPr>
          <p:cNvPr id="34" name="TextBox 33">
            <a:extLst>
              <a:ext uri="{FF2B5EF4-FFF2-40B4-BE49-F238E27FC236}">
                <a16:creationId xmlns:a16="http://schemas.microsoft.com/office/drawing/2014/main" id="{0690B235-4B9B-496A-A8CF-4B3FF77DB6C6}"/>
              </a:ext>
            </a:extLst>
          </p:cNvPr>
          <p:cNvSpPr txBox="1"/>
          <p:nvPr/>
        </p:nvSpPr>
        <p:spPr>
          <a:xfrm>
            <a:off x="10339527" y="382416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p:txBody>
      </p:sp>
      <p:sp>
        <p:nvSpPr>
          <p:cNvPr id="35" name="TextBox 34">
            <a:extLst>
              <a:ext uri="{FF2B5EF4-FFF2-40B4-BE49-F238E27FC236}">
                <a16:creationId xmlns:a16="http://schemas.microsoft.com/office/drawing/2014/main" id="{CB84DD6A-AE78-495D-B5D8-40D4C59DD5CB}"/>
              </a:ext>
            </a:extLst>
          </p:cNvPr>
          <p:cNvSpPr txBox="1"/>
          <p:nvPr/>
        </p:nvSpPr>
        <p:spPr>
          <a:xfrm>
            <a:off x="9753065" y="4179819"/>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p:txBody>
      </p:sp>
      <p:sp>
        <p:nvSpPr>
          <p:cNvPr id="36" name="TextBox 35">
            <a:extLst>
              <a:ext uri="{FF2B5EF4-FFF2-40B4-BE49-F238E27FC236}">
                <a16:creationId xmlns:a16="http://schemas.microsoft.com/office/drawing/2014/main" id="{768CCC50-1ECD-4C5B-BFE8-CCE52E048855}"/>
              </a:ext>
            </a:extLst>
          </p:cNvPr>
          <p:cNvSpPr txBox="1"/>
          <p:nvPr/>
        </p:nvSpPr>
        <p:spPr>
          <a:xfrm>
            <a:off x="10168167" y="4940996"/>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p:txBody>
      </p:sp>
      <p:sp>
        <p:nvSpPr>
          <p:cNvPr id="37" name="TextBox 36">
            <a:extLst>
              <a:ext uri="{FF2B5EF4-FFF2-40B4-BE49-F238E27FC236}">
                <a16:creationId xmlns:a16="http://schemas.microsoft.com/office/drawing/2014/main" id="{C26563E6-45BA-4EB8-84DF-561B725A1BBA}"/>
              </a:ext>
            </a:extLst>
          </p:cNvPr>
          <p:cNvSpPr txBox="1"/>
          <p:nvPr/>
        </p:nvSpPr>
        <p:spPr>
          <a:xfrm>
            <a:off x="572282" y="1577124"/>
            <a:ext cx="8212035" cy="461665"/>
          </a:xfrm>
          <a:prstGeom prst="rect">
            <a:avLst/>
          </a:prstGeom>
          <a:noFill/>
        </p:spPr>
        <p:txBody>
          <a:bodyPr wrap="square" rtlCol="0">
            <a:spAutoFit/>
          </a:bodyPr>
          <a:lstStyle/>
          <a:p>
            <a:r>
              <a:rPr lang="en-US" sz="2400" dirty="0"/>
              <a:t>b) An </a:t>
            </a:r>
            <a:r>
              <a:rPr lang="en-US" sz="2400" b="1" i="1" dirty="0">
                <a:solidFill>
                  <a:srgbClr val="FFC000"/>
                </a:solidFill>
              </a:rPr>
              <a:t>INCIDENCE MATRIX </a:t>
            </a:r>
            <a:r>
              <a:rPr lang="en-US" sz="2400" dirty="0"/>
              <a:t>or</a:t>
            </a:r>
            <a:r>
              <a:rPr lang="en-US" sz="2400" dirty="0">
                <a:solidFill>
                  <a:srgbClr val="FFC000"/>
                </a:solidFill>
              </a:rPr>
              <a:t> </a:t>
            </a:r>
            <a:r>
              <a:rPr lang="en-US" sz="2400" b="1" i="1" dirty="0">
                <a:solidFill>
                  <a:srgbClr val="FFC000"/>
                </a:solidFill>
              </a:rPr>
              <a:t>GROUP-BY-INDIVIDUAL MATRIX</a:t>
            </a:r>
          </a:p>
        </p:txBody>
      </p:sp>
      <p:sp>
        <p:nvSpPr>
          <p:cNvPr id="39" name="Arrow: Up-Down 38">
            <a:extLst>
              <a:ext uri="{FF2B5EF4-FFF2-40B4-BE49-F238E27FC236}">
                <a16:creationId xmlns:a16="http://schemas.microsoft.com/office/drawing/2014/main" id="{05B43E3D-E5D1-4458-B939-817E39269F4D}"/>
              </a:ext>
            </a:extLst>
          </p:cNvPr>
          <p:cNvSpPr/>
          <p:nvPr/>
        </p:nvSpPr>
        <p:spPr>
          <a:xfrm rot="16200000">
            <a:off x="6671457" y="2285118"/>
            <a:ext cx="917011" cy="2987858"/>
          </a:xfrm>
          <a:prstGeom prst="upDownArrow">
            <a:avLst>
              <a:gd name="adj1" fmla="val 37614"/>
              <a:gd name="adj2" fmla="val 55192"/>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5" name="Table 5">
            <a:extLst>
              <a:ext uri="{FF2B5EF4-FFF2-40B4-BE49-F238E27FC236}">
                <a16:creationId xmlns:a16="http://schemas.microsoft.com/office/drawing/2014/main" id="{90FBA8CD-2F6F-4626-8AE2-D973386FAE4E}"/>
              </a:ext>
            </a:extLst>
          </p:cNvPr>
          <p:cNvGraphicFramePr>
            <a:graphicFrameLocks noGrp="1"/>
          </p:cNvGraphicFramePr>
          <p:nvPr>
            <p:extLst>
              <p:ext uri="{D42A27DB-BD31-4B8C-83A1-F6EECF244321}">
                <p14:modId xmlns:p14="http://schemas.microsoft.com/office/powerpoint/2010/main" val="3330872493"/>
              </p:ext>
            </p:extLst>
          </p:nvPr>
        </p:nvGraphicFramePr>
        <p:xfrm>
          <a:off x="1649411" y="2178902"/>
          <a:ext cx="3657600" cy="4297682"/>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1033170270"/>
                    </a:ext>
                  </a:extLst>
                </a:gridCol>
                <a:gridCol w="457200">
                  <a:extLst>
                    <a:ext uri="{9D8B030D-6E8A-4147-A177-3AD203B41FA5}">
                      <a16:colId xmlns:a16="http://schemas.microsoft.com/office/drawing/2014/main" val="2030382524"/>
                    </a:ext>
                  </a:extLst>
                </a:gridCol>
                <a:gridCol w="457200">
                  <a:extLst>
                    <a:ext uri="{9D8B030D-6E8A-4147-A177-3AD203B41FA5}">
                      <a16:colId xmlns:a16="http://schemas.microsoft.com/office/drawing/2014/main" val="443164556"/>
                    </a:ext>
                  </a:extLst>
                </a:gridCol>
                <a:gridCol w="457200">
                  <a:extLst>
                    <a:ext uri="{9D8B030D-6E8A-4147-A177-3AD203B41FA5}">
                      <a16:colId xmlns:a16="http://schemas.microsoft.com/office/drawing/2014/main" val="506361527"/>
                    </a:ext>
                  </a:extLst>
                </a:gridCol>
                <a:gridCol w="457200">
                  <a:extLst>
                    <a:ext uri="{9D8B030D-6E8A-4147-A177-3AD203B41FA5}">
                      <a16:colId xmlns:a16="http://schemas.microsoft.com/office/drawing/2014/main" val="1601617591"/>
                    </a:ext>
                  </a:extLst>
                </a:gridCol>
                <a:gridCol w="457200">
                  <a:extLst>
                    <a:ext uri="{9D8B030D-6E8A-4147-A177-3AD203B41FA5}">
                      <a16:colId xmlns:a16="http://schemas.microsoft.com/office/drawing/2014/main" val="4341108"/>
                    </a:ext>
                  </a:extLst>
                </a:gridCol>
                <a:gridCol w="457200">
                  <a:extLst>
                    <a:ext uri="{9D8B030D-6E8A-4147-A177-3AD203B41FA5}">
                      <a16:colId xmlns:a16="http://schemas.microsoft.com/office/drawing/2014/main" val="3001118956"/>
                    </a:ext>
                  </a:extLst>
                </a:gridCol>
                <a:gridCol w="457200">
                  <a:extLst>
                    <a:ext uri="{9D8B030D-6E8A-4147-A177-3AD203B41FA5}">
                      <a16:colId xmlns:a16="http://schemas.microsoft.com/office/drawing/2014/main" val="195391122"/>
                    </a:ext>
                  </a:extLst>
                </a:gridCol>
              </a:tblGrid>
              <a:tr h="368373">
                <a:tc gridSpan="8">
                  <a:txBody>
                    <a:bodyPr/>
                    <a:lstStyle/>
                    <a:p>
                      <a:pPr algn="ctr"/>
                      <a:r>
                        <a:rPr lang="en-US" dirty="0"/>
                        <a:t>Individuals</a:t>
                      </a:r>
                      <a:endParaRPr lang="fr-FR" dirty="0"/>
                    </a:p>
                  </a:txBody>
                  <a:tcPr anchor="ctr">
                    <a:solidFill>
                      <a:schemeClr val="tx1"/>
                    </a:solidFill>
                  </a:tcPr>
                </a:tc>
                <a:tc hMerge="1">
                  <a:txBody>
                    <a:bodyPr/>
                    <a:lstStyle/>
                    <a:p>
                      <a:r>
                        <a:rPr lang="en-US" dirty="0"/>
                        <a:t>2</a:t>
                      </a:r>
                      <a:endParaRPr lang="fr-FR" dirty="0"/>
                    </a:p>
                  </a:txBody>
                  <a:tcPr>
                    <a:solidFill>
                      <a:schemeClr val="tx1"/>
                    </a:solidFill>
                  </a:tcPr>
                </a:tc>
                <a:tc hMerge="1">
                  <a:txBody>
                    <a:bodyPr/>
                    <a:lstStyle/>
                    <a:p>
                      <a:r>
                        <a:rPr lang="en-US" dirty="0"/>
                        <a:t>3</a:t>
                      </a:r>
                      <a:endParaRPr lang="fr-FR" dirty="0"/>
                    </a:p>
                  </a:txBody>
                  <a:tcPr>
                    <a:solidFill>
                      <a:schemeClr val="tx1"/>
                    </a:solidFill>
                  </a:tcPr>
                </a:tc>
                <a:tc hMerge="1">
                  <a:txBody>
                    <a:bodyPr/>
                    <a:lstStyle/>
                    <a:p>
                      <a:r>
                        <a:rPr lang="en-US" dirty="0"/>
                        <a:t>4</a:t>
                      </a:r>
                      <a:endParaRPr lang="fr-FR" dirty="0"/>
                    </a:p>
                  </a:txBody>
                  <a:tcPr>
                    <a:solidFill>
                      <a:schemeClr val="tx1"/>
                    </a:solidFill>
                  </a:tcPr>
                </a:tc>
                <a:tc hMerge="1">
                  <a:txBody>
                    <a:bodyPr/>
                    <a:lstStyle/>
                    <a:p>
                      <a:r>
                        <a:rPr lang="en-US" dirty="0"/>
                        <a:t>5</a:t>
                      </a:r>
                      <a:endParaRPr lang="fr-FR" dirty="0"/>
                    </a:p>
                  </a:txBody>
                  <a:tcPr>
                    <a:solidFill>
                      <a:schemeClr val="tx1"/>
                    </a:solidFill>
                  </a:tcPr>
                </a:tc>
                <a:tc hMerge="1">
                  <a:txBody>
                    <a:bodyPr/>
                    <a:lstStyle/>
                    <a:p>
                      <a:r>
                        <a:rPr lang="en-US" dirty="0"/>
                        <a:t>6</a:t>
                      </a:r>
                      <a:endParaRPr lang="fr-FR" dirty="0"/>
                    </a:p>
                  </a:txBody>
                  <a:tcPr>
                    <a:solidFill>
                      <a:schemeClr val="tx1"/>
                    </a:solidFill>
                  </a:tcPr>
                </a:tc>
                <a:tc hMerge="1">
                  <a:txBody>
                    <a:bodyPr/>
                    <a:lstStyle/>
                    <a:p>
                      <a:r>
                        <a:rPr lang="en-US" dirty="0"/>
                        <a:t>7</a:t>
                      </a:r>
                      <a:endParaRPr lang="fr-FR" dirty="0"/>
                    </a:p>
                  </a:txBody>
                  <a:tcPr>
                    <a:solidFill>
                      <a:schemeClr val="tx1"/>
                    </a:solidFill>
                  </a:tcPr>
                </a:tc>
                <a:tc hMerge="1">
                  <a:txBody>
                    <a:bodyPr/>
                    <a:lstStyle/>
                    <a:p>
                      <a:r>
                        <a:rPr lang="en-US" dirty="0"/>
                        <a:t>8</a:t>
                      </a:r>
                      <a:endParaRPr lang="fr-FR" dirty="0"/>
                    </a:p>
                  </a:txBody>
                  <a:tcPr>
                    <a:solidFill>
                      <a:schemeClr val="tx1"/>
                    </a:solidFill>
                  </a:tcPr>
                </a:tc>
                <a:extLst>
                  <a:ext uri="{0D108BD9-81ED-4DB2-BD59-A6C34878D82A}">
                    <a16:rowId xmlns:a16="http://schemas.microsoft.com/office/drawing/2014/main" val="3408083053"/>
                  </a:ext>
                </a:extLst>
              </a:tr>
              <a:tr h="552559">
                <a:tc>
                  <a:txBody>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a:txBody>
                  <a:tcPr anchor="ctr">
                    <a:solidFill>
                      <a:schemeClr val="tx1"/>
                    </a:solidFill>
                  </a:tcPr>
                </a:tc>
                <a:tc>
                  <a:txBody>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a:txBody>
                  <a:tcPr anchor="ctr">
                    <a:solidFill>
                      <a:schemeClr val="tx1"/>
                    </a:solidFill>
                  </a:tcPr>
                </a:tc>
                <a:tc>
                  <a:txBody>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a:txBody>
                  <a:tcPr anchor="ctr">
                    <a:solidFill>
                      <a:schemeClr val="tx1"/>
                    </a:solidFill>
                  </a:tcPr>
                </a:tc>
                <a:tc>
                  <a:txBody>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a:txBody>
                  <a:tcPr anchor="ctr">
                    <a:solidFill>
                      <a:schemeClr val="tx1"/>
                    </a:solidFill>
                  </a:tcPr>
                </a:tc>
                <a:tc>
                  <a:txBody>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a:txBody>
                  <a:tcPr anchor="ctr">
                    <a:solidFill>
                      <a:schemeClr val="tx1"/>
                    </a:solidFill>
                  </a:tcPr>
                </a:tc>
                <a:tc>
                  <a:txBody>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a:txBody>
                  <a:tcPr anchor="ctr">
                    <a:solidFill>
                      <a:schemeClr val="tx1"/>
                    </a:solidFill>
                  </a:tcPr>
                </a:tc>
                <a:tc>
                  <a:txBody>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a:txBody>
                  <a:tcPr anchor="ctr">
                    <a:solidFill>
                      <a:schemeClr val="tx1"/>
                    </a:solidFill>
                  </a:tcPr>
                </a:tc>
                <a:tc>
                  <a:txBody>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a:txBody>
                  <a:tcPr anchor="ctr">
                    <a:solidFill>
                      <a:schemeClr val="tx1"/>
                    </a:solidFill>
                  </a:tcPr>
                </a:tc>
                <a:extLst>
                  <a:ext uri="{0D108BD9-81ED-4DB2-BD59-A6C34878D82A}">
                    <a16:rowId xmlns:a16="http://schemas.microsoft.com/office/drawing/2014/main" val="1898052159"/>
                  </a:ext>
                </a:extLst>
              </a:tr>
              <a:tr h="337675">
                <a:tc>
                  <a:txBody>
                    <a:bodyPr/>
                    <a:lstStyle/>
                    <a:p>
                      <a:pPr algn="ctr"/>
                      <a:r>
                        <a:rPr lang="en-US" sz="1600" dirty="0"/>
                        <a:t>1</a:t>
                      </a:r>
                      <a:endParaRPr lang="fr-FR" sz="1600" dirty="0"/>
                    </a:p>
                  </a:txBody>
                  <a:tcPr anchor="ctr">
                    <a:solidFill>
                      <a:srgbClr val="00B050"/>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extLst>
                  <a:ext uri="{0D108BD9-81ED-4DB2-BD59-A6C34878D82A}">
                    <a16:rowId xmlns:a16="http://schemas.microsoft.com/office/drawing/2014/main" val="1716873827"/>
                  </a:ext>
                </a:extLst>
              </a:tr>
              <a:tr h="337675">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extLst>
                  <a:ext uri="{0D108BD9-81ED-4DB2-BD59-A6C34878D82A}">
                    <a16:rowId xmlns:a16="http://schemas.microsoft.com/office/drawing/2014/main" val="3823689601"/>
                  </a:ext>
                </a:extLst>
              </a:tr>
              <a:tr h="337675">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extLst>
                  <a:ext uri="{0D108BD9-81ED-4DB2-BD59-A6C34878D82A}">
                    <a16:rowId xmlns:a16="http://schemas.microsoft.com/office/drawing/2014/main" val="367726673"/>
                  </a:ext>
                </a:extLst>
              </a:tr>
              <a:tr h="337675">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extLst>
                  <a:ext uri="{0D108BD9-81ED-4DB2-BD59-A6C34878D82A}">
                    <a16:rowId xmlns:a16="http://schemas.microsoft.com/office/drawing/2014/main" val="628632633"/>
                  </a:ext>
                </a:extLst>
              </a:tr>
              <a:tr h="337675">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extLst>
                  <a:ext uri="{0D108BD9-81ED-4DB2-BD59-A6C34878D82A}">
                    <a16:rowId xmlns:a16="http://schemas.microsoft.com/office/drawing/2014/main" val="1700495660"/>
                  </a:ext>
                </a:extLst>
              </a:tr>
              <a:tr h="337675">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extLst>
                  <a:ext uri="{0D108BD9-81ED-4DB2-BD59-A6C34878D82A}">
                    <a16:rowId xmlns:a16="http://schemas.microsoft.com/office/drawing/2014/main" val="3682890038"/>
                  </a:ext>
                </a:extLst>
              </a:tr>
              <a:tr h="337675">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extLst>
                  <a:ext uri="{0D108BD9-81ED-4DB2-BD59-A6C34878D82A}">
                    <a16:rowId xmlns:a16="http://schemas.microsoft.com/office/drawing/2014/main" val="3080486891"/>
                  </a:ext>
                </a:extLst>
              </a:tr>
              <a:tr h="337675">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extLst>
                  <a:ext uri="{0D108BD9-81ED-4DB2-BD59-A6C34878D82A}">
                    <a16:rowId xmlns:a16="http://schemas.microsoft.com/office/drawing/2014/main" val="413278674"/>
                  </a:ext>
                </a:extLst>
              </a:tr>
              <a:tr h="337675">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0</a:t>
                      </a:r>
                      <a:endParaRPr lang="fr-FR" sz="1600" dirty="0"/>
                    </a:p>
                  </a:txBody>
                  <a:tcPr anchor="ctr">
                    <a:solidFill>
                      <a:schemeClr val="bg1">
                        <a:lumMod val="95000"/>
                      </a:schemeClr>
                    </a:solidFill>
                  </a:tcPr>
                </a:tc>
                <a:extLst>
                  <a:ext uri="{0D108BD9-81ED-4DB2-BD59-A6C34878D82A}">
                    <a16:rowId xmlns:a16="http://schemas.microsoft.com/office/drawing/2014/main" val="3041459024"/>
                  </a:ext>
                </a:extLst>
              </a:tr>
              <a:tr h="337675">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0</a:t>
                      </a:r>
                      <a:endParaRPr lang="fr-FR" sz="1600" dirty="0"/>
                    </a:p>
                  </a:txBody>
                  <a:tcPr anchor="ctr">
                    <a:solidFill>
                      <a:schemeClr val="bg1">
                        <a:lumMod val="95000"/>
                      </a:schemeClr>
                    </a:solidFill>
                  </a:tcPr>
                </a:tc>
                <a:tc>
                  <a:txBody>
                    <a:bodyPr/>
                    <a:lstStyle/>
                    <a:p>
                      <a:pPr algn="ctr"/>
                      <a:r>
                        <a:rPr lang="en-US" sz="1600" dirty="0"/>
                        <a:t>1</a:t>
                      </a:r>
                      <a:endParaRPr lang="fr-FR" sz="1600" dirty="0"/>
                    </a:p>
                  </a:txBody>
                  <a:tcPr anchor="ctr">
                    <a:solidFill>
                      <a:srgbClr val="00B050"/>
                    </a:solidFill>
                  </a:tcPr>
                </a:tc>
                <a:tc>
                  <a:txBody>
                    <a:bodyPr/>
                    <a:lstStyle/>
                    <a:p>
                      <a:pPr algn="ctr"/>
                      <a:r>
                        <a:rPr lang="en-US" sz="1600" dirty="0"/>
                        <a:t>1</a:t>
                      </a:r>
                      <a:endParaRPr lang="fr-FR" sz="1600" dirty="0"/>
                    </a:p>
                  </a:txBody>
                  <a:tcPr anchor="ctr">
                    <a:solidFill>
                      <a:srgbClr val="00B050"/>
                    </a:solidFill>
                  </a:tcPr>
                </a:tc>
                <a:extLst>
                  <a:ext uri="{0D108BD9-81ED-4DB2-BD59-A6C34878D82A}">
                    <a16:rowId xmlns:a16="http://schemas.microsoft.com/office/drawing/2014/main" val="2316122829"/>
                  </a:ext>
                </a:extLst>
              </a:tr>
            </a:tbl>
          </a:graphicData>
        </a:graphic>
      </p:graphicFrame>
      <p:graphicFrame>
        <p:nvGraphicFramePr>
          <p:cNvPr id="6" name="Table 5">
            <a:extLst>
              <a:ext uri="{FF2B5EF4-FFF2-40B4-BE49-F238E27FC236}">
                <a16:creationId xmlns:a16="http://schemas.microsoft.com/office/drawing/2014/main" id="{BFE625C3-6B3B-4901-85A1-EC46554B1B5E}"/>
              </a:ext>
            </a:extLst>
          </p:cNvPr>
          <p:cNvGraphicFramePr>
            <a:graphicFrameLocks noGrp="1"/>
          </p:cNvGraphicFramePr>
          <p:nvPr>
            <p:extLst>
              <p:ext uri="{D42A27DB-BD31-4B8C-83A1-F6EECF244321}">
                <p14:modId xmlns:p14="http://schemas.microsoft.com/office/powerpoint/2010/main" val="2246076677"/>
              </p:ext>
            </p:extLst>
          </p:nvPr>
        </p:nvGraphicFramePr>
        <p:xfrm>
          <a:off x="775651" y="2178902"/>
          <a:ext cx="873760" cy="4297682"/>
        </p:xfrm>
        <a:graphic>
          <a:graphicData uri="http://schemas.openxmlformats.org/drawingml/2006/table">
            <a:tbl>
              <a:tblPr firstRow="1" bandRow="1">
                <a:tableStyleId>{5C22544A-7EE6-4342-B048-85BDC9FD1C3A}</a:tableStyleId>
              </a:tblPr>
              <a:tblGrid>
                <a:gridCol w="873760">
                  <a:extLst>
                    <a:ext uri="{9D8B030D-6E8A-4147-A177-3AD203B41FA5}">
                      <a16:colId xmlns:a16="http://schemas.microsoft.com/office/drawing/2014/main" val="2489099220"/>
                    </a:ext>
                  </a:extLst>
                </a:gridCol>
              </a:tblGrid>
              <a:tr h="920932">
                <a:tc>
                  <a:txBody>
                    <a:bodyPr/>
                    <a:lstStyle/>
                    <a:p>
                      <a:pPr algn="ctr"/>
                      <a:r>
                        <a:rPr lang="en-US" dirty="0"/>
                        <a:t>Groups</a:t>
                      </a:r>
                    </a:p>
                  </a:txBody>
                  <a:tcPr anchor="ctr">
                    <a:solidFill>
                      <a:schemeClr val="tx1"/>
                    </a:solidFill>
                  </a:tcPr>
                </a:tc>
                <a:extLst>
                  <a:ext uri="{0D108BD9-81ED-4DB2-BD59-A6C34878D82A}">
                    <a16:rowId xmlns:a16="http://schemas.microsoft.com/office/drawing/2014/main" val="2993294141"/>
                  </a:ext>
                </a:extLst>
              </a:tr>
              <a:tr h="337675">
                <a:tc>
                  <a:txBody>
                    <a:bodyPr/>
                    <a:lstStyle/>
                    <a:p>
                      <a:pPr algn="l"/>
                      <a:r>
                        <a:rPr lang="en-US" sz="1600" b="1" dirty="0"/>
                        <a:t>1</a:t>
                      </a:r>
                      <a:endParaRPr lang="fr-FR" sz="1600" b="1" dirty="0"/>
                    </a:p>
                  </a:txBody>
                  <a:tcPr anchor="ctr">
                    <a:solidFill>
                      <a:schemeClr val="bg1">
                        <a:lumMod val="95000"/>
                      </a:schemeClr>
                    </a:solidFill>
                  </a:tcPr>
                </a:tc>
                <a:extLst>
                  <a:ext uri="{0D108BD9-81ED-4DB2-BD59-A6C34878D82A}">
                    <a16:rowId xmlns:a16="http://schemas.microsoft.com/office/drawing/2014/main" val="1789951125"/>
                  </a:ext>
                </a:extLst>
              </a:tr>
              <a:tr h="337675">
                <a:tc>
                  <a:txBody>
                    <a:bodyPr/>
                    <a:lstStyle/>
                    <a:p>
                      <a:pPr algn="l"/>
                      <a:r>
                        <a:rPr lang="en-US" sz="1600" b="1" dirty="0"/>
                        <a:t>2</a:t>
                      </a:r>
                      <a:endParaRPr lang="fr-FR" sz="1600" b="1" dirty="0"/>
                    </a:p>
                  </a:txBody>
                  <a:tcPr anchor="ctr">
                    <a:solidFill>
                      <a:schemeClr val="bg1">
                        <a:lumMod val="95000"/>
                      </a:schemeClr>
                    </a:solidFill>
                  </a:tcPr>
                </a:tc>
                <a:extLst>
                  <a:ext uri="{0D108BD9-81ED-4DB2-BD59-A6C34878D82A}">
                    <a16:rowId xmlns:a16="http://schemas.microsoft.com/office/drawing/2014/main" val="247766852"/>
                  </a:ext>
                </a:extLst>
              </a:tr>
              <a:tr h="337675">
                <a:tc>
                  <a:txBody>
                    <a:bodyPr/>
                    <a:lstStyle/>
                    <a:p>
                      <a:pPr algn="l"/>
                      <a:r>
                        <a:rPr lang="en-US" sz="1600" b="1" dirty="0"/>
                        <a:t>3</a:t>
                      </a:r>
                      <a:endParaRPr lang="fr-FR" sz="1600" b="1" dirty="0"/>
                    </a:p>
                  </a:txBody>
                  <a:tcPr anchor="ctr">
                    <a:solidFill>
                      <a:schemeClr val="bg1">
                        <a:lumMod val="95000"/>
                      </a:schemeClr>
                    </a:solidFill>
                  </a:tcPr>
                </a:tc>
                <a:extLst>
                  <a:ext uri="{0D108BD9-81ED-4DB2-BD59-A6C34878D82A}">
                    <a16:rowId xmlns:a16="http://schemas.microsoft.com/office/drawing/2014/main" val="2227168265"/>
                  </a:ext>
                </a:extLst>
              </a:tr>
              <a:tr h="337675">
                <a:tc>
                  <a:txBody>
                    <a:bodyPr/>
                    <a:lstStyle/>
                    <a:p>
                      <a:pPr algn="l"/>
                      <a:r>
                        <a:rPr lang="en-US" sz="1600" b="1" dirty="0"/>
                        <a:t>4</a:t>
                      </a:r>
                      <a:endParaRPr lang="fr-FR" sz="1600" b="1" dirty="0"/>
                    </a:p>
                  </a:txBody>
                  <a:tcPr anchor="ctr">
                    <a:solidFill>
                      <a:schemeClr val="bg1">
                        <a:lumMod val="95000"/>
                      </a:schemeClr>
                    </a:solidFill>
                  </a:tcPr>
                </a:tc>
                <a:extLst>
                  <a:ext uri="{0D108BD9-81ED-4DB2-BD59-A6C34878D82A}">
                    <a16:rowId xmlns:a16="http://schemas.microsoft.com/office/drawing/2014/main" val="2531530269"/>
                  </a:ext>
                </a:extLst>
              </a:tr>
              <a:tr h="337675">
                <a:tc>
                  <a:txBody>
                    <a:bodyPr/>
                    <a:lstStyle/>
                    <a:p>
                      <a:pPr algn="l"/>
                      <a:r>
                        <a:rPr lang="en-US" sz="1600" b="1" dirty="0"/>
                        <a:t>5</a:t>
                      </a:r>
                      <a:endParaRPr lang="fr-FR" sz="1600" b="1" dirty="0"/>
                    </a:p>
                  </a:txBody>
                  <a:tcPr anchor="ctr">
                    <a:solidFill>
                      <a:schemeClr val="bg1">
                        <a:lumMod val="95000"/>
                      </a:schemeClr>
                    </a:solidFill>
                  </a:tcPr>
                </a:tc>
                <a:extLst>
                  <a:ext uri="{0D108BD9-81ED-4DB2-BD59-A6C34878D82A}">
                    <a16:rowId xmlns:a16="http://schemas.microsoft.com/office/drawing/2014/main" val="2577907071"/>
                  </a:ext>
                </a:extLst>
              </a:tr>
              <a:tr h="337675">
                <a:tc>
                  <a:txBody>
                    <a:bodyPr/>
                    <a:lstStyle/>
                    <a:p>
                      <a:pPr algn="l"/>
                      <a:r>
                        <a:rPr lang="en-US" sz="1600" b="1" dirty="0"/>
                        <a:t>6</a:t>
                      </a:r>
                      <a:endParaRPr lang="fr-FR" sz="1600" b="1" dirty="0"/>
                    </a:p>
                  </a:txBody>
                  <a:tcPr anchor="ctr">
                    <a:solidFill>
                      <a:schemeClr val="bg1">
                        <a:lumMod val="95000"/>
                      </a:schemeClr>
                    </a:solidFill>
                  </a:tcPr>
                </a:tc>
                <a:extLst>
                  <a:ext uri="{0D108BD9-81ED-4DB2-BD59-A6C34878D82A}">
                    <a16:rowId xmlns:a16="http://schemas.microsoft.com/office/drawing/2014/main" val="123392545"/>
                  </a:ext>
                </a:extLst>
              </a:tr>
              <a:tr h="337675">
                <a:tc>
                  <a:txBody>
                    <a:bodyPr/>
                    <a:lstStyle/>
                    <a:p>
                      <a:pPr algn="l"/>
                      <a:r>
                        <a:rPr lang="en-US" sz="1600" b="1" dirty="0"/>
                        <a:t>7</a:t>
                      </a:r>
                      <a:endParaRPr lang="fr-FR" sz="1600" b="1" dirty="0"/>
                    </a:p>
                  </a:txBody>
                  <a:tcPr anchor="ctr">
                    <a:solidFill>
                      <a:schemeClr val="bg1">
                        <a:lumMod val="95000"/>
                      </a:schemeClr>
                    </a:solidFill>
                  </a:tcPr>
                </a:tc>
                <a:extLst>
                  <a:ext uri="{0D108BD9-81ED-4DB2-BD59-A6C34878D82A}">
                    <a16:rowId xmlns:a16="http://schemas.microsoft.com/office/drawing/2014/main" val="2461052776"/>
                  </a:ext>
                </a:extLst>
              </a:tr>
              <a:tr h="337675">
                <a:tc>
                  <a:txBody>
                    <a:bodyPr/>
                    <a:lstStyle/>
                    <a:p>
                      <a:pPr algn="l"/>
                      <a:r>
                        <a:rPr lang="en-US" sz="1600" b="1" dirty="0"/>
                        <a:t>8</a:t>
                      </a:r>
                      <a:endParaRPr lang="fr-FR" sz="1600" b="1" dirty="0"/>
                    </a:p>
                  </a:txBody>
                  <a:tcPr anchor="ctr">
                    <a:solidFill>
                      <a:schemeClr val="bg1">
                        <a:lumMod val="95000"/>
                      </a:schemeClr>
                    </a:solidFill>
                  </a:tcPr>
                </a:tc>
                <a:extLst>
                  <a:ext uri="{0D108BD9-81ED-4DB2-BD59-A6C34878D82A}">
                    <a16:rowId xmlns:a16="http://schemas.microsoft.com/office/drawing/2014/main" val="2304284910"/>
                  </a:ext>
                </a:extLst>
              </a:tr>
              <a:tr h="337675">
                <a:tc>
                  <a:txBody>
                    <a:bodyPr/>
                    <a:lstStyle/>
                    <a:p>
                      <a:pPr algn="l"/>
                      <a:r>
                        <a:rPr lang="en-US" sz="1600" b="1" dirty="0"/>
                        <a:t>9</a:t>
                      </a:r>
                      <a:endParaRPr lang="fr-FR" sz="1600" b="1" dirty="0"/>
                    </a:p>
                  </a:txBody>
                  <a:tcPr anchor="ctr">
                    <a:solidFill>
                      <a:schemeClr val="bg1">
                        <a:lumMod val="95000"/>
                      </a:schemeClr>
                    </a:solidFill>
                  </a:tcPr>
                </a:tc>
                <a:extLst>
                  <a:ext uri="{0D108BD9-81ED-4DB2-BD59-A6C34878D82A}">
                    <a16:rowId xmlns:a16="http://schemas.microsoft.com/office/drawing/2014/main" val="2057785605"/>
                  </a:ext>
                </a:extLst>
              </a:tr>
              <a:tr h="337675">
                <a:tc>
                  <a:txBody>
                    <a:bodyPr/>
                    <a:lstStyle/>
                    <a:p>
                      <a:pPr algn="l"/>
                      <a:r>
                        <a:rPr lang="en-US" sz="1600" b="1" dirty="0"/>
                        <a:t>10</a:t>
                      </a:r>
                      <a:endParaRPr lang="fr-FR" sz="1600" b="1" dirty="0"/>
                    </a:p>
                  </a:txBody>
                  <a:tcPr anchor="ctr">
                    <a:solidFill>
                      <a:schemeClr val="bg1">
                        <a:lumMod val="95000"/>
                      </a:schemeClr>
                    </a:solidFill>
                  </a:tcPr>
                </a:tc>
                <a:extLst>
                  <a:ext uri="{0D108BD9-81ED-4DB2-BD59-A6C34878D82A}">
                    <a16:rowId xmlns:a16="http://schemas.microsoft.com/office/drawing/2014/main" val="58793516"/>
                  </a:ext>
                </a:extLst>
              </a:tr>
            </a:tbl>
          </a:graphicData>
        </a:graphic>
      </p:graphicFrame>
      <p:sp>
        <p:nvSpPr>
          <p:cNvPr id="38" name="Rectangle 37">
            <a:extLst>
              <a:ext uri="{FF2B5EF4-FFF2-40B4-BE49-F238E27FC236}">
                <a16:creationId xmlns:a16="http://schemas.microsoft.com/office/drawing/2014/main" id="{3F757D94-26A1-4FCC-A2ED-3279D779E12E}"/>
              </a:ext>
            </a:extLst>
          </p:cNvPr>
          <p:cNvSpPr/>
          <p:nvPr/>
        </p:nvSpPr>
        <p:spPr>
          <a:xfrm>
            <a:off x="1638584" y="3082431"/>
            <a:ext cx="3657600" cy="1027751"/>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01775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7368C06A-B8F0-4B52-86E2-6256BFCF0E53}"/>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3"/>
            </a:pPr>
            <a:r>
              <a:rPr lang="en-US" sz="2400" b="1" dirty="0"/>
              <a:t>Network basics in R</a:t>
            </a:r>
          </a:p>
          <a:p>
            <a:endParaRPr lang="en-US" sz="2400" b="1" i="1" dirty="0"/>
          </a:p>
        </p:txBody>
      </p:sp>
      <p:sp>
        <p:nvSpPr>
          <p:cNvPr id="5" name="TextBox 4">
            <a:extLst>
              <a:ext uri="{FF2B5EF4-FFF2-40B4-BE49-F238E27FC236}">
                <a16:creationId xmlns:a16="http://schemas.microsoft.com/office/drawing/2014/main" id="{809070F0-F39E-9E37-99BF-95F2964DCEF1}"/>
              </a:ext>
            </a:extLst>
          </p:cNvPr>
          <p:cNvSpPr txBox="1"/>
          <p:nvPr/>
        </p:nvSpPr>
        <p:spPr>
          <a:xfrm>
            <a:off x="1989982" y="1957207"/>
            <a:ext cx="8212035" cy="1015663"/>
          </a:xfrm>
          <a:prstGeom prst="rect">
            <a:avLst/>
          </a:prstGeom>
          <a:solidFill>
            <a:schemeClr val="accent1">
              <a:lumMod val="75000"/>
            </a:schemeClr>
          </a:solidFill>
        </p:spPr>
        <p:txBody>
          <a:bodyPr wrap="square" rtlCol="0">
            <a:spAutoFit/>
          </a:bodyPr>
          <a:lstStyle/>
          <a:p>
            <a:pPr algn="ctr"/>
            <a:r>
              <a:rPr lang="en-US" sz="3000" b="1" dirty="0">
                <a:solidFill>
                  <a:schemeClr val="bg1"/>
                </a:solidFill>
              </a:rPr>
              <a:t>Now head to the R Markdown for Session 1 and work through the section SESSION 1: PART 3 </a:t>
            </a:r>
          </a:p>
        </p:txBody>
      </p:sp>
    </p:spTree>
    <p:extLst>
      <p:ext uri="{BB962C8B-B14F-4D97-AF65-F5344CB8AC3E}">
        <p14:creationId xmlns:p14="http://schemas.microsoft.com/office/powerpoint/2010/main" val="1200434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9639DFC6-BB2C-4098-9991-57749BEBE566}"/>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Different network representations</a:t>
            </a:r>
          </a:p>
          <a:p>
            <a:endParaRPr lang="en-US" sz="2400" b="1" i="1" dirty="0"/>
          </a:p>
        </p:txBody>
      </p:sp>
      <p:sp>
        <p:nvSpPr>
          <p:cNvPr id="5" name="TextBox 4">
            <a:extLst>
              <a:ext uri="{FF2B5EF4-FFF2-40B4-BE49-F238E27FC236}">
                <a16:creationId xmlns:a16="http://schemas.microsoft.com/office/drawing/2014/main" id="{18F422BD-6587-4EBE-9A87-B1814366691A}"/>
              </a:ext>
            </a:extLst>
          </p:cNvPr>
          <p:cNvSpPr txBox="1"/>
          <p:nvPr/>
        </p:nvSpPr>
        <p:spPr>
          <a:xfrm>
            <a:off x="895927" y="1487059"/>
            <a:ext cx="10446328" cy="2400657"/>
          </a:xfrm>
          <a:prstGeom prst="rect">
            <a:avLst/>
          </a:prstGeom>
          <a:noFill/>
        </p:spPr>
        <p:txBody>
          <a:bodyPr wrap="square" rtlCol="0">
            <a:spAutoFit/>
          </a:bodyPr>
          <a:lstStyle/>
          <a:p>
            <a:r>
              <a:rPr lang="en-US" dirty="0"/>
              <a:t>We have started with the most simple way to think about animal social networks – recording simply whether two individuals share a social connection or not.</a:t>
            </a:r>
          </a:p>
          <a:p>
            <a:endParaRPr lang="en-US" dirty="0"/>
          </a:p>
          <a:p>
            <a:r>
              <a:rPr lang="en-US" sz="2400" b="1" u="sng" dirty="0"/>
              <a:t>BUT</a:t>
            </a:r>
          </a:p>
          <a:p>
            <a:endParaRPr lang="en-US" b="1" dirty="0"/>
          </a:p>
          <a:p>
            <a:r>
              <a:rPr lang="en-US" dirty="0"/>
              <a:t>The social lives of animals are much more complex than this, so in the next section we are going to go through different ways to include extra information in our social network representations.</a:t>
            </a:r>
          </a:p>
          <a:p>
            <a:endParaRPr lang="en-US" dirty="0"/>
          </a:p>
        </p:txBody>
      </p:sp>
    </p:spTree>
    <p:extLst>
      <p:ext uri="{BB962C8B-B14F-4D97-AF65-F5344CB8AC3E}">
        <p14:creationId xmlns:p14="http://schemas.microsoft.com/office/powerpoint/2010/main" val="3788065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5" name="TextBox 4">
            <a:extLst>
              <a:ext uri="{FF2B5EF4-FFF2-40B4-BE49-F238E27FC236}">
                <a16:creationId xmlns:a16="http://schemas.microsoft.com/office/drawing/2014/main" id="{18F422BD-6587-4EBE-9A87-B1814366691A}"/>
              </a:ext>
            </a:extLst>
          </p:cNvPr>
          <p:cNvSpPr txBox="1"/>
          <p:nvPr/>
        </p:nvSpPr>
        <p:spPr>
          <a:xfrm>
            <a:off x="895927" y="1487059"/>
            <a:ext cx="10446328" cy="3416320"/>
          </a:xfrm>
          <a:prstGeom prst="rect">
            <a:avLst/>
          </a:prstGeom>
          <a:noFill/>
        </p:spPr>
        <p:txBody>
          <a:bodyPr wrap="square" rtlCol="0">
            <a:spAutoFit/>
          </a:bodyPr>
          <a:lstStyle/>
          <a:p>
            <a:r>
              <a:rPr lang="en-US" dirty="0"/>
              <a:t>We have started with the most simple way to think about animal social networks – recording simply whether two individuals share a social connection or not.</a:t>
            </a:r>
          </a:p>
          <a:p>
            <a:endParaRPr lang="en-US" dirty="0"/>
          </a:p>
          <a:p>
            <a:r>
              <a:rPr lang="en-US" sz="2400" b="1" u="sng" dirty="0"/>
              <a:t>BUT</a:t>
            </a:r>
          </a:p>
          <a:p>
            <a:endParaRPr lang="en-US" b="1" dirty="0"/>
          </a:p>
          <a:p>
            <a:r>
              <a:rPr lang="en-US" dirty="0"/>
              <a:t>The social lives of animals are much more complex than this, so in the next section we are going to go through different ways to include extra information in our social network representations.</a:t>
            </a:r>
          </a:p>
          <a:p>
            <a:endParaRPr lang="en-US" dirty="0"/>
          </a:p>
          <a:p>
            <a:r>
              <a:rPr lang="en-US" sz="1600" dirty="0"/>
              <a:t>We will start with types of </a:t>
            </a:r>
            <a:r>
              <a:rPr lang="en-US" sz="1600" b="1" i="1" dirty="0"/>
              <a:t>static representation </a:t>
            </a:r>
            <a:r>
              <a:rPr lang="en-US" sz="1600" dirty="0"/>
              <a:t>that ignore how interactions might change over time to account for:</a:t>
            </a:r>
            <a:endParaRPr lang="en-US" sz="1600" b="1" dirty="0"/>
          </a:p>
          <a:p>
            <a:pPr marL="285750" indent="-285750">
              <a:buFont typeface="Arial" panose="020B0604020202020204" pitchFamily="34" charset="0"/>
              <a:buChar char="•"/>
            </a:pPr>
            <a:r>
              <a:rPr lang="en-US" sz="1600" dirty="0"/>
              <a:t>The frequency and duration of interactions (</a:t>
            </a:r>
            <a:r>
              <a:rPr lang="en-US" sz="1600" b="1" dirty="0"/>
              <a:t>weighted networks </a:t>
            </a:r>
            <a:r>
              <a:rPr lang="en-US" sz="1600" dirty="0"/>
              <a:t>and </a:t>
            </a:r>
            <a:r>
              <a:rPr lang="en-US" sz="1600" b="1" dirty="0"/>
              <a:t>multigraphs</a:t>
            </a:r>
            <a:r>
              <a:rPr lang="en-US" sz="1600" dirty="0"/>
              <a:t>)</a:t>
            </a:r>
          </a:p>
          <a:p>
            <a:pPr marL="285750" indent="-285750">
              <a:buFont typeface="Arial" panose="020B0604020202020204" pitchFamily="34" charset="0"/>
              <a:buChar char="•"/>
            </a:pPr>
            <a:r>
              <a:rPr lang="en-US" sz="1600" dirty="0"/>
              <a:t>Who interacted with whom (</a:t>
            </a:r>
            <a:r>
              <a:rPr lang="en-US" sz="1600" b="1" dirty="0"/>
              <a:t>directed networks</a:t>
            </a:r>
            <a:r>
              <a:rPr lang="en-US" sz="1600" dirty="0"/>
              <a:t>)</a:t>
            </a:r>
          </a:p>
          <a:p>
            <a:pPr marL="285750" indent="-28575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B7E67A56-838D-263E-CCA2-C47A8E2B4AD3}"/>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Different network representations</a:t>
            </a:r>
          </a:p>
          <a:p>
            <a:endParaRPr lang="en-US" sz="2400" b="1" i="1" dirty="0"/>
          </a:p>
        </p:txBody>
      </p:sp>
    </p:spTree>
    <p:extLst>
      <p:ext uri="{BB962C8B-B14F-4D97-AF65-F5344CB8AC3E}">
        <p14:creationId xmlns:p14="http://schemas.microsoft.com/office/powerpoint/2010/main" val="825915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5" name="TextBox 4">
            <a:extLst>
              <a:ext uri="{FF2B5EF4-FFF2-40B4-BE49-F238E27FC236}">
                <a16:creationId xmlns:a16="http://schemas.microsoft.com/office/drawing/2014/main" id="{18F422BD-6587-4EBE-9A87-B1814366691A}"/>
              </a:ext>
            </a:extLst>
          </p:cNvPr>
          <p:cNvSpPr txBox="1"/>
          <p:nvPr/>
        </p:nvSpPr>
        <p:spPr>
          <a:xfrm>
            <a:off x="895927" y="1487059"/>
            <a:ext cx="10446328" cy="3970318"/>
          </a:xfrm>
          <a:prstGeom prst="rect">
            <a:avLst/>
          </a:prstGeom>
          <a:noFill/>
        </p:spPr>
        <p:txBody>
          <a:bodyPr wrap="square" rtlCol="0">
            <a:spAutoFit/>
          </a:bodyPr>
          <a:lstStyle/>
          <a:p>
            <a:r>
              <a:rPr lang="en-US" dirty="0"/>
              <a:t>We have started with the most simple way to think about animal social networks – recording simply whether two individuals share a social connection or not.</a:t>
            </a:r>
          </a:p>
          <a:p>
            <a:endParaRPr lang="en-US" dirty="0"/>
          </a:p>
          <a:p>
            <a:r>
              <a:rPr lang="en-US" sz="2400" b="1" u="sng" dirty="0"/>
              <a:t>BUT</a:t>
            </a:r>
          </a:p>
          <a:p>
            <a:endParaRPr lang="en-US" b="1" dirty="0"/>
          </a:p>
          <a:p>
            <a:r>
              <a:rPr lang="en-US" dirty="0"/>
              <a:t>The social lives of animals are much more complex than this, so in the next section we are going to go through different ways to include extra information in our social network representations.</a:t>
            </a:r>
          </a:p>
          <a:p>
            <a:endParaRPr lang="en-US" dirty="0"/>
          </a:p>
          <a:p>
            <a:r>
              <a:rPr lang="en-US" sz="1600" dirty="0"/>
              <a:t>We will start with types of </a:t>
            </a:r>
            <a:r>
              <a:rPr lang="en-US" sz="1600" b="1" i="1" dirty="0"/>
              <a:t>static representation </a:t>
            </a:r>
            <a:r>
              <a:rPr lang="en-US" sz="1600" dirty="0"/>
              <a:t>that ignore how interactions might change over time to account for:</a:t>
            </a:r>
            <a:endParaRPr lang="en-US" sz="1600" b="1" dirty="0"/>
          </a:p>
          <a:p>
            <a:pPr marL="285750" indent="-285750">
              <a:buFont typeface="Arial" panose="020B0604020202020204" pitchFamily="34" charset="0"/>
              <a:buChar char="•"/>
            </a:pPr>
            <a:r>
              <a:rPr lang="en-US" sz="1600" dirty="0"/>
              <a:t>The frequency and duration of interactions (</a:t>
            </a:r>
            <a:r>
              <a:rPr lang="en-US" sz="1600" b="1" dirty="0"/>
              <a:t>weighted networks </a:t>
            </a:r>
            <a:r>
              <a:rPr lang="en-US" sz="1600" dirty="0"/>
              <a:t>and </a:t>
            </a:r>
            <a:r>
              <a:rPr lang="en-US" sz="1600" b="1" dirty="0"/>
              <a:t>multigraphs</a:t>
            </a:r>
            <a:r>
              <a:rPr lang="en-US" sz="1600" dirty="0"/>
              <a:t>)</a:t>
            </a:r>
          </a:p>
          <a:p>
            <a:pPr marL="285750" indent="-285750">
              <a:buFont typeface="Arial" panose="020B0604020202020204" pitchFamily="34" charset="0"/>
              <a:buChar char="•"/>
            </a:pPr>
            <a:r>
              <a:rPr lang="en-US" sz="1600" dirty="0"/>
              <a:t>Who interacted with whom (</a:t>
            </a:r>
            <a:r>
              <a:rPr lang="en-US" sz="1600" b="1" dirty="0"/>
              <a:t>directed networks</a:t>
            </a:r>
            <a:r>
              <a:rPr lang="en-US" sz="1600" dirty="0"/>
              <a:t>)</a:t>
            </a:r>
          </a:p>
          <a:p>
            <a:pPr marL="285750" indent="-285750">
              <a:buFont typeface="Arial" panose="020B0604020202020204" pitchFamily="34" charset="0"/>
              <a:buChar char="•"/>
            </a:pPr>
            <a:endParaRPr lang="en-US" dirty="0"/>
          </a:p>
          <a:p>
            <a:r>
              <a:rPr lang="en-US" sz="1600" dirty="0"/>
              <a:t>We will then finish by thinking about </a:t>
            </a:r>
            <a:r>
              <a:rPr lang="en-US" sz="1600" b="1" i="1" dirty="0"/>
              <a:t>dynamic representations </a:t>
            </a:r>
            <a:r>
              <a:rPr lang="en-US" sz="1600" dirty="0"/>
              <a:t>that include information about temporal changes to interaction patterns</a:t>
            </a:r>
            <a:endParaRPr lang="en-US" sz="1600" b="1" i="1" dirty="0"/>
          </a:p>
        </p:txBody>
      </p:sp>
      <p:sp>
        <p:nvSpPr>
          <p:cNvPr id="7" name="TextBox 6">
            <a:extLst>
              <a:ext uri="{FF2B5EF4-FFF2-40B4-BE49-F238E27FC236}">
                <a16:creationId xmlns:a16="http://schemas.microsoft.com/office/drawing/2014/main" id="{45553B4A-7897-96FA-24FC-97772731A336}"/>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Different network representations</a:t>
            </a:r>
          </a:p>
          <a:p>
            <a:endParaRPr lang="en-US" sz="2400" b="1" i="1" dirty="0"/>
          </a:p>
        </p:txBody>
      </p:sp>
    </p:spTree>
    <p:extLst>
      <p:ext uri="{BB962C8B-B14F-4D97-AF65-F5344CB8AC3E}">
        <p14:creationId xmlns:p14="http://schemas.microsoft.com/office/powerpoint/2010/main" val="3342185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9639DFC6-BB2C-4098-9991-57749BEBE566}"/>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Static network representations</a:t>
            </a:r>
          </a:p>
          <a:p>
            <a:pPr marL="457200" indent="-457200">
              <a:buFont typeface="+mj-lt"/>
              <a:buAutoNum type="arabicPeriod" startAt="4"/>
            </a:pPr>
            <a:endParaRPr lang="en-US" sz="2400" b="1" i="1" dirty="0"/>
          </a:p>
        </p:txBody>
      </p:sp>
      <p:sp>
        <p:nvSpPr>
          <p:cNvPr id="6" name="TextBox 5">
            <a:extLst>
              <a:ext uri="{FF2B5EF4-FFF2-40B4-BE49-F238E27FC236}">
                <a16:creationId xmlns:a16="http://schemas.microsoft.com/office/drawing/2014/main" id="{6EF36BB0-F01D-5E1C-8F31-D358137DB7D9}"/>
              </a:ext>
            </a:extLst>
          </p:cNvPr>
          <p:cNvSpPr txBox="1"/>
          <p:nvPr/>
        </p:nvSpPr>
        <p:spPr>
          <a:xfrm>
            <a:off x="442948" y="1572173"/>
            <a:ext cx="11449134" cy="1015663"/>
          </a:xfrm>
          <a:prstGeom prst="rect">
            <a:avLst/>
          </a:prstGeom>
          <a:noFill/>
        </p:spPr>
        <p:txBody>
          <a:bodyPr wrap="square" rtlCol="0">
            <a:spAutoFit/>
          </a:bodyPr>
          <a:lstStyle/>
          <a:p>
            <a:r>
              <a:rPr lang="en-US" sz="2000" b="1" i="1" dirty="0">
                <a:solidFill>
                  <a:schemeClr val="accent4">
                    <a:lumMod val="75000"/>
                  </a:schemeClr>
                </a:solidFill>
              </a:rPr>
              <a:t>Weighted networks</a:t>
            </a:r>
            <a:r>
              <a:rPr lang="en-US" sz="2000" dirty="0"/>
              <a:t> are commonly used to study animal social networks</a:t>
            </a:r>
          </a:p>
          <a:p>
            <a:endParaRPr lang="en-US" sz="2000" dirty="0"/>
          </a:p>
          <a:p>
            <a:r>
              <a:rPr lang="en-US" sz="2000" dirty="0"/>
              <a:t>Also provide information on the strength of social connections</a:t>
            </a:r>
          </a:p>
        </p:txBody>
      </p:sp>
      <p:grpSp>
        <p:nvGrpSpPr>
          <p:cNvPr id="33" name="Group 32">
            <a:extLst>
              <a:ext uri="{FF2B5EF4-FFF2-40B4-BE49-F238E27FC236}">
                <a16:creationId xmlns:a16="http://schemas.microsoft.com/office/drawing/2014/main" id="{BF92B285-59A5-9F9B-A953-AE4A82BE0ABB}"/>
              </a:ext>
            </a:extLst>
          </p:cNvPr>
          <p:cNvGrpSpPr/>
          <p:nvPr/>
        </p:nvGrpSpPr>
        <p:grpSpPr>
          <a:xfrm>
            <a:off x="1208193" y="3182464"/>
            <a:ext cx="1869945" cy="3125033"/>
            <a:chOff x="9236782" y="2185295"/>
            <a:chExt cx="1869945" cy="3125033"/>
          </a:xfrm>
        </p:grpSpPr>
        <p:cxnSp>
          <p:nvCxnSpPr>
            <p:cNvPr id="7" name="Straight Connector 6">
              <a:extLst>
                <a:ext uri="{FF2B5EF4-FFF2-40B4-BE49-F238E27FC236}">
                  <a16:creationId xmlns:a16="http://schemas.microsoft.com/office/drawing/2014/main" id="{FE512A5C-126D-DEC1-0AE7-D11C4F9CF587}"/>
                </a:ext>
              </a:extLst>
            </p:cNvPr>
            <p:cNvCxnSpPr>
              <a:cxnSpLocks/>
            </p:cNvCxnSpPr>
            <p:nvPr/>
          </p:nvCxnSpPr>
          <p:spPr>
            <a:xfrm flipV="1">
              <a:off x="9448800" y="2381719"/>
              <a:ext cx="437733" cy="76486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CCBF079-3F5B-7CAF-C4C4-445632CEC6E8}"/>
                </a:ext>
              </a:extLst>
            </p:cNvPr>
            <p:cNvCxnSpPr>
              <a:cxnSpLocks/>
            </p:cNvCxnSpPr>
            <p:nvPr/>
          </p:nvCxnSpPr>
          <p:spPr>
            <a:xfrm>
              <a:off x="9886533" y="2366704"/>
              <a:ext cx="664482" cy="16371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6B52F2F-8606-9CEE-A13C-B3C424C4B0F0}"/>
                </a:ext>
              </a:extLst>
            </p:cNvPr>
            <p:cNvCxnSpPr>
              <a:cxnSpLocks/>
            </p:cNvCxnSpPr>
            <p:nvPr/>
          </p:nvCxnSpPr>
          <p:spPr>
            <a:xfrm flipH="1" flipV="1">
              <a:off x="9886533" y="2366705"/>
              <a:ext cx="747976" cy="10297"/>
            </a:xfrm>
            <a:prstGeom prst="line">
              <a:avLst/>
            </a:prstGeom>
            <a:ln w="1143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4DCFC8-0646-7E19-F033-03334CB585BD}"/>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68A5F025-E1E8-EF3C-9318-F48A75AC5581}"/>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71F317AA-71BB-A7FE-2FE3-838C37BF5BB2}"/>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0DB8A8AD-0F3A-5A2F-CE6E-FEFD2524B906}"/>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75AF379A-C942-3965-44BE-DA5539926840}"/>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2E0D58D5-FCEB-4D00-6A49-9793DF94CC92}"/>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FD2E1EE5-94DB-CB78-6CB7-EC44806386A7}"/>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8604E401-FF6F-6744-A62F-C6CB5547E844}"/>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DF31A2C5-CA5B-C22C-FEAC-1B7B475412E0}"/>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71C2AF13-4D1E-362B-02AC-DCBFA4F9335E}"/>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C217C4-BE26-F4BC-E4BC-83AC8BC11C35}"/>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599696F-D1DB-61EE-D62F-C6360AD669A9}"/>
                </a:ext>
              </a:extLst>
            </p:cNvPr>
            <p:cNvCxnSpPr>
              <a:cxnSpLocks/>
            </p:cNvCxnSpPr>
            <p:nvPr/>
          </p:nvCxnSpPr>
          <p:spPr>
            <a:xfrm>
              <a:off x="9940768" y="3771756"/>
              <a:ext cx="17707" cy="58516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A72167D-4012-2012-182B-4716713BE98D}"/>
                </a:ext>
              </a:extLst>
            </p:cNvPr>
            <p:cNvCxnSpPr>
              <a:cxnSpLocks/>
            </p:cNvCxnSpPr>
            <p:nvPr/>
          </p:nvCxnSpPr>
          <p:spPr>
            <a:xfrm>
              <a:off x="9958475" y="3748551"/>
              <a:ext cx="592540" cy="25532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03456E8-D9D3-12A0-B2FF-8A7E11C239FA}"/>
                </a:ext>
              </a:extLst>
            </p:cNvPr>
            <p:cNvCxnSpPr>
              <a:cxnSpLocks/>
            </p:cNvCxnSpPr>
            <p:nvPr/>
          </p:nvCxnSpPr>
          <p:spPr>
            <a:xfrm flipV="1">
              <a:off x="9969302" y="4003871"/>
              <a:ext cx="581713" cy="353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E589508-3ED0-427C-6A10-51203369CC6F}"/>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F0E0948-F1C7-4112-D163-4AE88755B6E3}"/>
                </a:ext>
              </a:extLst>
            </p:cNvPr>
            <p:cNvSpPr txBox="1"/>
            <p:nvPr/>
          </p:nvSpPr>
          <p:spPr>
            <a:xfrm>
              <a:off x="9683332" y="2189933"/>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p:txBody>
        </p:sp>
        <p:sp>
          <p:nvSpPr>
            <p:cNvPr id="26" name="TextBox 25">
              <a:extLst>
                <a:ext uri="{FF2B5EF4-FFF2-40B4-BE49-F238E27FC236}">
                  <a16:creationId xmlns:a16="http://schemas.microsoft.com/office/drawing/2014/main" id="{2C2939AA-894F-36B8-629F-D9DE1E153863}"/>
                </a:ext>
              </a:extLst>
            </p:cNvPr>
            <p:cNvSpPr txBox="1"/>
            <p:nvPr/>
          </p:nvSpPr>
          <p:spPr>
            <a:xfrm>
              <a:off x="10426063" y="218529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p:txBody>
        </p:sp>
        <p:sp>
          <p:nvSpPr>
            <p:cNvPr id="27" name="TextBox 26">
              <a:extLst>
                <a:ext uri="{FF2B5EF4-FFF2-40B4-BE49-F238E27FC236}">
                  <a16:creationId xmlns:a16="http://schemas.microsoft.com/office/drawing/2014/main" id="{6D3AB20A-5324-A4BA-42EE-30C8D2EF260F}"/>
                </a:ext>
              </a:extLst>
            </p:cNvPr>
            <p:cNvSpPr txBox="1"/>
            <p:nvPr/>
          </p:nvSpPr>
          <p:spPr>
            <a:xfrm>
              <a:off x="9236782" y="2966332"/>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p:txBody>
        </p:sp>
        <p:sp>
          <p:nvSpPr>
            <p:cNvPr id="28" name="TextBox 27">
              <a:extLst>
                <a:ext uri="{FF2B5EF4-FFF2-40B4-BE49-F238E27FC236}">
                  <a16:creationId xmlns:a16="http://schemas.microsoft.com/office/drawing/2014/main" id="{3AC9C212-0192-130A-B9EA-B7698E300CB9}"/>
                </a:ext>
              </a:extLst>
            </p:cNvPr>
            <p:cNvSpPr txBox="1"/>
            <p:nvPr/>
          </p:nvSpPr>
          <p:spPr>
            <a:xfrm>
              <a:off x="10681854" y="2973587"/>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p:txBody>
        </p:sp>
        <p:sp>
          <p:nvSpPr>
            <p:cNvPr id="29" name="TextBox 28">
              <a:extLst>
                <a:ext uri="{FF2B5EF4-FFF2-40B4-BE49-F238E27FC236}">
                  <a16:creationId xmlns:a16="http://schemas.microsoft.com/office/drawing/2014/main" id="{30DC0F20-AB92-E37A-8117-8D89A2A19BEC}"/>
                </a:ext>
              </a:extLst>
            </p:cNvPr>
            <p:cNvSpPr txBox="1"/>
            <p:nvPr/>
          </p:nvSpPr>
          <p:spPr>
            <a:xfrm>
              <a:off x="9727148" y="3578948"/>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p:txBody>
        </p:sp>
        <p:sp>
          <p:nvSpPr>
            <p:cNvPr id="30" name="TextBox 29">
              <a:extLst>
                <a:ext uri="{FF2B5EF4-FFF2-40B4-BE49-F238E27FC236}">
                  <a16:creationId xmlns:a16="http://schemas.microsoft.com/office/drawing/2014/main" id="{F061DC1A-42D3-A458-C9D2-D8045127B82A}"/>
                </a:ext>
              </a:extLst>
            </p:cNvPr>
            <p:cNvSpPr txBox="1"/>
            <p:nvPr/>
          </p:nvSpPr>
          <p:spPr>
            <a:xfrm>
              <a:off x="10339527" y="382416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p:txBody>
        </p:sp>
        <p:sp>
          <p:nvSpPr>
            <p:cNvPr id="31" name="TextBox 30">
              <a:extLst>
                <a:ext uri="{FF2B5EF4-FFF2-40B4-BE49-F238E27FC236}">
                  <a16:creationId xmlns:a16="http://schemas.microsoft.com/office/drawing/2014/main" id="{5801DD49-1A1B-4CB5-11B9-391C36E82C14}"/>
                </a:ext>
              </a:extLst>
            </p:cNvPr>
            <p:cNvSpPr txBox="1"/>
            <p:nvPr/>
          </p:nvSpPr>
          <p:spPr>
            <a:xfrm>
              <a:off x="9753065" y="4179819"/>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p:txBody>
        </p:sp>
        <p:sp>
          <p:nvSpPr>
            <p:cNvPr id="32" name="TextBox 31">
              <a:extLst>
                <a:ext uri="{FF2B5EF4-FFF2-40B4-BE49-F238E27FC236}">
                  <a16:creationId xmlns:a16="http://schemas.microsoft.com/office/drawing/2014/main" id="{F7405E5F-8D49-114A-0E37-9DD08F797BDE}"/>
                </a:ext>
              </a:extLst>
            </p:cNvPr>
            <p:cNvSpPr txBox="1"/>
            <p:nvPr/>
          </p:nvSpPr>
          <p:spPr>
            <a:xfrm>
              <a:off x="10168167" y="4940996"/>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p:txBody>
        </p:sp>
      </p:grpSp>
      <p:graphicFrame>
        <p:nvGraphicFramePr>
          <p:cNvPr id="34" name="Table 38">
            <a:extLst>
              <a:ext uri="{FF2B5EF4-FFF2-40B4-BE49-F238E27FC236}">
                <a16:creationId xmlns:a16="http://schemas.microsoft.com/office/drawing/2014/main" id="{C705F137-B400-BE04-8846-7B34CF381E01}"/>
              </a:ext>
            </a:extLst>
          </p:cNvPr>
          <p:cNvGraphicFramePr>
            <a:graphicFrameLocks noGrp="1"/>
          </p:cNvGraphicFramePr>
          <p:nvPr>
            <p:extLst>
              <p:ext uri="{D42A27DB-BD31-4B8C-83A1-F6EECF244321}">
                <p14:modId xmlns:p14="http://schemas.microsoft.com/office/powerpoint/2010/main" val="3955678776"/>
              </p:ext>
            </p:extLst>
          </p:nvPr>
        </p:nvGraphicFramePr>
        <p:xfrm>
          <a:off x="4450080" y="3015657"/>
          <a:ext cx="3291840" cy="329184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1160791391"/>
                    </a:ext>
                  </a:extLst>
                </a:gridCol>
                <a:gridCol w="365760">
                  <a:extLst>
                    <a:ext uri="{9D8B030D-6E8A-4147-A177-3AD203B41FA5}">
                      <a16:colId xmlns:a16="http://schemas.microsoft.com/office/drawing/2014/main" val="3580078151"/>
                    </a:ext>
                  </a:extLst>
                </a:gridCol>
                <a:gridCol w="365760">
                  <a:extLst>
                    <a:ext uri="{9D8B030D-6E8A-4147-A177-3AD203B41FA5}">
                      <a16:colId xmlns:a16="http://schemas.microsoft.com/office/drawing/2014/main" val="3040861133"/>
                    </a:ext>
                  </a:extLst>
                </a:gridCol>
                <a:gridCol w="365760">
                  <a:extLst>
                    <a:ext uri="{9D8B030D-6E8A-4147-A177-3AD203B41FA5}">
                      <a16:colId xmlns:a16="http://schemas.microsoft.com/office/drawing/2014/main" val="3750205406"/>
                    </a:ext>
                  </a:extLst>
                </a:gridCol>
                <a:gridCol w="365760">
                  <a:extLst>
                    <a:ext uri="{9D8B030D-6E8A-4147-A177-3AD203B41FA5}">
                      <a16:colId xmlns:a16="http://schemas.microsoft.com/office/drawing/2014/main" val="137373489"/>
                    </a:ext>
                  </a:extLst>
                </a:gridCol>
                <a:gridCol w="365760">
                  <a:extLst>
                    <a:ext uri="{9D8B030D-6E8A-4147-A177-3AD203B41FA5}">
                      <a16:colId xmlns:a16="http://schemas.microsoft.com/office/drawing/2014/main" val="3559658997"/>
                    </a:ext>
                  </a:extLst>
                </a:gridCol>
                <a:gridCol w="365760">
                  <a:extLst>
                    <a:ext uri="{9D8B030D-6E8A-4147-A177-3AD203B41FA5}">
                      <a16:colId xmlns:a16="http://schemas.microsoft.com/office/drawing/2014/main" val="654325955"/>
                    </a:ext>
                  </a:extLst>
                </a:gridCol>
                <a:gridCol w="365760">
                  <a:extLst>
                    <a:ext uri="{9D8B030D-6E8A-4147-A177-3AD203B41FA5}">
                      <a16:colId xmlns:a16="http://schemas.microsoft.com/office/drawing/2014/main" val="340643525"/>
                    </a:ext>
                  </a:extLst>
                </a:gridCol>
                <a:gridCol w="365760">
                  <a:extLst>
                    <a:ext uri="{9D8B030D-6E8A-4147-A177-3AD203B41FA5}">
                      <a16:colId xmlns:a16="http://schemas.microsoft.com/office/drawing/2014/main" val="985285625"/>
                    </a:ext>
                  </a:extLst>
                </a:gridCol>
              </a:tblGrid>
              <a:tr h="355600">
                <a:tc>
                  <a:txBody>
                    <a:bodyPr/>
                    <a:lstStyle/>
                    <a:p>
                      <a:pPr algn="ctr"/>
                      <a:endParaRPr lang="fr-FR" dirty="0"/>
                    </a:p>
                  </a:txBody>
                  <a:tcPr>
                    <a:solidFill>
                      <a:schemeClr val="bg1"/>
                    </a:solidFill>
                  </a:tcPr>
                </a:tc>
                <a:tc>
                  <a:txBody>
                    <a:bodyPr/>
                    <a:lstStyle/>
                    <a:p>
                      <a:pPr algn="ctr"/>
                      <a:r>
                        <a:rPr lang="en-US" dirty="0">
                          <a:solidFill>
                            <a:schemeClr val="accent4">
                              <a:lumMod val="60000"/>
                              <a:lumOff val="40000"/>
                            </a:schemeClr>
                          </a:solidFill>
                        </a:rPr>
                        <a:t>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2</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3</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4</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5</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6</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7</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8</a:t>
                      </a:r>
                    </a:p>
                  </a:txBody>
                  <a:tcPr>
                    <a:solidFill>
                      <a:schemeClr val="tx1"/>
                    </a:solidFill>
                  </a:tcPr>
                </a:tc>
                <a:extLst>
                  <a:ext uri="{0D108BD9-81ED-4DB2-BD59-A6C34878D82A}">
                    <a16:rowId xmlns:a16="http://schemas.microsoft.com/office/drawing/2014/main" val="3337210578"/>
                  </a:ext>
                </a:extLst>
              </a:tr>
              <a:tr h="355600">
                <a:tc>
                  <a:txBody>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3</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113491038"/>
                  </a:ext>
                </a:extLst>
              </a:tr>
              <a:tr h="355600">
                <a:tc>
                  <a:txBody>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a:txBody>
                  <a:tcPr>
                    <a:solidFill>
                      <a:schemeClr val="tx1"/>
                    </a:solidFill>
                  </a:tcPr>
                </a:tc>
                <a:tc>
                  <a:txBody>
                    <a:bodyPr/>
                    <a:lstStyle/>
                    <a:p>
                      <a:pPr algn="ctr"/>
                      <a:r>
                        <a:rPr lang="en-US" dirty="0"/>
                        <a:t>3</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852759760"/>
                  </a:ext>
                </a:extLst>
              </a:tr>
              <a:tr h="355600">
                <a:tc>
                  <a:txBody>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492037244"/>
                  </a:ext>
                </a:extLst>
              </a:tr>
              <a:tr h="355600">
                <a:tc>
                  <a:txBody>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3594548446"/>
                  </a:ext>
                </a:extLst>
              </a:tr>
              <a:tr h="355600">
                <a:tc>
                  <a:txBody>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48068657"/>
                  </a:ext>
                </a:extLst>
              </a:tr>
              <a:tr h="355600">
                <a:tc>
                  <a:txBody>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1858898233"/>
                  </a:ext>
                </a:extLst>
              </a:tr>
              <a:tr h="355600">
                <a:tc>
                  <a:txBody>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extLst>
                  <a:ext uri="{0D108BD9-81ED-4DB2-BD59-A6C34878D82A}">
                    <a16:rowId xmlns:a16="http://schemas.microsoft.com/office/drawing/2014/main" val="1993533395"/>
                  </a:ext>
                </a:extLst>
              </a:tr>
              <a:tr h="355600">
                <a:tc>
                  <a:txBody>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extLst>
                  <a:ext uri="{0D108BD9-81ED-4DB2-BD59-A6C34878D82A}">
                    <a16:rowId xmlns:a16="http://schemas.microsoft.com/office/drawing/2014/main" val="3647899706"/>
                  </a:ext>
                </a:extLst>
              </a:tr>
            </a:tbl>
          </a:graphicData>
        </a:graphic>
      </p:graphicFrame>
      <p:graphicFrame>
        <p:nvGraphicFramePr>
          <p:cNvPr id="35" name="Table 4">
            <a:extLst>
              <a:ext uri="{FF2B5EF4-FFF2-40B4-BE49-F238E27FC236}">
                <a16:creationId xmlns:a16="http://schemas.microsoft.com/office/drawing/2014/main" id="{4F7A414E-C1DE-2C1E-F43F-0E9BC5247B18}"/>
              </a:ext>
            </a:extLst>
          </p:cNvPr>
          <p:cNvGraphicFramePr>
            <a:graphicFrameLocks noGrp="1"/>
          </p:cNvGraphicFramePr>
          <p:nvPr>
            <p:extLst>
              <p:ext uri="{D42A27DB-BD31-4B8C-83A1-F6EECF244321}">
                <p14:modId xmlns:p14="http://schemas.microsoft.com/office/powerpoint/2010/main" val="2007862889"/>
              </p:ext>
            </p:extLst>
          </p:nvPr>
        </p:nvGraphicFramePr>
        <p:xfrm>
          <a:off x="9058468" y="2240705"/>
          <a:ext cx="2551176" cy="4058920"/>
        </p:xfrm>
        <a:graphic>
          <a:graphicData uri="http://schemas.openxmlformats.org/drawingml/2006/table">
            <a:tbl>
              <a:tblPr firstRow="1" bandRow="1">
                <a:tableStyleId>{5C22544A-7EE6-4342-B048-85BDC9FD1C3A}</a:tableStyleId>
              </a:tblPr>
              <a:tblGrid>
                <a:gridCol w="850392">
                  <a:extLst>
                    <a:ext uri="{9D8B030D-6E8A-4147-A177-3AD203B41FA5}">
                      <a16:colId xmlns:a16="http://schemas.microsoft.com/office/drawing/2014/main" val="3633928271"/>
                    </a:ext>
                  </a:extLst>
                </a:gridCol>
                <a:gridCol w="850392">
                  <a:extLst>
                    <a:ext uri="{9D8B030D-6E8A-4147-A177-3AD203B41FA5}">
                      <a16:colId xmlns:a16="http://schemas.microsoft.com/office/drawing/2014/main" val="448717354"/>
                    </a:ext>
                  </a:extLst>
                </a:gridCol>
                <a:gridCol w="850392">
                  <a:extLst>
                    <a:ext uri="{9D8B030D-6E8A-4147-A177-3AD203B41FA5}">
                      <a16:colId xmlns:a16="http://schemas.microsoft.com/office/drawing/2014/main" val="4130169604"/>
                    </a:ext>
                  </a:extLst>
                </a:gridCol>
              </a:tblGrid>
              <a:tr h="370840">
                <a:tc>
                  <a:txBody>
                    <a:bodyPr/>
                    <a:lstStyle/>
                    <a:p>
                      <a:pPr algn="ctr"/>
                      <a:r>
                        <a:rPr lang="en-US" dirty="0">
                          <a:solidFill>
                            <a:schemeClr val="accent4">
                              <a:lumMod val="60000"/>
                              <a:lumOff val="40000"/>
                            </a:schemeClr>
                          </a:solidFill>
                        </a:rPr>
                        <a:t>ID 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ID 2</a:t>
                      </a:r>
                      <a:endParaRPr lang="fr-FR" dirty="0">
                        <a:solidFill>
                          <a:schemeClr val="accent4">
                            <a:lumMod val="60000"/>
                            <a:lumOff val="40000"/>
                          </a:schemeClr>
                        </a:solidFill>
                      </a:endParaRPr>
                    </a:p>
                  </a:txBody>
                  <a:tcPr>
                    <a:solidFill>
                      <a:schemeClr val="tx1"/>
                    </a:solidFill>
                  </a:tcPr>
                </a:tc>
                <a:tc>
                  <a:txBody>
                    <a:bodyPr/>
                    <a:lstStyle/>
                    <a:p>
                      <a:pPr algn="ctr"/>
                      <a:r>
                        <a:rPr lang="en-US" sz="1200" dirty="0">
                          <a:solidFill>
                            <a:schemeClr val="accent4">
                              <a:lumMod val="60000"/>
                              <a:lumOff val="40000"/>
                            </a:schemeClr>
                          </a:solidFill>
                        </a:rPr>
                        <a:t>Attribute</a:t>
                      </a:r>
                      <a:endParaRPr lang="fr-FR" sz="1200" dirty="0">
                        <a:solidFill>
                          <a:schemeClr val="accent4">
                            <a:lumMod val="60000"/>
                            <a:lumOff val="40000"/>
                          </a:schemeClr>
                        </a:solidFill>
                      </a:endParaRPr>
                    </a:p>
                  </a:txBody>
                  <a:tcPr anchor="ctr">
                    <a:solidFill>
                      <a:schemeClr val="tx1"/>
                    </a:solidFill>
                  </a:tcPr>
                </a:tc>
                <a:extLst>
                  <a:ext uri="{0D108BD9-81ED-4DB2-BD59-A6C34878D82A}">
                    <a16:rowId xmlns:a16="http://schemas.microsoft.com/office/drawing/2014/main" val="3390748688"/>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fr-FR" dirty="0"/>
                        <a:t>3</a:t>
                      </a:r>
                    </a:p>
                  </a:txBody>
                  <a:tcPr>
                    <a:solidFill>
                      <a:schemeClr val="bg1">
                        <a:lumMod val="95000"/>
                      </a:schemeClr>
                    </a:solidFill>
                  </a:tcPr>
                </a:tc>
                <a:extLst>
                  <a:ext uri="{0D108BD9-81ED-4DB2-BD59-A6C34878D82A}">
                    <a16:rowId xmlns:a16="http://schemas.microsoft.com/office/drawing/2014/main" val="551088812"/>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2745773553"/>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6</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3019948275"/>
                  </a:ext>
                </a:extLst>
              </a:tr>
              <a:tr h="370840">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1806561758"/>
                  </a:ext>
                </a:extLst>
              </a:tr>
              <a:tr h="370840">
                <a:tc>
                  <a:txBody>
                    <a:bodyPr/>
                    <a:lstStyle/>
                    <a:p>
                      <a:pPr algn="ctr"/>
                      <a:r>
                        <a:rPr lang="en-US" dirty="0"/>
                        <a:t>3</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2008170764"/>
                  </a:ext>
                </a:extLst>
              </a:tr>
              <a:tr h="370840">
                <a:tc>
                  <a:txBody>
                    <a:bodyPr/>
                    <a:lstStyle/>
                    <a:p>
                      <a:pPr algn="ctr"/>
                      <a:r>
                        <a:rPr lang="en-US" dirty="0"/>
                        <a:t>3</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2456207752"/>
                  </a:ext>
                </a:extLst>
              </a:tr>
              <a:tr h="0">
                <a:tc>
                  <a:txBody>
                    <a:bodyPr/>
                    <a:lstStyle/>
                    <a:p>
                      <a:pPr algn="ctr"/>
                      <a:r>
                        <a:rPr lang="en-US" dirty="0"/>
                        <a:t>5</a:t>
                      </a:r>
                      <a:endParaRPr lang="fr-FR" dirty="0"/>
                    </a:p>
                  </a:txBody>
                  <a:tcPr>
                    <a:solidFill>
                      <a:schemeClr val="bg1">
                        <a:lumMod val="95000"/>
                      </a:schemeClr>
                    </a:solidFill>
                  </a:tcPr>
                </a:tc>
                <a:tc>
                  <a:txBody>
                    <a:bodyPr/>
                    <a:lstStyle/>
                    <a:p>
                      <a:pPr algn="ctr"/>
                      <a:r>
                        <a:rPr lang="en-US" dirty="0"/>
                        <a:t>6</a:t>
                      </a:r>
                      <a:endParaRPr lang="fr-FR" dirty="0"/>
                    </a:p>
                  </a:txBody>
                  <a:tcPr>
                    <a:solidFill>
                      <a:schemeClr val="bg1">
                        <a:lumMod val="95000"/>
                      </a:schemeClr>
                    </a:solidFill>
                  </a:tcPr>
                </a:tc>
                <a:tc>
                  <a:txBody>
                    <a:bodyPr/>
                    <a:lstStyle/>
                    <a:p>
                      <a:pPr algn="ctr"/>
                      <a:r>
                        <a:rPr lang="fr-FR" dirty="0"/>
                        <a:t>2</a:t>
                      </a:r>
                    </a:p>
                  </a:txBody>
                  <a:tcPr>
                    <a:solidFill>
                      <a:schemeClr val="bg1">
                        <a:lumMod val="95000"/>
                      </a:schemeClr>
                    </a:solidFill>
                  </a:tcPr>
                </a:tc>
                <a:extLst>
                  <a:ext uri="{0D108BD9-81ED-4DB2-BD59-A6C34878D82A}">
                    <a16:rowId xmlns:a16="http://schemas.microsoft.com/office/drawing/2014/main" val="440282349"/>
                  </a:ext>
                </a:extLst>
              </a:tr>
              <a:tr h="273050">
                <a:tc>
                  <a:txBody>
                    <a:bodyPr/>
                    <a:lstStyle/>
                    <a:p>
                      <a:pPr algn="ctr"/>
                      <a:r>
                        <a:rPr lang="en-US" dirty="0"/>
                        <a:t>5</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tc>
                  <a:txBody>
                    <a:bodyPr/>
                    <a:lstStyle/>
                    <a:p>
                      <a:pPr algn="ctr"/>
                      <a:r>
                        <a:rPr lang="fr-FR" dirty="0"/>
                        <a:t>2</a:t>
                      </a:r>
                    </a:p>
                  </a:txBody>
                  <a:tcPr>
                    <a:solidFill>
                      <a:schemeClr val="bg1">
                        <a:lumMod val="95000"/>
                      </a:schemeClr>
                    </a:solidFill>
                  </a:tcPr>
                </a:tc>
                <a:extLst>
                  <a:ext uri="{0D108BD9-81ED-4DB2-BD59-A6C34878D82A}">
                    <a16:rowId xmlns:a16="http://schemas.microsoft.com/office/drawing/2014/main" val="1697648120"/>
                  </a:ext>
                </a:extLst>
              </a:tr>
              <a:tr h="180340">
                <a:tc>
                  <a:txBody>
                    <a:bodyPr/>
                    <a:lstStyle/>
                    <a:p>
                      <a:pPr algn="ctr"/>
                      <a:r>
                        <a:rPr lang="en-US" dirty="0"/>
                        <a:t>6</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tc>
                  <a:txBody>
                    <a:bodyPr/>
                    <a:lstStyle/>
                    <a:p>
                      <a:pPr algn="ctr"/>
                      <a:r>
                        <a:rPr lang="fr-FR" dirty="0"/>
                        <a:t>2</a:t>
                      </a:r>
                    </a:p>
                  </a:txBody>
                  <a:tcPr>
                    <a:solidFill>
                      <a:schemeClr val="bg1">
                        <a:lumMod val="95000"/>
                      </a:schemeClr>
                    </a:solidFill>
                  </a:tcPr>
                </a:tc>
                <a:extLst>
                  <a:ext uri="{0D108BD9-81ED-4DB2-BD59-A6C34878D82A}">
                    <a16:rowId xmlns:a16="http://schemas.microsoft.com/office/drawing/2014/main" val="1414656967"/>
                  </a:ext>
                </a:extLst>
              </a:tr>
              <a:tr h="0">
                <a:tc>
                  <a:txBody>
                    <a:bodyPr/>
                    <a:lstStyle/>
                    <a:p>
                      <a:pPr algn="ctr"/>
                      <a:r>
                        <a:rPr lang="en-US" dirty="0"/>
                        <a:t>7</a:t>
                      </a:r>
                      <a:endParaRPr lang="fr-FR" dirty="0"/>
                    </a:p>
                  </a:txBody>
                  <a:tcPr>
                    <a:solidFill>
                      <a:schemeClr val="bg1">
                        <a:lumMod val="95000"/>
                      </a:schemeClr>
                    </a:solidFill>
                  </a:tcPr>
                </a:tc>
                <a:tc>
                  <a:txBody>
                    <a:bodyPr/>
                    <a:lstStyle/>
                    <a:p>
                      <a:pPr algn="ctr"/>
                      <a:r>
                        <a:rPr lang="en-US" dirty="0"/>
                        <a:t>8</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3617806729"/>
                  </a:ext>
                </a:extLst>
              </a:tr>
            </a:tbl>
          </a:graphicData>
        </a:graphic>
      </p:graphicFrame>
      <p:sp>
        <p:nvSpPr>
          <p:cNvPr id="36" name="Rectangle 35">
            <a:extLst>
              <a:ext uri="{FF2B5EF4-FFF2-40B4-BE49-F238E27FC236}">
                <a16:creationId xmlns:a16="http://schemas.microsoft.com/office/drawing/2014/main" id="{8BE6E6E8-6428-7C87-2CF1-DD05A64A0A93}"/>
              </a:ext>
            </a:extLst>
          </p:cNvPr>
          <p:cNvSpPr/>
          <p:nvPr/>
        </p:nvSpPr>
        <p:spPr>
          <a:xfrm>
            <a:off x="4820092" y="3379800"/>
            <a:ext cx="2923455" cy="369332"/>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FD9031FE-E584-6052-DD34-9DCF67670049}"/>
              </a:ext>
            </a:extLst>
          </p:cNvPr>
          <p:cNvSpPr/>
          <p:nvPr/>
        </p:nvSpPr>
        <p:spPr>
          <a:xfrm rot="5400000">
            <a:off x="3532203" y="4656862"/>
            <a:ext cx="2923455" cy="369332"/>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37">
            <a:extLst>
              <a:ext uri="{FF2B5EF4-FFF2-40B4-BE49-F238E27FC236}">
                <a16:creationId xmlns:a16="http://schemas.microsoft.com/office/drawing/2014/main" id="{E43D540D-887B-7140-1D8D-C8AE81525FFA}"/>
              </a:ext>
            </a:extLst>
          </p:cNvPr>
          <p:cNvSpPr/>
          <p:nvPr/>
        </p:nvSpPr>
        <p:spPr>
          <a:xfrm>
            <a:off x="9080067" y="2594314"/>
            <a:ext cx="2529577" cy="1102849"/>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86677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6EF36BB0-F01D-5E1C-8F31-D358137DB7D9}"/>
              </a:ext>
            </a:extLst>
          </p:cNvPr>
          <p:cNvSpPr txBox="1"/>
          <p:nvPr/>
        </p:nvSpPr>
        <p:spPr>
          <a:xfrm>
            <a:off x="442948" y="1572173"/>
            <a:ext cx="11449134" cy="400110"/>
          </a:xfrm>
          <a:prstGeom prst="rect">
            <a:avLst/>
          </a:prstGeom>
          <a:noFill/>
        </p:spPr>
        <p:txBody>
          <a:bodyPr wrap="square" rtlCol="0">
            <a:spAutoFit/>
          </a:bodyPr>
          <a:lstStyle/>
          <a:p>
            <a:r>
              <a:rPr lang="en-US" sz="2000" dirty="0"/>
              <a:t>There are lots of different ways to weight social network edges</a:t>
            </a:r>
          </a:p>
        </p:txBody>
      </p:sp>
      <p:sp>
        <p:nvSpPr>
          <p:cNvPr id="5" name="TextBox 4">
            <a:extLst>
              <a:ext uri="{FF2B5EF4-FFF2-40B4-BE49-F238E27FC236}">
                <a16:creationId xmlns:a16="http://schemas.microsoft.com/office/drawing/2014/main" id="{79A2D3AA-7B96-9F7F-6E69-48C8A9948F01}"/>
              </a:ext>
            </a:extLst>
          </p:cNvPr>
          <p:cNvSpPr txBox="1"/>
          <p:nvPr/>
        </p:nvSpPr>
        <p:spPr>
          <a:xfrm>
            <a:off x="442948" y="2319919"/>
            <a:ext cx="11449134" cy="707886"/>
          </a:xfrm>
          <a:prstGeom prst="rect">
            <a:avLst/>
          </a:prstGeom>
          <a:noFill/>
        </p:spPr>
        <p:txBody>
          <a:bodyPr wrap="square" rtlCol="0">
            <a:spAutoFit/>
          </a:bodyPr>
          <a:lstStyle/>
          <a:p>
            <a:pPr marL="457200" indent="-457200">
              <a:buAutoNum type="arabicPeriod"/>
            </a:pPr>
            <a:r>
              <a:rPr lang="en-US" sz="2000" b="1" dirty="0"/>
              <a:t>Counts of associations/interactions</a:t>
            </a:r>
          </a:p>
          <a:p>
            <a:pPr marL="457200" indent="-457200">
              <a:buAutoNum type="arabicPeriod"/>
            </a:pPr>
            <a:endParaRPr lang="en-US" sz="2000" b="1" dirty="0"/>
          </a:p>
        </p:txBody>
      </p:sp>
      <p:sp>
        <p:nvSpPr>
          <p:cNvPr id="8" name="TextBox 7">
            <a:extLst>
              <a:ext uri="{FF2B5EF4-FFF2-40B4-BE49-F238E27FC236}">
                <a16:creationId xmlns:a16="http://schemas.microsoft.com/office/drawing/2014/main" id="{F1D0B1BA-DB48-40AC-C6F7-448CBB3791B1}"/>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Static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4240045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6EF36BB0-F01D-5E1C-8F31-D358137DB7D9}"/>
              </a:ext>
            </a:extLst>
          </p:cNvPr>
          <p:cNvSpPr txBox="1"/>
          <p:nvPr/>
        </p:nvSpPr>
        <p:spPr>
          <a:xfrm>
            <a:off x="442948" y="1572173"/>
            <a:ext cx="11449134" cy="400110"/>
          </a:xfrm>
          <a:prstGeom prst="rect">
            <a:avLst/>
          </a:prstGeom>
          <a:noFill/>
        </p:spPr>
        <p:txBody>
          <a:bodyPr wrap="square" rtlCol="0">
            <a:spAutoFit/>
          </a:bodyPr>
          <a:lstStyle/>
          <a:p>
            <a:r>
              <a:rPr lang="en-US" sz="2000" dirty="0"/>
              <a:t>There are lots of different ways to weight social network edges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9A2D3AA-7B96-9F7F-6E69-48C8A9948F01}"/>
                  </a:ext>
                </a:extLst>
              </p:cNvPr>
              <p:cNvSpPr txBox="1"/>
              <p:nvPr/>
            </p:nvSpPr>
            <p:spPr>
              <a:xfrm>
                <a:off x="442948" y="2319919"/>
                <a:ext cx="11449134" cy="1464953"/>
              </a:xfrm>
              <a:prstGeom prst="rect">
                <a:avLst/>
              </a:prstGeom>
              <a:noFill/>
            </p:spPr>
            <p:txBody>
              <a:bodyPr wrap="square" rtlCol="0">
                <a:spAutoFit/>
              </a:bodyPr>
              <a:lstStyle/>
              <a:p>
                <a:pPr marL="457200" indent="-457200">
                  <a:buAutoNum type="arabicPeriod"/>
                </a:pPr>
                <a:r>
                  <a:rPr lang="en-US" sz="2000" b="1" dirty="0"/>
                  <a:t>Counts of associations/interactions</a:t>
                </a:r>
              </a:p>
              <a:p>
                <a:pPr marL="457200" indent="-457200">
                  <a:buAutoNum type="arabicPeriod"/>
                </a:pPr>
                <a:endParaRPr lang="en-US" sz="2000" b="1" dirty="0"/>
              </a:p>
              <a:p>
                <a:pPr marL="457200" indent="-457200">
                  <a:buAutoNum type="arabicPeriod"/>
                </a:pPr>
                <a:r>
                  <a:rPr lang="en-US" sz="2000" b="1" dirty="0"/>
                  <a:t>Corrected counts of interactions   </a:t>
                </a:r>
                <a14:m>
                  <m:oMath xmlns:m="http://schemas.openxmlformats.org/officeDocument/2006/math">
                    <m:r>
                      <a:rPr lang="en-US" sz="2000" b="1" i="1" smtClean="0">
                        <a:latin typeface="Cambria Math" panose="02040503050406030204" pitchFamily="18" charset="0"/>
                      </a:rPr>
                      <m:t>𝑬𝒅𝒈𝒆</m:t>
                    </m:r>
                    <m:r>
                      <a:rPr lang="en-US" sz="2000" b="1" i="1" smtClean="0">
                        <a:latin typeface="Cambria Math" panose="02040503050406030204" pitchFamily="18" charset="0"/>
                      </a:rPr>
                      <m:t> </m:t>
                    </m:r>
                    <m:r>
                      <a:rPr lang="en-US" sz="2000" b="1" i="1" smtClean="0">
                        <a:latin typeface="Cambria Math" panose="02040503050406030204" pitchFamily="18" charset="0"/>
                      </a:rPr>
                      <m:t>𝒘𝒆𝒊𝒈𝒉𝒕</m:t>
                    </m:r>
                    <m:r>
                      <a:rPr lang="en-US" sz="2000" b="1" i="1" smtClean="0">
                        <a:latin typeface="Cambria Math" panose="02040503050406030204" pitchFamily="18" charset="0"/>
                      </a:rPr>
                      <m:t>= </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𝒕𝒊𝒎𝒆𝒔</m:t>
                        </m:r>
                        <m:r>
                          <a:rPr lang="en-US" sz="2000" b="1" i="1" smtClean="0">
                            <a:latin typeface="Cambria Math" panose="02040503050406030204" pitchFamily="18" charset="0"/>
                          </a:rPr>
                          <m:t> </m:t>
                        </m:r>
                        <m:r>
                          <a:rPr lang="en-US" sz="2000" b="1" i="1" smtClean="0">
                            <a:latin typeface="Cambria Math" panose="02040503050406030204" pitchFamily="18" charset="0"/>
                          </a:rPr>
                          <m:t>𝒐𝒃𝒔𝒆𝒓𝒗𝒆𝒅</m:t>
                        </m:r>
                        <m:r>
                          <a:rPr lang="en-US" sz="2000" b="1" i="1" smtClean="0">
                            <a:latin typeface="Cambria Math" panose="02040503050406030204" pitchFamily="18" charset="0"/>
                          </a:rPr>
                          <m:t> </m:t>
                        </m:r>
                        <m:r>
                          <a:rPr lang="en-US" sz="2000" b="1" i="1" smtClean="0">
                            <a:latin typeface="Cambria Math" panose="02040503050406030204" pitchFamily="18" charset="0"/>
                          </a:rPr>
                          <m:t>𝒊𝒏𝒕𝒆𝒓𝒂𝒄𝒕𝒊𝒏𝒈</m:t>
                        </m:r>
                      </m:num>
                      <m:den>
                        <m:r>
                          <a:rPr lang="en-US" sz="2000" b="1" i="1" smtClean="0">
                            <a:latin typeface="Cambria Math" panose="02040503050406030204" pitchFamily="18" charset="0"/>
                          </a:rPr>
                          <m:t>𝒕𝒐𝒕𝒂𝒍</m:t>
                        </m:r>
                        <m:r>
                          <a:rPr lang="en-US" sz="2000" b="1" i="1" smtClean="0">
                            <a:latin typeface="Cambria Math" panose="02040503050406030204" pitchFamily="18" charset="0"/>
                          </a:rPr>
                          <m:t> </m:t>
                        </m:r>
                        <m:r>
                          <a:rPr lang="en-US" sz="2000" b="1" i="1" smtClean="0">
                            <a:latin typeface="Cambria Math" panose="02040503050406030204" pitchFamily="18" charset="0"/>
                          </a:rPr>
                          <m:t>𝒕𝒊𝒎𝒆</m:t>
                        </m:r>
                        <m:r>
                          <a:rPr lang="en-US" sz="2000" b="1" i="1" smtClean="0">
                            <a:latin typeface="Cambria Math" panose="02040503050406030204" pitchFamily="18" charset="0"/>
                          </a:rPr>
                          <m:t> </m:t>
                        </m:r>
                        <m:r>
                          <a:rPr lang="en-US" sz="2000" b="1" i="1" smtClean="0">
                            <a:latin typeface="Cambria Math" panose="02040503050406030204" pitchFamily="18" charset="0"/>
                          </a:rPr>
                          <m:t>𝒐𝒃𝒔𝒆𝒓𝒗𝒆𝒅</m:t>
                        </m:r>
                      </m:den>
                    </m:f>
                  </m:oMath>
                </a14:m>
                <a:endParaRPr lang="en-US" sz="2000" b="1" dirty="0"/>
              </a:p>
              <a:p>
                <a:pPr marL="457200" indent="-457200">
                  <a:buAutoNum type="arabicPeriod"/>
                </a:pPr>
                <a:endParaRPr lang="en-US" sz="2000" b="1" dirty="0"/>
              </a:p>
            </p:txBody>
          </p:sp>
        </mc:Choice>
        <mc:Fallback xmlns="">
          <p:sp>
            <p:nvSpPr>
              <p:cNvPr id="5" name="TextBox 4">
                <a:extLst>
                  <a:ext uri="{FF2B5EF4-FFF2-40B4-BE49-F238E27FC236}">
                    <a16:creationId xmlns:a16="http://schemas.microsoft.com/office/drawing/2014/main" id="{79A2D3AA-7B96-9F7F-6E69-48C8A9948F01}"/>
                  </a:ext>
                </a:extLst>
              </p:cNvPr>
              <p:cNvSpPr txBox="1">
                <a:spLocks noRot="1" noChangeAspect="1" noMove="1" noResize="1" noEditPoints="1" noAdjustHandles="1" noChangeArrowheads="1" noChangeShapeType="1" noTextEdit="1"/>
              </p:cNvSpPr>
              <p:nvPr/>
            </p:nvSpPr>
            <p:spPr>
              <a:xfrm>
                <a:off x="442948" y="2319919"/>
                <a:ext cx="11449134" cy="1464953"/>
              </a:xfrm>
              <a:prstGeom prst="rect">
                <a:avLst/>
              </a:prstGeom>
              <a:blipFill>
                <a:blip r:embed="rId3"/>
                <a:stretch>
                  <a:fillRect l="-586" t="-2917"/>
                </a:stretch>
              </a:blipFill>
            </p:spPr>
            <p:txBody>
              <a:bodyPr/>
              <a:lstStyle/>
              <a:p>
                <a:r>
                  <a:rPr lang="en-CA">
                    <a:noFill/>
                  </a:rPr>
                  <a:t> </a:t>
                </a:r>
              </a:p>
            </p:txBody>
          </p:sp>
        </mc:Fallback>
      </mc:AlternateContent>
      <p:sp>
        <p:nvSpPr>
          <p:cNvPr id="8" name="TextBox 7">
            <a:extLst>
              <a:ext uri="{FF2B5EF4-FFF2-40B4-BE49-F238E27FC236}">
                <a16:creationId xmlns:a16="http://schemas.microsoft.com/office/drawing/2014/main" id="{AD556244-57EA-3F2A-899C-B38396D91C71}"/>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Static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1398552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E334549-1AAC-949D-B9D2-2E4C70641AF2}"/>
              </a:ext>
            </a:extLst>
          </p:cNvPr>
          <p:cNvSpPr/>
          <p:nvPr/>
        </p:nvSpPr>
        <p:spPr>
          <a:xfrm>
            <a:off x="2425234" y="4595811"/>
            <a:ext cx="254736" cy="199731"/>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AE53B2AC-765C-1F29-2D4E-61A922F5E821}"/>
              </a:ext>
            </a:extLst>
          </p:cNvPr>
          <p:cNvSpPr/>
          <p:nvPr/>
        </p:nvSpPr>
        <p:spPr>
          <a:xfrm>
            <a:off x="2752734" y="4319580"/>
            <a:ext cx="214313" cy="199731"/>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336CD885-3982-865C-DAD3-F9D60A37CB87}"/>
              </a:ext>
            </a:extLst>
          </p:cNvPr>
          <p:cNvSpPr/>
          <p:nvPr/>
        </p:nvSpPr>
        <p:spPr>
          <a:xfrm>
            <a:off x="2162175" y="4595812"/>
            <a:ext cx="214313" cy="199731"/>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6EF36BB0-F01D-5E1C-8F31-D358137DB7D9}"/>
              </a:ext>
            </a:extLst>
          </p:cNvPr>
          <p:cNvSpPr txBox="1"/>
          <p:nvPr/>
        </p:nvSpPr>
        <p:spPr>
          <a:xfrm>
            <a:off x="442948" y="1572173"/>
            <a:ext cx="11449134" cy="400110"/>
          </a:xfrm>
          <a:prstGeom prst="rect">
            <a:avLst/>
          </a:prstGeom>
          <a:noFill/>
        </p:spPr>
        <p:txBody>
          <a:bodyPr wrap="square" rtlCol="0">
            <a:spAutoFit/>
          </a:bodyPr>
          <a:lstStyle/>
          <a:p>
            <a:r>
              <a:rPr lang="en-US" sz="2000" dirty="0"/>
              <a:t>There are lots of different ways to weight social network edges</a:t>
            </a:r>
          </a:p>
        </p:txBody>
      </p:sp>
      <p:sp>
        <p:nvSpPr>
          <p:cNvPr id="40" name="TextBox 39">
            <a:extLst>
              <a:ext uri="{FF2B5EF4-FFF2-40B4-BE49-F238E27FC236}">
                <a16:creationId xmlns:a16="http://schemas.microsoft.com/office/drawing/2014/main" id="{3EF41B58-89F1-D547-D307-5FF57DBE0968}"/>
              </a:ext>
            </a:extLst>
          </p:cNvPr>
          <p:cNvSpPr txBox="1"/>
          <p:nvPr/>
        </p:nvSpPr>
        <p:spPr>
          <a:xfrm>
            <a:off x="7173636" y="4008714"/>
            <a:ext cx="4718446" cy="646331"/>
          </a:xfrm>
          <a:prstGeom prst="rect">
            <a:avLst/>
          </a:prstGeom>
          <a:solidFill>
            <a:schemeClr val="accent1">
              <a:lumMod val="40000"/>
              <a:lumOff val="60000"/>
            </a:schemeClr>
          </a:solidFill>
        </p:spPr>
        <p:txBody>
          <a:bodyPr wrap="square">
            <a:spAutoFit/>
          </a:bodyPr>
          <a:lstStyle/>
          <a:p>
            <a:r>
              <a:rPr lang="en-CA" b="1" dirty="0"/>
              <a:t>Lots of variations which are described here: </a:t>
            </a:r>
            <a:r>
              <a:rPr lang="en-CA" b="1" dirty="0">
                <a:hlinkClick r:id="rId3"/>
              </a:rPr>
              <a:t>https://doi.org/10.1016/j.anbehav.2017.08.029</a:t>
            </a:r>
            <a:r>
              <a:rPr lang="en-CA" b="1" dirty="0"/>
              <a:t> </a:t>
            </a:r>
          </a:p>
        </p:txBody>
      </p:sp>
      <p:sp>
        <p:nvSpPr>
          <p:cNvPr id="7" name="TextBox 6">
            <a:extLst>
              <a:ext uri="{FF2B5EF4-FFF2-40B4-BE49-F238E27FC236}">
                <a16:creationId xmlns:a16="http://schemas.microsoft.com/office/drawing/2014/main" id="{7547A47F-F0AE-FC96-2056-158A7DE4B985}"/>
              </a:ext>
            </a:extLst>
          </p:cNvPr>
          <p:cNvSpPr txBox="1"/>
          <p:nvPr/>
        </p:nvSpPr>
        <p:spPr>
          <a:xfrm>
            <a:off x="152430" y="5152705"/>
            <a:ext cx="1585877" cy="738664"/>
          </a:xfrm>
          <a:prstGeom prst="rect">
            <a:avLst/>
          </a:prstGeom>
          <a:solidFill>
            <a:schemeClr val="accent6">
              <a:lumMod val="40000"/>
              <a:lumOff val="60000"/>
            </a:schemeClr>
          </a:solidFill>
        </p:spPr>
        <p:txBody>
          <a:bodyPr wrap="square" rtlCol="0">
            <a:spAutoFit/>
          </a:bodyPr>
          <a:lstStyle/>
          <a:p>
            <a:r>
              <a:rPr lang="en-US" sz="1400" b="1" dirty="0"/>
              <a:t>Number of times A and B observed together</a:t>
            </a:r>
            <a:endParaRPr lang="en-CA" sz="1400" b="1" dirty="0"/>
          </a:p>
        </p:txBody>
      </p:sp>
      <p:sp>
        <p:nvSpPr>
          <p:cNvPr id="8" name="TextBox 7">
            <a:extLst>
              <a:ext uri="{FF2B5EF4-FFF2-40B4-BE49-F238E27FC236}">
                <a16:creationId xmlns:a16="http://schemas.microsoft.com/office/drawing/2014/main" id="{229EB7E9-18B9-782B-E97F-5AA358458D79}"/>
              </a:ext>
            </a:extLst>
          </p:cNvPr>
          <p:cNvSpPr txBox="1"/>
          <p:nvPr/>
        </p:nvSpPr>
        <p:spPr>
          <a:xfrm>
            <a:off x="1819306" y="5152705"/>
            <a:ext cx="1062002" cy="738664"/>
          </a:xfrm>
          <a:prstGeom prst="rect">
            <a:avLst/>
          </a:prstGeom>
          <a:solidFill>
            <a:schemeClr val="accent4">
              <a:lumMod val="40000"/>
              <a:lumOff val="60000"/>
            </a:schemeClr>
          </a:solidFill>
        </p:spPr>
        <p:txBody>
          <a:bodyPr wrap="square" rtlCol="0">
            <a:spAutoFit/>
          </a:bodyPr>
          <a:lstStyle/>
          <a:p>
            <a:r>
              <a:rPr lang="en-US" sz="1400" b="1" dirty="0"/>
              <a:t>Number of times just A observed</a:t>
            </a:r>
            <a:endParaRPr lang="en-CA" sz="1400" b="1" dirty="0"/>
          </a:p>
        </p:txBody>
      </p:sp>
      <p:sp>
        <p:nvSpPr>
          <p:cNvPr id="9" name="TextBox 8">
            <a:extLst>
              <a:ext uri="{FF2B5EF4-FFF2-40B4-BE49-F238E27FC236}">
                <a16:creationId xmlns:a16="http://schemas.microsoft.com/office/drawing/2014/main" id="{1896FD11-59BA-428C-D052-4B2E569F016D}"/>
              </a:ext>
            </a:extLst>
          </p:cNvPr>
          <p:cNvSpPr txBox="1"/>
          <p:nvPr/>
        </p:nvSpPr>
        <p:spPr>
          <a:xfrm>
            <a:off x="2962307" y="5152705"/>
            <a:ext cx="1062002" cy="738664"/>
          </a:xfrm>
          <a:prstGeom prst="rect">
            <a:avLst/>
          </a:prstGeom>
          <a:solidFill>
            <a:schemeClr val="accent2">
              <a:lumMod val="40000"/>
              <a:lumOff val="60000"/>
            </a:schemeClr>
          </a:solidFill>
        </p:spPr>
        <p:txBody>
          <a:bodyPr wrap="square" rtlCol="0">
            <a:spAutoFit/>
          </a:bodyPr>
          <a:lstStyle/>
          <a:p>
            <a:r>
              <a:rPr lang="en-US" sz="1400" b="1" dirty="0"/>
              <a:t>Number of times just B observed</a:t>
            </a:r>
            <a:endParaRPr lang="en-CA" sz="1400" b="1" dirty="0"/>
          </a:p>
        </p:txBody>
      </p:sp>
      <p:sp>
        <p:nvSpPr>
          <p:cNvPr id="10" name="TextBox 9">
            <a:extLst>
              <a:ext uri="{FF2B5EF4-FFF2-40B4-BE49-F238E27FC236}">
                <a16:creationId xmlns:a16="http://schemas.microsoft.com/office/drawing/2014/main" id="{F347047F-233C-5E15-334A-6FF7BFF25272}"/>
              </a:ext>
            </a:extLst>
          </p:cNvPr>
          <p:cNvSpPr txBox="1"/>
          <p:nvPr/>
        </p:nvSpPr>
        <p:spPr>
          <a:xfrm>
            <a:off x="4105308" y="5152705"/>
            <a:ext cx="1485862" cy="738664"/>
          </a:xfrm>
          <a:prstGeom prst="rect">
            <a:avLst/>
          </a:prstGeom>
          <a:solidFill>
            <a:schemeClr val="tx2">
              <a:lumMod val="40000"/>
              <a:lumOff val="60000"/>
            </a:schemeClr>
          </a:solidFill>
        </p:spPr>
        <p:txBody>
          <a:bodyPr wrap="square" rtlCol="0">
            <a:spAutoFit/>
          </a:bodyPr>
          <a:lstStyle/>
          <a:p>
            <a:r>
              <a:rPr lang="en-US" sz="1400" b="1" dirty="0"/>
              <a:t>Number of times A and B observed separately</a:t>
            </a:r>
            <a:endParaRPr lang="en-CA" sz="1400" b="1" dirty="0"/>
          </a:p>
        </p:txBody>
      </p:sp>
      <p:sp>
        <p:nvSpPr>
          <p:cNvPr id="14" name="Rectangle 13">
            <a:extLst>
              <a:ext uri="{FF2B5EF4-FFF2-40B4-BE49-F238E27FC236}">
                <a16:creationId xmlns:a16="http://schemas.microsoft.com/office/drawing/2014/main" id="{9E8E206B-D6B4-DBC3-84C4-08AB60758DE9}"/>
              </a:ext>
            </a:extLst>
          </p:cNvPr>
          <p:cNvSpPr/>
          <p:nvPr/>
        </p:nvSpPr>
        <p:spPr>
          <a:xfrm>
            <a:off x="2788400" y="4595810"/>
            <a:ext cx="254736" cy="19973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14">
            <a:extLst>
              <a:ext uri="{FF2B5EF4-FFF2-40B4-BE49-F238E27FC236}">
                <a16:creationId xmlns:a16="http://schemas.microsoft.com/office/drawing/2014/main" id="{0A18E828-20E4-CAB2-8406-0573093AC619}"/>
              </a:ext>
            </a:extLst>
          </p:cNvPr>
          <p:cNvSpPr/>
          <p:nvPr/>
        </p:nvSpPr>
        <p:spPr>
          <a:xfrm>
            <a:off x="3172643" y="4605338"/>
            <a:ext cx="356876" cy="199731"/>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9A2D3AA-7B96-9F7F-6E69-48C8A9948F01}"/>
                  </a:ext>
                </a:extLst>
              </p:cNvPr>
              <p:cNvSpPr txBox="1"/>
              <p:nvPr/>
            </p:nvSpPr>
            <p:spPr>
              <a:xfrm>
                <a:off x="442948" y="2319919"/>
                <a:ext cx="11449134" cy="2837252"/>
              </a:xfrm>
              <a:prstGeom prst="rect">
                <a:avLst/>
              </a:prstGeom>
              <a:noFill/>
            </p:spPr>
            <p:txBody>
              <a:bodyPr wrap="square" rtlCol="0">
                <a:spAutoFit/>
              </a:bodyPr>
              <a:lstStyle/>
              <a:p>
                <a:pPr marL="457200" indent="-457200">
                  <a:buAutoNum type="arabicPeriod"/>
                </a:pPr>
                <a:r>
                  <a:rPr lang="en-US" sz="2000" b="1" dirty="0"/>
                  <a:t>Counts of associations/interactions</a:t>
                </a:r>
              </a:p>
              <a:p>
                <a:pPr marL="457200" indent="-457200">
                  <a:buAutoNum type="arabicPeriod"/>
                </a:pPr>
                <a:endParaRPr lang="en-US" sz="2000" b="1" dirty="0"/>
              </a:p>
              <a:p>
                <a:pPr marL="457200" indent="-457200">
                  <a:buAutoNum type="arabicPeriod"/>
                </a:pPr>
                <a:r>
                  <a:rPr lang="en-US" sz="2000" b="1" dirty="0"/>
                  <a:t>Corrected counts of interactions   </a:t>
                </a:r>
                <a14:m>
                  <m:oMath xmlns:m="http://schemas.openxmlformats.org/officeDocument/2006/math">
                    <m:r>
                      <a:rPr lang="en-US" sz="2000" b="1" i="1" smtClean="0">
                        <a:latin typeface="Cambria Math" panose="02040503050406030204" pitchFamily="18" charset="0"/>
                      </a:rPr>
                      <m:t>𝑬𝒅𝒈𝒆</m:t>
                    </m:r>
                    <m:r>
                      <a:rPr lang="en-US" sz="2000" b="1" i="1" smtClean="0">
                        <a:latin typeface="Cambria Math" panose="02040503050406030204" pitchFamily="18" charset="0"/>
                      </a:rPr>
                      <m:t> </m:t>
                    </m:r>
                    <m:r>
                      <a:rPr lang="en-US" sz="2000" b="1" i="1" smtClean="0">
                        <a:latin typeface="Cambria Math" panose="02040503050406030204" pitchFamily="18" charset="0"/>
                      </a:rPr>
                      <m:t>𝒘𝒆𝒊𝒈𝒉𝒕</m:t>
                    </m:r>
                    <m:r>
                      <a:rPr lang="en-US" sz="2000" b="1" i="1" smtClean="0">
                        <a:latin typeface="Cambria Math" panose="02040503050406030204" pitchFamily="18" charset="0"/>
                      </a:rPr>
                      <m:t>= </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𝒕𝒊𝒎𝒆𝒔</m:t>
                        </m:r>
                        <m:r>
                          <a:rPr lang="en-US" sz="2000" b="1" i="1" smtClean="0">
                            <a:latin typeface="Cambria Math" panose="02040503050406030204" pitchFamily="18" charset="0"/>
                          </a:rPr>
                          <m:t> </m:t>
                        </m:r>
                        <m:r>
                          <a:rPr lang="en-US" sz="2000" b="1" i="1" smtClean="0">
                            <a:latin typeface="Cambria Math" panose="02040503050406030204" pitchFamily="18" charset="0"/>
                          </a:rPr>
                          <m:t>𝒐𝒃𝒔𝒆𝒓𝒗𝒆𝒅</m:t>
                        </m:r>
                        <m:r>
                          <a:rPr lang="en-US" sz="2000" b="1" i="1" smtClean="0">
                            <a:latin typeface="Cambria Math" panose="02040503050406030204" pitchFamily="18" charset="0"/>
                          </a:rPr>
                          <m:t> </m:t>
                        </m:r>
                        <m:r>
                          <a:rPr lang="en-US" sz="2000" b="1" i="1" smtClean="0">
                            <a:latin typeface="Cambria Math" panose="02040503050406030204" pitchFamily="18" charset="0"/>
                          </a:rPr>
                          <m:t>𝒊𝒏𝒕𝒆𝒓𝒂𝒄𝒕𝒊𝒏𝒈</m:t>
                        </m:r>
                      </m:num>
                      <m:den>
                        <m:r>
                          <a:rPr lang="en-US" sz="2000" b="1" i="1" smtClean="0">
                            <a:latin typeface="Cambria Math" panose="02040503050406030204" pitchFamily="18" charset="0"/>
                          </a:rPr>
                          <m:t>𝒕𝒐𝒕𝒂𝒍</m:t>
                        </m:r>
                        <m:r>
                          <a:rPr lang="en-US" sz="2000" b="1" i="1" smtClean="0">
                            <a:latin typeface="Cambria Math" panose="02040503050406030204" pitchFamily="18" charset="0"/>
                          </a:rPr>
                          <m:t> </m:t>
                        </m:r>
                        <m:r>
                          <a:rPr lang="en-US" sz="2000" b="1" i="1" smtClean="0">
                            <a:latin typeface="Cambria Math" panose="02040503050406030204" pitchFamily="18" charset="0"/>
                          </a:rPr>
                          <m:t>𝒕𝒊𝒎𝒆</m:t>
                        </m:r>
                        <m:r>
                          <a:rPr lang="en-US" sz="2000" b="1" i="1" smtClean="0">
                            <a:latin typeface="Cambria Math" panose="02040503050406030204" pitchFamily="18" charset="0"/>
                          </a:rPr>
                          <m:t> </m:t>
                        </m:r>
                        <m:r>
                          <a:rPr lang="en-US" sz="2000" b="1" i="1" smtClean="0">
                            <a:latin typeface="Cambria Math" panose="02040503050406030204" pitchFamily="18" charset="0"/>
                          </a:rPr>
                          <m:t>𝒐𝒃𝒔𝒆𝒓𝒗𝒆𝒅</m:t>
                        </m:r>
                      </m:den>
                    </m:f>
                  </m:oMath>
                </a14:m>
                <a:endParaRPr lang="en-US" sz="2000" b="1" dirty="0"/>
              </a:p>
              <a:p>
                <a:pPr marL="457200" indent="-457200">
                  <a:buAutoNum type="arabicPeriod"/>
                </a:pPr>
                <a:endParaRPr lang="en-US" sz="2000" b="1" dirty="0"/>
              </a:p>
              <a:p>
                <a:pPr marL="457200" indent="-457200">
                  <a:buAutoNum type="arabicPeriod"/>
                </a:pPr>
                <a:r>
                  <a:rPr lang="en-US" sz="2000" b="1" dirty="0"/>
                  <a:t>Association indices, e.g. the simple ratio index</a:t>
                </a:r>
              </a:p>
              <a:p>
                <a:pPr marL="457200" indent="-457200">
                  <a:buAutoNum type="arabicPeriod"/>
                </a:pPr>
                <a:endParaRPr lang="en-US" sz="2000" b="1" dirty="0"/>
              </a:p>
              <a:p>
                <a:r>
                  <a:rPr lang="en-US" sz="2000" b="1" dirty="0"/>
                  <a:t>	</a:t>
                </a:r>
                <a14:m>
                  <m:oMath xmlns:m="http://schemas.openxmlformats.org/officeDocument/2006/math">
                    <m:r>
                      <a:rPr lang="en-US" sz="2000" b="1" i="1" smtClean="0">
                        <a:latin typeface="Cambria Math" panose="02040503050406030204" pitchFamily="18" charset="0"/>
                      </a:rPr>
                      <m:t>𝑺𝑹𝑰</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𝒙</m:t>
                        </m:r>
                      </m:num>
                      <m:den>
                        <m:r>
                          <a:rPr lang="en-US" sz="2000" b="1" i="1" smtClean="0">
                            <a:latin typeface="Cambria Math" panose="02040503050406030204" pitchFamily="18" charset="0"/>
                          </a:rPr>
                          <m:t>𝒙</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𝒚</m:t>
                            </m:r>
                          </m:e>
                          <m:sub>
                            <m:r>
                              <a:rPr lang="en-US" sz="2000" b="1" i="1" smtClean="0">
                                <a:latin typeface="Cambria Math" panose="02040503050406030204" pitchFamily="18" charset="0"/>
                              </a:rPr>
                              <m:t>𝑨</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𝒚</m:t>
                            </m:r>
                          </m:e>
                          <m:sub>
                            <m:r>
                              <a:rPr lang="en-US" sz="2000" b="1" i="1" smtClean="0">
                                <a:latin typeface="Cambria Math" panose="02040503050406030204" pitchFamily="18" charset="0"/>
                              </a:rPr>
                              <m:t>𝑩</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𝒚</m:t>
                            </m:r>
                          </m:e>
                          <m:sub>
                            <m:r>
                              <a:rPr lang="en-US" sz="2000" b="1" i="1" smtClean="0">
                                <a:latin typeface="Cambria Math" panose="02040503050406030204" pitchFamily="18" charset="0"/>
                              </a:rPr>
                              <m:t>𝑨𝑩</m:t>
                            </m:r>
                          </m:sub>
                        </m:sSub>
                      </m:den>
                    </m:f>
                  </m:oMath>
                </a14:m>
                <a:endParaRPr lang="en-US" sz="2000" b="1" dirty="0"/>
              </a:p>
              <a:p>
                <a:endParaRPr lang="en-US" sz="2000" b="1" dirty="0"/>
              </a:p>
            </p:txBody>
          </p:sp>
        </mc:Choice>
        <mc:Fallback xmlns="">
          <p:sp>
            <p:nvSpPr>
              <p:cNvPr id="5" name="TextBox 4">
                <a:extLst>
                  <a:ext uri="{FF2B5EF4-FFF2-40B4-BE49-F238E27FC236}">
                    <a16:creationId xmlns:a16="http://schemas.microsoft.com/office/drawing/2014/main" id="{79A2D3AA-7B96-9F7F-6E69-48C8A9948F01}"/>
                  </a:ext>
                </a:extLst>
              </p:cNvPr>
              <p:cNvSpPr txBox="1">
                <a:spLocks noRot="1" noChangeAspect="1" noMove="1" noResize="1" noEditPoints="1" noAdjustHandles="1" noChangeArrowheads="1" noChangeShapeType="1" noTextEdit="1"/>
              </p:cNvSpPr>
              <p:nvPr/>
            </p:nvSpPr>
            <p:spPr>
              <a:xfrm>
                <a:off x="442948" y="2319919"/>
                <a:ext cx="11449134" cy="2837252"/>
              </a:xfrm>
              <a:prstGeom prst="rect">
                <a:avLst/>
              </a:prstGeom>
              <a:blipFill>
                <a:blip r:embed="rId4"/>
                <a:stretch>
                  <a:fillRect l="-586" t="-1505"/>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9CA8724F-99D6-2E6A-ED4A-B31B3236E35F}"/>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Static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1950417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6EF36BB0-F01D-5E1C-8F31-D358137DB7D9}"/>
              </a:ext>
            </a:extLst>
          </p:cNvPr>
          <p:cNvSpPr txBox="1"/>
          <p:nvPr/>
        </p:nvSpPr>
        <p:spPr>
          <a:xfrm>
            <a:off x="442948" y="1572173"/>
            <a:ext cx="11449134" cy="400110"/>
          </a:xfrm>
          <a:prstGeom prst="rect">
            <a:avLst/>
          </a:prstGeom>
          <a:noFill/>
        </p:spPr>
        <p:txBody>
          <a:bodyPr wrap="square" rtlCol="0">
            <a:spAutoFit/>
          </a:bodyPr>
          <a:lstStyle/>
          <a:p>
            <a:r>
              <a:rPr lang="en-US" sz="2000" dirty="0"/>
              <a:t>There are lots of different ways to weight social network edges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9A2D3AA-7B96-9F7F-6E69-48C8A9948F01}"/>
                  </a:ext>
                </a:extLst>
              </p:cNvPr>
              <p:cNvSpPr txBox="1"/>
              <p:nvPr/>
            </p:nvSpPr>
            <p:spPr>
              <a:xfrm>
                <a:off x="442948" y="2319919"/>
                <a:ext cx="11449134" cy="3145028"/>
              </a:xfrm>
              <a:prstGeom prst="rect">
                <a:avLst/>
              </a:prstGeom>
              <a:noFill/>
            </p:spPr>
            <p:txBody>
              <a:bodyPr wrap="square" rtlCol="0">
                <a:spAutoFit/>
              </a:bodyPr>
              <a:lstStyle/>
              <a:p>
                <a:pPr marL="457200" indent="-457200">
                  <a:buAutoNum type="arabicPeriod"/>
                </a:pPr>
                <a:r>
                  <a:rPr lang="en-US" sz="2000" b="1" dirty="0"/>
                  <a:t>Counts of associations/interactions</a:t>
                </a:r>
              </a:p>
              <a:p>
                <a:pPr marL="457200" indent="-457200">
                  <a:buAutoNum type="arabicPeriod"/>
                </a:pPr>
                <a:endParaRPr lang="en-US" sz="2000" b="1" dirty="0"/>
              </a:p>
              <a:p>
                <a:pPr marL="457200" indent="-457200">
                  <a:buAutoNum type="arabicPeriod"/>
                </a:pPr>
                <a:r>
                  <a:rPr lang="en-US" sz="2000" b="1" dirty="0"/>
                  <a:t>Corrected counts of interactions   </a:t>
                </a:r>
                <a14:m>
                  <m:oMath xmlns:m="http://schemas.openxmlformats.org/officeDocument/2006/math">
                    <m:r>
                      <a:rPr lang="en-US" sz="2000" b="1" i="1" smtClean="0">
                        <a:latin typeface="Cambria Math" panose="02040503050406030204" pitchFamily="18" charset="0"/>
                      </a:rPr>
                      <m:t>𝑬𝒅𝒈𝒆</m:t>
                    </m:r>
                    <m:r>
                      <a:rPr lang="en-US" sz="2000" b="1" i="1" smtClean="0">
                        <a:latin typeface="Cambria Math" panose="02040503050406030204" pitchFamily="18" charset="0"/>
                      </a:rPr>
                      <m:t> </m:t>
                    </m:r>
                    <m:r>
                      <a:rPr lang="en-US" sz="2000" b="1" i="1" smtClean="0">
                        <a:latin typeface="Cambria Math" panose="02040503050406030204" pitchFamily="18" charset="0"/>
                      </a:rPr>
                      <m:t>𝒘𝒆𝒊𝒈𝒉𝒕</m:t>
                    </m:r>
                    <m:r>
                      <a:rPr lang="en-US" sz="2000" b="1" i="1" smtClean="0">
                        <a:latin typeface="Cambria Math" panose="02040503050406030204" pitchFamily="18" charset="0"/>
                      </a:rPr>
                      <m:t>= </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𝒕𝒊𝒎𝒆𝒔</m:t>
                        </m:r>
                        <m:r>
                          <a:rPr lang="en-US" sz="2000" b="1" i="1" smtClean="0">
                            <a:latin typeface="Cambria Math" panose="02040503050406030204" pitchFamily="18" charset="0"/>
                          </a:rPr>
                          <m:t> </m:t>
                        </m:r>
                        <m:r>
                          <a:rPr lang="en-US" sz="2000" b="1" i="1" smtClean="0">
                            <a:latin typeface="Cambria Math" panose="02040503050406030204" pitchFamily="18" charset="0"/>
                          </a:rPr>
                          <m:t>𝒐𝒃𝒔𝒆𝒓𝒗𝒆𝒅</m:t>
                        </m:r>
                        <m:r>
                          <a:rPr lang="en-US" sz="2000" b="1" i="1" smtClean="0">
                            <a:latin typeface="Cambria Math" panose="02040503050406030204" pitchFamily="18" charset="0"/>
                          </a:rPr>
                          <m:t> </m:t>
                        </m:r>
                        <m:r>
                          <a:rPr lang="en-US" sz="2000" b="1" i="1" smtClean="0">
                            <a:latin typeface="Cambria Math" panose="02040503050406030204" pitchFamily="18" charset="0"/>
                          </a:rPr>
                          <m:t>𝒊𝒏𝒕𝒆𝒓𝒂𝒄𝒕𝒊𝒏𝒈</m:t>
                        </m:r>
                      </m:num>
                      <m:den>
                        <m:r>
                          <a:rPr lang="en-US" sz="2000" b="1" i="1" smtClean="0">
                            <a:latin typeface="Cambria Math" panose="02040503050406030204" pitchFamily="18" charset="0"/>
                          </a:rPr>
                          <m:t>𝒕𝒐𝒕𝒂𝒍</m:t>
                        </m:r>
                        <m:r>
                          <a:rPr lang="en-US" sz="2000" b="1" i="1" smtClean="0">
                            <a:latin typeface="Cambria Math" panose="02040503050406030204" pitchFamily="18" charset="0"/>
                          </a:rPr>
                          <m:t> </m:t>
                        </m:r>
                        <m:r>
                          <a:rPr lang="en-US" sz="2000" b="1" i="1" smtClean="0">
                            <a:latin typeface="Cambria Math" panose="02040503050406030204" pitchFamily="18" charset="0"/>
                          </a:rPr>
                          <m:t>𝒕𝒊𝒎𝒆</m:t>
                        </m:r>
                        <m:r>
                          <a:rPr lang="en-US" sz="2000" b="1" i="1" smtClean="0">
                            <a:latin typeface="Cambria Math" panose="02040503050406030204" pitchFamily="18" charset="0"/>
                          </a:rPr>
                          <m:t> </m:t>
                        </m:r>
                        <m:r>
                          <a:rPr lang="en-US" sz="2000" b="1" i="1" smtClean="0">
                            <a:latin typeface="Cambria Math" panose="02040503050406030204" pitchFamily="18" charset="0"/>
                          </a:rPr>
                          <m:t>𝒐𝒃𝒔𝒆𝒓𝒗𝒆𝒅</m:t>
                        </m:r>
                      </m:den>
                    </m:f>
                  </m:oMath>
                </a14:m>
                <a:endParaRPr lang="en-US" sz="2000" b="1" dirty="0"/>
              </a:p>
              <a:p>
                <a:pPr marL="457200" indent="-457200">
                  <a:buAutoNum type="arabicPeriod"/>
                </a:pPr>
                <a:endParaRPr lang="en-US" sz="2000" b="1" dirty="0"/>
              </a:p>
              <a:p>
                <a:pPr marL="457200" indent="-457200">
                  <a:buAutoNum type="arabicPeriod"/>
                </a:pPr>
                <a:r>
                  <a:rPr lang="en-US" sz="2000" b="1" dirty="0"/>
                  <a:t>Association indices, e.g. the simple ratio index</a:t>
                </a:r>
              </a:p>
              <a:p>
                <a:pPr marL="457200" indent="-457200">
                  <a:buAutoNum type="arabicPeriod"/>
                </a:pPr>
                <a:endParaRPr lang="en-US" sz="2000" b="1" dirty="0"/>
              </a:p>
              <a:p>
                <a:r>
                  <a:rPr lang="en-US" sz="2000" b="1" dirty="0"/>
                  <a:t>	</a:t>
                </a:r>
                <a14:m>
                  <m:oMath xmlns:m="http://schemas.openxmlformats.org/officeDocument/2006/math">
                    <m:r>
                      <a:rPr lang="en-US" sz="2000" b="1" i="1" smtClean="0">
                        <a:latin typeface="Cambria Math" panose="02040503050406030204" pitchFamily="18" charset="0"/>
                      </a:rPr>
                      <m:t>𝑺𝑹𝑰</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𝒙</m:t>
                        </m:r>
                      </m:num>
                      <m:den>
                        <m:r>
                          <a:rPr lang="en-US" sz="2000" b="1" i="1" smtClean="0">
                            <a:latin typeface="Cambria Math" panose="02040503050406030204" pitchFamily="18" charset="0"/>
                          </a:rPr>
                          <m:t>𝒙</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𝒚</m:t>
                            </m:r>
                          </m:e>
                          <m:sub>
                            <m:r>
                              <a:rPr lang="en-US" sz="2000" b="1" i="1" smtClean="0">
                                <a:latin typeface="Cambria Math" panose="02040503050406030204" pitchFamily="18" charset="0"/>
                              </a:rPr>
                              <m:t>𝑨</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𝒚</m:t>
                            </m:r>
                          </m:e>
                          <m:sub>
                            <m:r>
                              <a:rPr lang="en-US" sz="2000" b="1" i="1" smtClean="0">
                                <a:latin typeface="Cambria Math" panose="02040503050406030204" pitchFamily="18" charset="0"/>
                              </a:rPr>
                              <m:t>𝑩</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𝒚</m:t>
                            </m:r>
                          </m:e>
                          <m:sub>
                            <m:r>
                              <a:rPr lang="en-US" sz="2000" b="1" i="1" smtClean="0">
                                <a:latin typeface="Cambria Math" panose="02040503050406030204" pitchFamily="18" charset="0"/>
                              </a:rPr>
                              <m:t>𝑨𝑩</m:t>
                            </m:r>
                          </m:sub>
                        </m:sSub>
                      </m:den>
                    </m:f>
                  </m:oMath>
                </a14:m>
                <a:endParaRPr lang="en-US" sz="2000" b="1" dirty="0"/>
              </a:p>
              <a:p>
                <a:endParaRPr lang="en-US" sz="2000" b="1" dirty="0"/>
              </a:p>
              <a:p>
                <a:r>
                  <a:rPr lang="en-US" sz="2000" b="1" dirty="0"/>
                  <a:t>4. Binomial data on times observed together and apart</a:t>
                </a:r>
              </a:p>
            </p:txBody>
          </p:sp>
        </mc:Choice>
        <mc:Fallback xmlns="">
          <p:sp>
            <p:nvSpPr>
              <p:cNvPr id="5" name="TextBox 4">
                <a:extLst>
                  <a:ext uri="{FF2B5EF4-FFF2-40B4-BE49-F238E27FC236}">
                    <a16:creationId xmlns:a16="http://schemas.microsoft.com/office/drawing/2014/main" id="{79A2D3AA-7B96-9F7F-6E69-48C8A9948F01}"/>
                  </a:ext>
                </a:extLst>
              </p:cNvPr>
              <p:cNvSpPr txBox="1">
                <a:spLocks noRot="1" noChangeAspect="1" noMove="1" noResize="1" noEditPoints="1" noAdjustHandles="1" noChangeArrowheads="1" noChangeShapeType="1" noTextEdit="1"/>
              </p:cNvSpPr>
              <p:nvPr/>
            </p:nvSpPr>
            <p:spPr>
              <a:xfrm>
                <a:off x="442948" y="2319919"/>
                <a:ext cx="11449134" cy="3145028"/>
              </a:xfrm>
              <a:prstGeom prst="rect">
                <a:avLst/>
              </a:prstGeom>
              <a:blipFill>
                <a:blip r:embed="rId3"/>
                <a:stretch>
                  <a:fillRect l="-586" t="-1359" b="-2718"/>
                </a:stretch>
              </a:blipFill>
            </p:spPr>
            <p:txBody>
              <a:bodyPr/>
              <a:lstStyle/>
              <a:p>
                <a:r>
                  <a:rPr lang="en-CA">
                    <a:noFill/>
                  </a:rPr>
                  <a:t> </a:t>
                </a:r>
              </a:p>
            </p:txBody>
          </p:sp>
        </mc:Fallback>
      </mc:AlternateContent>
      <p:sp>
        <p:nvSpPr>
          <p:cNvPr id="40" name="TextBox 39">
            <a:extLst>
              <a:ext uri="{FF2B5EF4-FFF2-40B4-BE49-F238E27FC236}">
                <a16:creationId xmlns:a16="http://schemas.microsoft.com/office/drawing/2014/main" id="{3EF41B58-89F1-D547-D307-5FF57DBE0968}"/>
              </a:ext>
            </a:extLst>
          </p:cNvPr>
          <p:cNvSpPr txBox="1"/>
          <p:nvPr/>
        </p:nvSpPr>
        <p:spPr>
          <a:xfrm>
            <a:off x="7173636" y="4008714"/>
            <a:ext cx="4718446" cy="646331"/>
          </a:xfrm>
          <a:prstGeom prst="rect">
            <a:avLst/>
          </a:prstGeom>
          <a:solidFill>
            <a:schemeClr val="accent1">
              <a:lumMod val="40000"/>
              <a:lumOff val="60000"/>
            </a:schemeClr>
          </a:solidFill>
        </p:spPr>
        <p:txBody>
          <a:bodyPr wrap="square">
            <a:spAutoFit/>
          </a:bodyPr>
          <a:lstStyle/>
          <a:p>
            <a:r>
              <a:rPr lang="en-CA" b="1" dirty="0"/>
              <a:t>Lots of variations which are described here: </a:t>
            </a:r>
            <a:r>
              <a:rPr lang="en-CA" b="1" dirty="0">
                <a:hlinkClick r:id="rId4"/>
              </a:rPr>
              <a:t>https://doi.org/10.1016/j.anbehav.2017.08.029</a:t>
            </a:r>
            <a:r>
              <a:rPr lang="en-CA" b="1" dirty="0"/>
              <a:t> </a:t>
            </a:r>
          </a:p>
        </p:txBody>
      </p:sp>
      <p:sp>
        <p:nvSpPr>
          <p:cNvPr id="41" name="TextBox 40">
            <a:extLst>
              <a:ext uri="{FF2B5EF4-FFF2-40B4-BE49-F238E27FC236}">
                <a16:creationId xmlns:a16="http://schemas.microsoft.com/office/drawing/2014/main" id="{1ED9C4E7-1388-72A8-15B0-270D85E4BAA3}"/>
              </a:ext>
            </a:extLst>
          </p:cNvPr>
          <p:cNvSpPr txBox="1"/>
          <p:nvPr/>
        </p:nvSpPr>
        <p:spPr>
          <a:xfrm>
            <a:off x="7173636" y="5375552"/>
            <a:ext cx="4718446" cy="646331"/>
          </a:xfrm>
          <a:prstGeom prst="rect">
            <a:avLst/>
          </a:prstGeom>
          <a:solidFill>
            <a:schemeClr val="accent1">
              <a:lumMod val="40000"/>
              <a:lumOff val="60000"/>
            </a:schemeClr>
          </a:solidFill>
        </p:spPr>
        <p:txBody>
          <a:bodyPr wrap="square">
            <a:spAutoFit/>
          </a:bodyPr>
          <a:lstStyle/>
          <a:p>
            <a:r>
              <a:rPr lang="en-CA" b="1" dirty="0"/>
              <a:t>Good description of why this is a good method: </a:t>
            </a:r>
            <a:r>
              <a:rPr lang="en-CA" b="1" dirty="0">
                <a:hlinkClick r:id="rId5"/>
              </a:rPr>
              <a:t>https://doi.org/10.1101/2021.12.20.473541</a:t>
            </a:r>
            <a:endParaRPr lang="en-CA" b="1" dirty="0"/>
          </a:p>
        </p:txBody>
      </p:sp>
      <p:sp>
        <p:nvSpPr>
          <p:cNvPr id="8" name="TextBox 7">
            <a:extLst>
              <a:ext uri="{FF2B5EF4-FFF2-40B4-BE49-F238E27FC236}">
                <a16:creationId xmlns:a16="http://schemas.microsoft.com/office/drawing/2014/main" id="{448A98E4-26D1-69A3-1345-A177FBDCCB75}"/>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Static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1069841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Connector 43">
            <a:extLst>
              <a:ext uri="{FF2B5EF4-FFF2-40B4-BE49-F238E27FC236}">
                <a16:creationId xmlns:a16="http://schemas.microsoft.com/office/drawing/2014/main" id="{C64ECC64-1EDD-390D-01FD-C31CF94FEBFA}"/>
              </a:ext>
            </a:extLst>
          </p:cNvPr>
          <p:cNvCxnSpPr>
            <a:cxnSpLocks/>
          </p:cNvCxnSpPr>
          <p:nvPr/>
        </p:nvCxnSpPr>
        <p:spPr>
          <a:xfrm>
            <a:off x="1885963" y="4802212"/>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B2F2035-E306-7838-2313-D0A764D03873}"/>
              </a:ext>
            </a:extLst>
          </p:cNvPr>
          <p:cNvCxnSpPr>
            <a:cxnSpLocks/>
          </p:cNvCxnSpPr>
          <p:nvPr/>
        </p:nvCxnSpPr>
        <p:spPr>
          <a:xfrm flipV="1">
            <a:off x="1966989" y="5062790"/>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E92A29B-772D-BBCD-57BF-25586F03CC54}"/>
              </a:ext>
            </a:extLst>
          </p:cNvPr>
          <p:cNvCxnSpPr>
            <a:cxnSpLocks/>
          </p:cNvCxnSpPr>
          <p:nvPr/>
        </p:nvCxnSpPr>
        <p:spPr>
          <a:xfrm>
            <a:off x="1985255" y="470363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79BBC4F-AB6C-B250-056B-2122A170E09E}"/>
              </a:ext>
            </a:extLst>
          </p:cNvPr>
          <p:cNvCxnSpPr>
            <a:cxnSpLocks/>
          </p:cNvCxnSpPr>
          <p:nvPr/>
        </p:nvCxnSpPr>
        <p:spPr>
          <a:xfrm flipH="1" flipV="1">
            <a:off x="1855226" y="3455005"/>
            <a:ext cx="747976" cy="1029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280C06B-82DE-8F1B-AB4F-ED8765DC5E6C}"/>
              </a:ext>
            </a:extLst>
          </p:cNvPr>
          <p:cNvCxnSpPr>
            <a:cxnSpLocks/>
          </p:cNvCxnSpPr>
          <p:nvPr/>
        </p:nvCxnSpPr>
        <p:spPr>
          <a:xfrm flipH="1" flipV="1">
            <a:off x="1852168" y="3267077"/>
            <a:ext cx="747976" cy="1029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37771CC-B721-439A-AA40-80AA6384A34F}"/>
              </a:ext>
            </a:extLst>
          </p:cNvPr>
          <p:cNvSpPr txBox="1"/>
          <p:nvPr/>
        </p:nvSpPr>
        <p:spPr>
          <a:xfrm>
            <a:off x="0" y="0"/>
            <a:ext cx="12192000" cy="553998"/>
          </a:xfrm>
          <a:prstGeom prst="rect">
            <a:avLst/>
          </a:prstGeom>
          <a:solidFill>
            <a:schemeClr val="tx1">
              <a:lumMod val="75000"/>
              <a:lumOff val="25000"/>
            </a:schemeClr>
          </a:solidFill>
        </p:spPr>
        <p:txBody>
          <a:bodyPr wrap="square" rtlCol="0">
            <a:spAutoFit/>
          </a:bodyPr>
          <a:lstStyle/>
          <a:p>
            <a:r>
              <a:rPr lang="en-US" sz="3000" b="1" dirty="0">
                <a:solidFill>
                  <a:schemeClr val="accent4">
                    <a:lumMod val="60000"/>
                    <a:lumOff val="40000"/>
                  </a:schemeClr>
                </a:solidFill>
              </a:rPr>
              <a:t>CEFE SOCIAL NETWORKS COURSE</a:t>
            </a:r>
            <a:endParaRPr lang="fr-FR" sz="3000" b="1" dirty="0">
              <a:solidFill>
                <a:schemeClr val="accent4">
                  <a:lumMod val="60000"/>
                  <a:lumOff val="40000"/>
                </a:schemeClr>
              </a:solidFill>
            </a:endParaRPr>
          </a:p>
        </p:txBody>
      </p:sp>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6EF36BB0-F01D-5E1C-8F31-D358137DB7D9}"/>
              </a:ext>
            </a:extLst>
          </p:cNvPr>
          <p:cNvSpPr txBox="1"/>
          <p:nvPr/>
        </p:nvSpPr>
        <p:spPr>
          <a:xfrm>
            <a:off x="442948" y="1572173"/>
            <a:ext cx="8464569" cy="1323439"/>
          </a:xfrm>
          <a:prstGeom prst="rect">
            <a:avLst/>
          </a:prstGeom>
          <a:noFill/>
        </p:spPr>
        <p:txBody>
          <a:bodyPr wrap="square" rtlCol="0">
            <a:spAutoFit/>
          </a:bodyPr>
          <a:lstStyle/>
          <a:p>
            <a:r>
              <a:rPr lang="en-US" sz="2000" dirty="0"/>
              <a:t>An alternative to using weighted networks is to use </a:t>
            </a:r>
            <a:r>
              <a:rPr lang="en-US" sz="2000" b="1" i="1" dirty="0">
                <a:solidFill>
                  <a:schemeClr val="accent4">
                    <a:lumMod val="75000"/>
                  </a:schemeClr>
                </a:solidFill>
              </a:rPr>
              <a:t>multigraphs</a:t>
            </a:r>
          </a:p>
          <a:p>
            <a:endParaRPr lang="en-US" sz="2000" dirty="0"/>
          </a:p>
          <a:p>
            <a:r>
              <a:rPr lang="en-US" sz="2000" dirty="0"/>
              <a:t>Sometimes the number of strength of interactions/associations provide different information</a:t>
            </a:r>
          </a:p>
        </p:txBody>
      </p:sp>
      <p:grpSp>
        <p:nvGrpSpPr>
          <p:cNvPr id="33" name="Group 32">
            <a:extLst>
              <a:ext uri="{FF2B5EF4-FFF2-40B4-BE49-F238E27FC236}">
                <a16:creationId xmlns:a16="http://schemas.microsoft.com/office/drawing/2014/main" id="{BF92B285-59A5-9F9B-A953-AE4A82BE0ABB}"/>
              </a:ext>
            </a:extLst>
          </p:cNvPr>
          <p:cNvGrpSpPr/>
          <p:nvPr/>
        </p:nvGrpSpPr>
        <p:grpSpPr>
          <a:xfrm>
            <a:off x="1208193" y="3182464"/>
            <a:ext cx="1869945" cy="3125033"/>
            <a:chOff x="9236782" y="2185295"/>
            <a:chExt cx="1869945" cy="3125033"/>
          </a:xfrm>
        </p:grpSpPr>
        <p:cxnSp>
          <p:nvCxnSpPr>
            <p:cNvPr id="23" name="Straight Connector 22">
              <a:extLst>
                <a:ext uri="{FF2B5EF4-FFF2-40B4-BE49-F238E27FC236}">
                  <a16:creationId xmlns:a16="http://schemas.microsoft.com/office/drawing/2014/main" id="{503456E8-D9D3-12A0-B2FF-8A7E11C239FA}"/>
                </a:ext>
              </a:extLst>
            </p:cNvPr>
            <p:cNvCxnSpPr>
              <a:cxnSpLocks/>
            </p:cNvCxnSpPr>
            <p:nvPr/>
          </p:nvCxnSpPr>
          <p:spPr>
            <a:xfrm flipV="1">
              <a:off x="9933829" y="3960517"/>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E512A5C-126D-DEC1-0AE7-D11C4F9CF587}"/>
                </a:ext>
              </a:extLst>
            </p:cNvPr>
            <p:cNvCxnSpPr>
              <a:cxnSpLocks/>
            </p:cNvCxnSpPr>
            <p:nvPr/>
          </p:nvCxnSpPr>
          <p:spPr>
            <a:xfrm flipV="1">
              <a:off x="9448800" y="2381719"/>
              <a:ext cx="437733" cy="76486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CCBF079-3F5B-7CAF-C4C4-445632CEC6E8}"/>
                </a:ext>
              </a:extLst>
            </p:cNvPr>
            <p:cNvCxnSpPr>
              <a:cxnSpLocks/>
            </p:cNvCxnSpPr>
            <p:nvPr/>
          </p:nvCxnSpPr>
          <p:spPr>
            <a:xfrm>
              <a:off x="9886533" y="2366704"/>
              <a:ext cx="664482" cy="16371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6B52F2F-8606-9CEE-A13C-B3C424C4B0F0}"/>
                </a:ext>
              </a:extLst>
            </p:cNvPr>
            <p:cNvCxnSpPr>
              <a:cxnSpLocks/>
            </p:cNvCxnSpPr>
            <p:nvPr/>
          </p:nvCxnSpPr>
          <p:spPr>
            <a:xfrm flipH="1" flipV="1">
              <a:off x="9886533" y="2366705"/>
              <a:ext cx="747976" cy="1029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4DCFC8-0646-7E19-F033-03334CB585BD}"/>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68A5F025-E1E8-EF3C-9318-F48A75AC5581}"/>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71F317AA-71BB-A7FE-2FE3-838C37BF5BB2}"/>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0DB8A8AD-0F3A-5A2F-CE6E-FEFD2524B906}"/>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75AF379A-C942-3965-44BE-DA5539926840}"/>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2E0D58D5-FCEB-4D00-6A49-9793DF94CC92}"/>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FD2E1EE5-94DB-CB78-6CB7-EC44806386A7}"/>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8604E401-FF6F-6744-A62F-C6CB5547E844}"/>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DF31A2C5-CA5B-C22C-FEAC-1B7B475412E0}"/>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71C2AF13-4D1E-362B-02AC-DCBFA4F9335E}"/>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C217C4-BE26-F4BC-E4BC-83AC8BC11C35}"/>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599696F-D1DB-61EE-D62F-C6360AD669A9}"/>
                </a:ext>
              </a:extLst>
            </p:cNvPr>
            <p:cNvCxnSpPr>
              <a:cxnSpLocks/>
            </p:cNvCxnSpPr>
            <p:nvPr/>
          </p:nvCxnSpPr>
          <p:spPr>
            <a:xfrm>
              <a:off x="988164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A72167D-4012-2012-182B-4716713BE98D}"/>
                </a:ext>
              </a:extLst>
            </p:cNvPr>
            <p:cNvCxnSpPr>
              <a:cxnSpLocks/>
            </p:cNvCxnSpPr>
            <p:nvPr/>
          </p:nvCxnSpPr>
          <p:spPr>
            <a:xfrm>
              <a:off x="10001829" y="3697313"/>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E589508-3ED0-427C-6A10-51203369CC6F}"/>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F0E0948-F1C7-4112-D163-4AE88755B6E3}"/>
                </a:ext>
              </a:extLst>
            </p:cNvPr>
            <p:cNvSpPr txBox="1"/>
            <p:nvPr/>
          </p:nvSpPr>
          <p:spPr>
            <a:xfrm>
              <a:off x="9683332" y="2189933"/>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p:txBody>
        </p:sp>
        <p:sp>
          <p:nvSpPr>
            <p:cNvPr id="26" name="TextBox 25">
              <a:extLst>
                <a:ext uri="{FF2B5EF4-FFF2-40B4-BE49-F238E27FC236}">
                  <a16:creationId xmlns:a16="http://schemas.microsoft.com/office/drawing/2014/main" id="{2C2939AA-894F-36B8-629F-D9DE1E153863}"/>
                </a:ext>
              </a:extLst>
            </p:cNvPr>
            <p:cNvSpPr txBox="1"/>
            <p:nvPr/>
          </p:nvSpPr>
          <p:spPr>
            <a:xfrm>
              <a:off x="10426063" y="218529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p:txBody>
        </p:sp>
        <p:sp>
          <p:nvSpPr>
            <p:cNvPr id="27" name="TextBox 26">
              <a:extLst>
                <a:ext uri="{FF2B5EF4-FFF2-40B4-BE49-F238E27FC236}">
                  <a16:creationId xmlns:a16="http://schemas.microsoft.com/office/drawing/2014/main" id="{6D3AB20A-5324-A4BA-42EE-30C8D2EF260F}"/>
                </a:ext>
              </a:extLst>
            </p:cNvPr>
            <p:cNvSpPr txBox="1"/>
            <p:nvPr/>
          </p:nvSpPr>
          <p:spPr>
            <a:xfrm>
              <a:off x="9236782" y="2966332"/>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p:txBody>
        </p:sp>
        <p:sp>
          <p:nvSpPr>
            <p:cNvPr id="28" name="TextBox 27">
              <a:extLst>
                <a:ext uri="{FF2B5EF4-FFF2-40B4-BE49-F238E27FC236}">
                  <a16:creationId xmlns:a16="http://schemas.microsoft.com/office/drawing/2014/main" id="{3AC9C212-0192-130A-B9EA-B7698E300CB9}"/>
                </a:ext>
              </a:extLst>
            </p:cNvPr>
            <p:cNvSpPr txBox="1"/>
            <p:nvPr/>
          </p:nvSpPr>
          <p:spPr>
            <a:xfrm>
              <a:off x="10681854" y="2973587"/>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p:txBody>
        </p:sp>
        <p:sp>
          <p:nvSpPr>
            <p:cNvPr id="29" name="TextBox 28">
              <a:extLst>
                <a:ext uri="{FF2B5EF4-FFF2-40B4-BE49-F238E27FC236}">
                  <a16:creationId xmlns:a16="http://schemas.microsoft.com/office/drawing/2014/main" id="{30DC0F20-AB92-E37A-8117-8D89A2A19BEC}"/>
                </a:ext>
              </a:extLst>
            </p:cNvPr>
            <p:cNvSpPr txBox="1"/>
            <p:nvPr/>
          </p:nvSpPr>
          <p:spPr>
            <a:xfrm>
              <a:off x="9727148" y="3578948"/>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p:txBody>
        </p:sp>
        <p:sp>
          <p:nvSpPr>
            <p:cNvPr id="30" name="TextBox 29">
              <a:extLst>
                <a:ext uri="{FF2B5EF4-FFF2-40B4-BE49-F238E27FC236}">
                  <a16:creationId xmlns:a16="http://schemas.microsoft.com/office/drawing/2014/main" id="{F061DC1A-42D3-A458-C9D2-D8045127B82A}"/>
                </a:ext>
              </a:extLst>
            </p:cNvPr>
            <p:cNvSpPr txBox="1"/>
            <p:nvPr/>
          </p:nvSpPr>
          <p:spPr>
            <a:xfrm>
              <a:off x="10339527" y="382416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p:txBody>
        </p:sp>
        <p:sp>
          <p:nvSpPr>
            <p:cNvPr id="31" name="TextBox 30">
              <a:extLst>
                <a:ext uri="{FF2B5EF4-FFF2-40B4-BE49-F238E27FC236}">
                  <a16:creationId xmlns:a16="http://schemas.microsoft.com/office/drawing/2014/main" id="{5801DD49-1A1B-4CB5-11B9-391C36E82C14}"/>
                </a:ext>
              </a:extLst>
            </p:cNvPr>
            <p:cNvSpPr txBox="1"/>
            <p:nvPr/>
          </p:nvSpPr>
          <p:spPr>
            <a:xfrm>
              <a:off x="9753065" y="4179819"/>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p:txBody>
        </p:sp>
        <p:sp>
          <p:nvSpPr>
            <p:cNvPr id="32" name="TextBox 31">
              <a:extLst>
                <a:ext uri="{FF2B5EF4-FFF2-40B4-BE49-F238E27FC236}">
                  <a16:creationId xmlns:a16="http://schemas.microsoft.com/office/drawing/2014/main" id="{F7405E5F-8D49-114A-0E37-9DD08F797BDE}"/>
                </a:ext>
              </a:extLst>
            </p:cNvPr>
            <p:cNvSpPr txBox="1"/>
            <p:nvPr/>
          </p:nvSpPr>
          <p:spPr>
            <a:xfrm>
              <a:off x="10168167" y="4940996"/>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p:txBody>
        </p:sp>
      </p:grpSp>
      <p:graphicFrame>
        <p:nvGraphicFramePr>
          <p:cNvPr id="34" name="Table 38">
            <a:extLst>
              <a:ext uri="{FF2B5EF4-FFF2-40B4-BE49-F238E27FC236}">
                <a16:creationId xmlns:a16="http://schemas.microsoft.com/office/drawing/2014/main" id="{C705F137-B400-BE04-8846-7B34CF381E01}"/>
              </a:ext>
            </a:extLst>
          </p:cNvPr>
          <p:cNvGraphicFramePr>
            <a:graphicFrameLocks noGrp="1"/>
          </p:cNvGraphicFramePr>
          <p:nvPr/>
        </p:nvGraphicFramePr>
        <p:xfrm>
          <a:off x="4450080" y="3015657"/>
          <a:ext cx="3291840" cy="329184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1160791391"/>
                    </a:ext>
                  </a:extLst>
                </a:gridCol>
                <a:gridCol w="365760">
                  <a:extLst>
                    <a:ext uri="{9D8B030D-6E8A-4147-A177-3AD203B41FA5}">
                      <a16:colId xmlns:a16="http://schemas.microsoft.com/office/drawing/2014/main" val="3580078151"/>
                    </a:ext>
                  </a:extLst>
                </a:gridCol>
                <a:gridCol w="365760">
                  <a:extLst>
                    <a:ext uri="{9D8B030D-6E8A-4147-A177-3AD203B41FA5}">
                      <a16:colId xmlns:a16="http://schemas.microsoft.com/office/drawing/2014/main" val="3040861133"/>
                    </a:ext>
                  </a:extLst>
                </a:gridCol>
                <a:gridCol w="365760">
                  <a:extLst>
                    <a:ext uri="{9D8B030D-6E8A-4147-A177-3AD203B41FA5}">
                      <a16:colId xmlns:a16="http://schemas.microsoft.com/office/drawing/2014/main" val="3750205406"/>
                    </a:ext>
                  </a:extLst>
                </a:gridCol>
                <a:gridCol w="365760">
                  <a:extLst>
                    <a:ext uri="{9D8B030D-6E8A-4147-A177-3AD203B41FA5}">
                      <a16:colId xmlns:a16="http://schemas.microsoft.com/office/drawing/2014/main" val="137373489"/>
                    </a:ext>
                  </a:extLst>
                </a:gridCol>
                <a:gridCol w="365760">
                  <a:extLst>
                    <a:ext uri="{9D8B030D-6E8A-4147-A177-3AD203B41FA5}">
                      <a16:colId xmlns:a16="http://schemas.microsoft.com/office/drawing/2014/main" val="3559658997"/>
                    </a:ext>
                  </a:extLst>
                </a:gridCol>
                <a:gridCol w="365760">
                  <a:extLst>
                    <a:ext uri="{9D8B030D-6E8A-4147-A177-3AD203B41FA5}">
                      <a16:colId xmlns:a16="http://schemas.microsoft.com/office/drawing/2014/main" val="654325955"/>
                    </a:ext>
                  </a:extLst>
                </a:gridCol>
                <a:gridCol w="365760">
                  <a:extLst>
                    <a:ext uri="{9D8B030D-6E8A-4147-A177-3AD203B41FA5}">
                      <a16:colId xmlns:a16="http://schemas.microsoft.com/office/drawing/2014/main" val="340643525"/>
                    </a:ext>
                  </a:extLst>
                </a:gridCol>
                <a:gridCol w="365760">
                  <a:extLst>
                    <a:ext uri="{9D8B030D-6E8A-4147-A177-3AD203B41FA5}">
                      <a16:colId xmlns:a16="http://schemas.microsoft.com/office/drawing/2014/main" val="985285625"/>
                    </a:ext>
                  </a:extLst>
                </a:gridCol>
              </a:tblGrid>
              <a:tr h="355600">
                <a:tc>
                  <a:txBody>
                    <a:bodyPr/>
                    <a:lstStyle/>
                    <a:p>
                      <a:pPr algn="ctr"/>
                      <a:endParaRPr lang="fr-FR" dirty="0"/>
                    </a:p>
                  </a:txBody>
                  <a:tcPr>
                    <a:solidFill>
                      <a:schemeClr val="bg1"/>
                    </a:solidFill>
                  </a:tcPr>
                </a:tc>
                <a:tc>
                  <a:txBody>
                    <a:bodyPr/>
                    <a:lstStyle/>
                    <a:p>
                      <a:pPr algn="ctr"/>
                      <a:r>
                        <a:rPr lang="en-US" dirty="0">
                          <a:solidFill>
                            <a:schemeClr val="accent4">
                              <a:lumMod val="60000"/>
                              <a:lumOff val="40000"/>
                            </a:schemeClr>
                          </a:solidFill>
                        </a:rPr>
                        <a:t>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2</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3</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4</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5</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6</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7</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8</a:t>
                      </a:r>
                    </a:p>
                  </a:txBody>
                  <a:tcPr>
                    <a:solidFill>
                      <a:schemeClr val="tx1"/>
                    </a:solidFill>
                  </a:tcPr>
                </a:tc>
                <a:extLst>
                  <a:ext uri="{0D108BD9-81ED-4DB2-BD59-A6C34878D82A}">
                    <a16:rowId xmlns:a16="http://schemas.microsoft.com/office/drawing/2014/main" val="3337210578"/>
                  </a:ext>
                </a:extLst>
              </a:tr>
              <a:tr h="355600">
                <a:tc>
                  <a:txBody>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3</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113491038"/>
                  </a:ext>
                </a:extLst>
              </a:tr>
              <a:tr h="355600">
                <a:tc>
                  <a:txBody>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a:txBody>
                  <a:tcPr>
                    <a:solidFill>
                      <a:schemeClr val="tx1"/>
                    </a:solidFill>
                  </a:tcPr>
                </a:tc>
                <a:tc>
                  <a:txBody>
                    <a:bodyPr/>
                    <a:lstStyle/>
                    <a:p>
                      <a:pPr algn="ctr"/>
                      <a:r>
                        <a:rPr lang="en-US" dirty="0"/>
                        <a:t>3</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852759760"/>
                  </a:ext>
                </a:extLst>
              </a:tr>
              <a:tr h="355600">
                <a:tc>
                  <a:txBody>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492037244"/>
                  </a:ext>
                </a:extLst>
              </a:tr>
              <a:tr h="355600">
                <a:tc>
                  <a:txBody>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3594548446"/>
                  </a:ext>
                </a:extLst>
              </a:tr>
              <a:tr h="355600">
                <a:tc>
                  <a:txBody>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48068657"/>
                  </a:ext>
                </a:extLst>
              </a:tr>
              <a:tr h="355600">
                <a:tc>
                  <a:txBody>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1858898233"/>
                  </a:ext>
                </a:extLst>
              </a:tr>
              <a:tr h="355600">
                <a:tc>
                  <a:txBody>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extLst>
                  <a:ext uri="{0D108BD9-81ED-4DB2-BD59-A6C34878D82A}">
                    <a16:rowId xmlns:a16="http://schemas.microsoft.com/office/drawing/2014/main" val="1993533395"/>
                  </a:ext>
                </a:extLst>
              </a:tr>
              <a:tr h="355600">
                <a:tc>
                  <a:txBody>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extLst>
                  <a:ext uri="{0D108BD9-81ED-4DB2-BD59-A6C34878D82A}">
                    <a16:rowId xmlns:a16="http://schemas.microsoft.com/office/drawing/2014/main" val="3647899706"/>
                  </a:ext>
                </a:extLst>
              </a:tr>
            </a:tbl>
          </a:graphicData>
        </a:graphic>
      </p:graphicFrame>
      <p:graphicFrame>
        <p:nvGraphicFramePr>
          <p:cNvPr id="35" name="Table 4">
            <a:extLst>
              <a:ext uri="{FF2B5EF4-FFF2-40B4-BE49-F238E27FC236}">
                <a16:creationId xmlns:a16="http://schemas.microsoft.com/office/drawing/2014/main" id="{4F7A414E-C1DE-2C1E-F43F-0E9BC5247B18}"/>
              </a:ext>
            </a:extLst>
          </p:cNvPr>
          <p:cNvGraphicFramePr>
            <a:graphicFrameLocks noGrp="1"/>
          </p:cNvGraphicFramePr>
          <p:nvPr/>
        </p:nvGraphicFramePr>
        <p:xfrm>
          <a:off x="9058468" y="2240705"/>
          <a:ext cx="2551176" cy="4058920"/>
        </p:xfrm>
        <a:graphic>
          <a:graphicData uri="http://schemas.openxmlformats.org/drawingml/2006/table">
            <a:tbl>
              <a:tblPr firstRow="1" bandRow="1">
                <a:tableStyleId>{5C22544A-7EE6-4342-B048-85BDC9FD1C3A}</a:tableStyleId>
              </a:tblPr>
              <a:tblGrid>
                <a:gridCol w="850392">
                  <a:extLst>
                    <a:ext uri="{9D8B030D-6E8A-4147-A177-3AD203B41FA5}">
                      <a16:colId xmlns:a16="http://schemas.microsoft.com/office/drawing/2014/main" val="3633928271"/>
                    </a:ext>
                  </a:extLst>
                </a:gridCol>
                <a:gridCol w="850392">
                  <a:extLst>
                    <a:ext uri="{9D8B030D-6E8A-4147-A177-3AD203B41FA5}">
                      <a16:colId xmlns:a16="http://schemas.microsoft.com/office/drawing/2014/main" val="448717354"/>
                    </a:ext>
                  </a:extLst>
                </a:gridCol>
                <a:gridCol w="850392">
                  <a:extLst>
                    <a:ext uri="{9D8B030D-6E8A-4147-A177-3AD203B41FA5}">
                      <a16:colId xmlns:a16="http://schemas.microsoft.com/office/drawing/2014/main" val="4130169604"/>
                    </a:ext>
                  </a:extLst>
                </a:gridCol>
              </a:tblGrid>
              <a:tr h="370840">
                <a:tc>
                  <a:txBody>
                    <a:bodyPr/>
                    <a:lstStyle/>
                    <a:p>
                      <a:pPr algn="ctr"/>
                      <a:r>
                        <a:rPr lang="en-US" dirty="0">
                          <a:solidFill>
                            <a:schemeClr val="accent4">
                              <a:lumMod val="60000"/>
                              <a:lumOff val="40000"/>
                            </a:schemeClr>
                          </a:solidFill>
                        </a:rPr>
                        <a:t>ID 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ID 2</a:t>
                      </a:r>
                      <a:endParaRPr lang="fr-FR" dirty="0">
                        <a:solidFill>
                          <a:schemeClr val="accent4">
                            <a:lumMod val="60000"/>
                            <a:lumOff val="40000"/>
                          </a:schemeClr>
                        </a:solidFill>
                      </a:endParaRPr>
                    </a:p>
                  </a:txBody>
                  <a:tcPr>
                    <a:solidFill>
                      <a:schemeClr val="tx1"/>
                    </a:solidFill>
                  </a:tcPr>
                </a:tc>
                <a:tc>
                  <a:txBody>
                    <a:bodyPr/>
                    <a:lstStyle/>
                    <a:p>
                      <a:pPr algn="ctr"/>
                      <a:r>
                        <a:rPr lang="en-US" sz="1200" dirty="0">
                          <a:solidFill>
                            <a:schemeClr val="accent4">
                              <a:lumMod val="60000"/>
                              <a:lumOff val="40000"/>
                            </a:schemeClr>
                          </a:solidFill>
                        </a:rPr>
                        <a:t>Attribute</a:t>
                      </a:r>
                      <a:endParaRPr lang="fr-FR" sz="1200" dirty="0">
                        <a:solidFill>
                          <a:schemeClr val="accent4">
                            <a:lumMod val="60000"/>
                            <a:lumOff val="40000"/>
                          </a:schemeClr>
                        </a:solidFill>
                      </a:endParaRPr>
                    </a:p>
                  </a:txBody>
                  <a:tcPr anchor="ctr">
                    <a:solidFill>
                      <a:schemeClr val="tx1"/>
                    </a:solidFill>
                  </a:tcPr>
                </a:tc>
                <a:extLst>
                  <a:ext uri="{0D108BD9-81ED-4DB2-BD59-A6C34878D82A}">
                    <a16:rowId xmlns:a16="http://schemas.microsoft.com/office/drawing/2014/main" val="3390748688"/>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fr-FR" dirty="0"/>
                        <a:t>3</a:t>
                      </a:r>
                    </a:p>
                  </a:txBody>
                  <a:tcPr>
                    <a:solidFill>
                      <a:schemeClr val="bg1">
                        <a:lumMod val="95000"/>
                      </a:schemeClr>
                    </a:solidFill>
                  </a:tcPr>
                </a:tc>
                <a:extLst>
                  <a:ext uri="{0D108BD9-81ED-4DB2-BD59-A6C34878D82A}">
                    <a16:rowId xmlns:a16="http://schemas.microsoft.com/office/drawing/2014/main" val="551088812"/>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2745773553"/>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6</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3019948275"/>
                  </a:ext>
                </a:extLst>
              </a:tr>
              <a:tr h="370840">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1806561758"/>
                  </a:ext>
                </a:extLst>
              </a:tr>
              <a:tr h="370840">
                <a:tc>
                  <a:txBody>
                    <a:bodyPr/>
                    <a:lstStyle/>
                    <a:p>
                      <a:pPr algn="ctr"/>
                      <a:r>
                        <a:rPr lang="en-US" dirty="0"/>
                        <a:t>3</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2008170764"/>
                  </a:ext>
                </a:extLst>
              </a:tr>
              <a:tr h="370840">
                <a:tc>
                  <a:txBody>
                    <a:bodyPr/>
                    <a:lstStyle/>
                    <a:p>
                      <a:pPr algn="ctr"/>
                      <a:r>
                        <a:rPr lang="en-US" dirty="0"/>
                        <a:t>3</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2456207752"/>
                  </a:ext>
                </a:extLst>
              </a:tr>
              <a:tr h="0">
                <a:tc>
                  <a:txBody>
                    <a:bodyPr/>
                    <a:lstStyle/>
                    <a:p>
                      <a:pPr algn="ctr"/>
                      <a:r>
                        <a:rPr lang="en-US" dirty="0"/>
                        <a:t>5</a:t>
                      </a:r>
                      <a:endParaRPr lang="fr-FR" dirty="0"/>
                    </a:p>
                  </a:txBody>
                  <a:tcPr>
                    <a:solidFill>
                      <a:schemeClr val="bg1">
                        <a:lumMod val="95000"/>
                      </a:schemeClr>
                    </a:solidFill>
                  </a:tcPr>
                </a:tc>
                <a:tc>
                  <a:txBody>
                    <a:bodyPr/>
                    <a:lstStyle/>
                    <a:p>
                      <a:pPr algn="ctr"/>
                      <a:r>
                        <a:rPr lang="en-US" dirty="0"/>
                        <a:t>6</a:t>
                      </a:r>
                      <a:endParaRPr lang="fr-FR" dirty="0"/>
                    </a:p>
                  </a:txBody>
                  <a:tcPr>
                    <a:solidFill>
                      <a:schemeClr val="bg1">
                        <a:lumMod val="95000"/>
                      </a:schemeClr>
                    </a:solidFill>
                  </a:tcPr>
                </a:tc>
                <a:tc>
                  <a:txBody>
                    <a:bodyPr/>
                    <a:lstStyle/>
                    <a:p>
                      <a:pPr algn="ctr"/>
                      <a:r>
                        <a:rPr lang="fr-FR" dirty="0"/>
                        <a:t>2</a:t>
                      </a:r>
                    </a:p>
                  </a:txBody>
                  <a:tcPr>
                    <a:solidFill>
                      <a:schemeClr val="bg1">
                        <a:lumMod val="95000"/>
                      </a:schemeClr>
                    </a:solidFill>
                  </a:tcPr>
                </a:tc>
                <a:extLst>
                  <a:ext uri="{0D108BD9-81ED-4DB2-BD59-A6C34878D82A}">
                    <a16:rowId xmlns:a16="http://schemas.microsoft.com/office/drawing/2014/main" val="440282349"/>
                  </a:ext>
                </a:extLst>
              </a:tr>
              <a:tr h="273050">
                <a:tc>
                  <a:txBody>
                    <a:bodyPr/>
                    <a:lstStyle/>
                    <a:p>
                      <a:pPr algn="ctr"/>
                      <a:r>
                        <a:rPr lang="en-US" dirty="0"/>
                        <a:t>5</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tc>
                  <a:txBody>
                    <a:bodyPr/>
                    <a:lstStyle/>
                    <a:p>
                      <a:pPr algn="ctr"/>
                      <a:r>
                        <a:rPr lang="fr-FR" dirty="0"/>
                        <a:t>2</a:t>
                      </a:r>
                    </a:p>
                  </a:txBody>
                  <a:tcPr>
                    <a:solidFill>
                      <a:schemeClr val="bg1">
                        <a:lumMod val="95000"/>
                      </a:schemeClr>
                    </a:solidFill>
                  </a:tcPr>
                </a:tc>
                <a:extLst>
                  <a:ext uri="{0D108BD9-81ED-4DB2-BD59-A6C34878D82A}">
                    <a16:rowId xmlns:a16="http://schemas.microsoft.com/office/drawing/2014/main" val="1697648120"/>
                  </a:ext>
                </a:extLst>
              </a:tr>
              <a:tr h="180340">
                <a:tc>
                  <a:txBody>
                    <a:bodyPr/>
                    <a:lstStyle/>
                    <a:p>
                      <a:pPr algn="ctr"/>
                      <a:r>
                        <a:rPr lang="en-US" dirty="0"/>
                        <a:t>6</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tc>
                  <a:txBody>
                    <a:bodyPr/>
                    <a:lstStyle/>
                    <a:p>
                      <a:pPr algn="ctr"/>
                      <a:r>
                        <a:rPr lang="fr-FR" dirty="0"/>
                        <a:t>2</a:t>
                      </a:r>
                    </a:p>
                  </a:txBody>
                  <a:tcPr>
                    <a:solidFill>
                      <a:schemeClr val="bg1">
                        <a:lumMod val="95000"/>
                      </a:schemeClr>
                    </a:solidFill>
                  </a:tcPr>
                </a:tc>
                <a:extLst>
                  <a:ext uri="{0D108BD9-81ED-4DB2-BD59-A6C34878D82A}">
                    <a16:rowId xmlns:a16="http://schemas.microsoft.com/office/drawing/2014/main" val="1414656967"/>
                  </a:ext>
                </a:extLst>
              </a:tr>
              <a:tr h="0">
                <a:tc>
                  <a:txBody>
                    <a:bodyPr/>
                    <a:lstStyle/>
                    <a:p>
                      <a:pPr algn="ctr"/>
                      <a:r>
                        <a:rPr lang="en-US" dirty="0"/>
                        <a:t>7</a:t>
                      </a:r>
                      <a:endParaRPr lang="fr-FR" dirty="0"/>
                    </a:p>
                  </a:txBody>
                  <a:tcPr>
                    <a:solidFill>
                      <a:schemeClr val="bg1">
                        <a:lumMod val="95000"/>
                      </a:schemeClr>
                    </a:solidFill>
                  </a:tcPr>
                </a:tc>
                <a:tc>
                  <a:txBody>
                    <a:bodyPr/>
                    <a:lstStyle/>
                    <a:p>
                      <a:pPr algn="ctr"/>
                      <a:r>
                        <a:rPr lang="en-US" dirty="0"/>
                        <a:t>8</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3617806729"/>
                  </a:ext>
                </a:extLst>
              </a:tr>
            </a:tbl>
          </a:graphicData>
        </a:graphic>
      </p:graphicFrame>
      <p:sp>
        <p:nvSpPr>
          <p:cNvPr id="36" name="Rectangle 35">
            <a:extLst>
              <a:ext uri="{FF2B5EF4-FFF2-40B4-BE49-F238E27FC236}">
                <a16:creationId xmlns:a16="http://schemas.microsoft.com/office/drawing/2014/main" id="{8BE6E6E8-6428-7C87-2CF1-DD05A64A0A93}"/>
              </a:ext>
            </a:extLst>
          </p:cNvPr>
          <p:cNvSpPr/>
          <p:nvPr/>
        </p:nvSpPr>
        <p:spPr>
          <a:xfrm>
            <a:off x="4820092" y="3379800"/>
            <a:ext cx="2923455" cy="369332"/>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FD9031FE-E584-6052-DD34-9DCF67670049}"/>
              </a:ext>
            </a:extLst>
          </p:cNvPr>
          <p:cNvSpPr/>
          <p:nvPr/>
        </p:nvSpPr>
        <p:spPr>
          <a:xfrm rot="5400000">
            <a:off x="3532203" y="4656862"/>
            <a:ext cx="2923455" cy="369332"/>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37">
            <a:extLst>
              <a:ext uri="{FF2B5EF4-FFF2-40B4-BE49-F238E27FC236}">
                <a16:creationId xmlns:a16="http://schemas.microsoft.com/office/drawing/2014/main" id="{E43D540D-887B-7140-1D8D-C8AE81525FFA}"/>
              </a:ext>
            </a:extLst>
          </p:cNvPr>
          <p:cNvSpPr/>
          <p:nvPr/>
        </p:nvSpPr>
        <p:spPr>
          <a:xfrm>
            <a:off x="9080067" y="2594314"/>
            <a:ext cx="2529577" cy="1102849"/>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TextBox 41">
            <a:extLst>
              <a:ext uri="{FF2B5EF4-FFF2-40B4-BE49-F238E27FC236}">
                <a16:creationId xmlns:a16="http://schemas.microsoft.com/office/drawing/2014/main" id="{9D5A0A83-FCC9-78F1-57F8-8A851076923F}"/>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Static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4062652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6EF36BB0-F01D-5E1C-8F31-D358137DB7D9}"/>
              </a:ext>
            </a:extLst>
          </p:cNvPr>
          <p:cNvSpPr txBox="1"/>
          <p:nvPr/>
        </p:nvSpPr>
        <p:spPr>
          <a:xfrm>
            <a:off x="442948" y="1572173"/>
            <a:ext cx="8464569" cy="400110"/>
          </a:xfrm>
          <a:prstGeom prst="rect">
            <a:avLst/>
          </a:prstGeom>
          <a:noFill/>
        </p:spPr>
        <p:txBody>
          <a:bodyPr wrap="square" rtlCol="0">
            <a:spAutoFit/>
          </a:bodyPr>
          <a:lstStyle/>
          <a:p>
            <a:r>
              <a:rPr lang="en-US" sz="2000" dirty="0"/>
              <a:t>So when might you want to use weighted networks versus multigraphs?</a:t>
            </a:r>
          </a:p>
        </p:txBody>
      </p:sp>
      <p:pic>
        <p:nvPicPr>
          <p:cNvPr id="42" name="Picture 41" descr="A picture containing wire&#10;&#10;Description automatically generated">
            <a:extLst>
              <a:ext uri="{FF2B5EF4-FFF2-40B4-BE49-F238E27FC236}">
                <a16:creationId xmlns:a16="http://schemas.microsoft.com/office/drawing/2014/main" id="{DFD0F08A-4D20-6AA2-5A4C-7EE9E43310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78389" y="2223861"/>
            <a:ext cx="4621452" cy="4479459"/>
          </a:xfrm>
          <a:prstGeom prst="rect">
            <a:avLst/>
          </a:prstGeom>
        </p:spPr>
      </p:pic>
      <p:sp>
        <p:nvSpPr>
          <p:cNvPr id="5" name="Rectangle 4">
            <a:extLst>
              <a:ext uri="{FF2B5EF4-FFF2-40B4-BE49-F238E27FC236}">
                <a16:creationId xmlns:a16="http://schemas.microsoft.com/office/drawing/2014/main" id="{FABFAD3A-7204-4E96-AC29-3FCB94998925}"/>
              </a:ext>
            </a:extLst>
          </p:cNvPr>
          <p:cNvSpPr/>
          <p:nvPr/>
        </p:nvSpPr>
        <p:spPr>
          <a:xfrm>
            <a:off x="978389" y="2223861"/>
            <a:ext cx="379356" cy="44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48366998-19D5-47A5-8EAE-D797B68047B5}"/>
              </a:ext>
            </a:extLst>
          </p:cNvPr>
          <p:cNvSpPr/>
          <p:nvPr/>
        </p:nvSpPr>
        <p:spPr>
          <a:xfrm>
            <a:off x="3374551" y="2178301"/>
            <a:ext cx="379356" cy="44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BBDB2AD0-279B-494C-8D23-29D008F1EA6D}"/>
              </a:ext>
            </a:extLst>
          </p:cNvPr>
          <p:cNvSpPr/>
          <p:nvPr/>
        </p:nvSpPr>
        <p:spPr>
          <a:xfrm>
            <a:off x="1000805" y="4463590"/>
            <a:ext cx="379356" cy="44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TextBox 6">
            <a:extLst>
              <a:ext uri="{FF2B5EF4-FFF2-40B4-BE49-F238E27FC236}">
                <a16:creationId xmlns:a16="http://schemas.microsoft.com/office/drawing/2014/main" id="{D25B74D8-B9F5-4177-86EA-F979DC47D42A}"/>
              </a:ext>
            </a:extLst>
          </p:cNvPr>
          <p:cNvSpPr txBox="1"/>
          <p:nvPr/>
        </p:nvSpPr>
        <p:spPr>
          <a:xfrm>
            <a:off x="6386814" y="2977503"/>
            <a:ext cx="5273963" cy="2308324"/>
          </a:xfrm>
          <a:prstGeom prst="rect">
            <a:avLst/>
          </a:prstGeom>
          <a:noFill/>
        </p:spPr>
        <p:txBody>
          <a:bodyPr wrap="square" rtlCol="0">
            <a:spAutoFit/>
          </a:bodyPr>
          <a:lstStyle/>
          <a:p>
            <a:r>
              <a:rPr lang="en-US" dirty="0"/>
              <a:t>The distinction between weighted networks and multigraphs is most useful when both their </a:t>
            </a:r>
            <a:r>
              <a:rPr lang="en-US" b="1" dirty="0"/>
              <a:t>number/frequency </a:t>
            </a:r>
            <a:r>
              <a:rPr lang="en-US" dirty="0"/>
              <a:t>and </a:t>
            </a:r>
            <a:r>
              <a:rPr lang="en-US" b="1" dirty="0"/>
              <a:t>duration </a:t>
            </a:r>
            <a:r>
              <a:rPr lang="en-US" dirty="0"/>
              <a:t>are important.</a:t>
            </a:r>
          </a:p>
          <a:p>
            <a:endParaRPr lang="en-US" dirty="0"/>
          </a:p>
          <a:p>
            <a:endParaRPr lang="en-US" dirty="0"/>
          </a:p>
          <a:p>
            <a:r>
              <a:rPr lang="en-US" dirty="0"/>
              <a:t>Considering multigraphs can also be helpful when designing permutation procedures for </a:t>
            </a:r>
            <a:r>
              <a:rPr lang="en-US" dirty="0" err="1"/>
              <a:t>analysing</a:t>
            </a:r>
            <a:r>
              <a:rPr lang="en-US" dirty="0"/>
              <a:t> the networks.</a:t>
            </a:r>
            <a:endParaRPr lang="fr-FR" dirty="0"/>
          </a:p>
        </p:txBody>
      </p:sp>
      <p:sp>
        <p:nvSpPr>
          <p:cNvPr id="10" name="TextBox 9">
            <a:extLst>
              <a:ext uri="{FF2B5EF4-FFF2-40B4-BE49-F238E27FC236}">
                <a16:creationId xmlns:a16="http://schemas.microsoft.com/office/drawing/2014/main" id="{A015CAD1-2AF5-B2DC-ACD4-577723F37B02}"/>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Static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4107382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6EF36BB0-F01D-5E1C-8F31-D358137DB7D9}"/>
              </a:ext>
            </a:extLst>
          </p:cNvPr>
          <p:cNvSpPr txBox="1"/>
          <p:nvPr/>
        </p:nvSpPr>
        <p:spPr>
          <a:xfrm>
            <a:off x="442948" y="1572173"/>
            <a:ext cx="11449134" cy="400110"/>
          </a:xfrm>
          <a:prstGeom prst="rect">
            <a:avLst/>
          </a:prstGeom>
          <a:noFill/>
        </p:spPr>
        <p:txBody>
          <a:bodyPr wrap="square" rtlCol="0">
            <a:spAutoFit/>
          </a:bodyPr>
          <a:lstStyle/>
          <a:p>
            <a:r>
              <a:rPr lang="en-US" sz="2000" dirty="0"/>
              <a:t>You can also create </a:t>
            </a:r>
            <a:r>
              <a:rPr lang="en-US" sz="2000" b="1" i="1" dirty="0">
                <a:solidFill>
                  <a:schemeClr val="accent4">
                    <a:lumMod val="75000"/>
                  </a:schemeClr>
                </a:solidFill>
              </a:rPr>
              <a:t>directed networks</a:t>
            </a:r>
          </a:p>
        </p:txBody>
      </p:sp>
      <p:grpSp>
        <p:nvGrpSpPr>
          <p:cNvPr id="7" name="Group 6">
            <a:extLst>
              <a:ext uri="{FF2B5EF4-FFF2-40B4-BE49-F238E27FC236}">
                <a16:creationId xmlns:a16="http://schemas.microsoft.com/office/drawing/2014/main" id="{9A0FEA2F-C9FE-42B7-933F-B91563D22B73}"/>
              </a:ext>
            </a:extLst>
          </p:cNvPr>
          <p:cNvGrpSpPr/>
          <p:nvPr/>
        </p:nvGrpSpPr>
        <p:grpSpPr>
          <a:xfrm>
            <a:off x="1208193" y="3182464"/>
            <a:ext cx="1869945" cy="3125033"/>
            <a:chOff x="9236782" y="2185295"/>
            <a:chExt cx="1869945" cy="3125033"/>
          </a:xfrm>
        </p:grpSpPr>
        <p:cxnSp>
          <p:nvCxnSpPr>
            <p:cNvPr id="8" name="Straight Connector 7">
              <a:extLst>
                <a:ext uri="{FF2B5EF4-FFF2-40B4-BE49-F238E27FC236}">
                  <a16:creationId xmlns:a16="http://schemas.microsoft.com/office/drawing/2014/main" id="{48E411BA-8741-43F0-B82F-1F3234C60D84}"/>
                </a:ext>
              </a:extLst>
            </p:cNvPr>
            <p:cNvCxnSpPr>
              <a:cxnSpLocks/>
            </p:cNvCxnSpPr>
            <p:nvPr/>
          </p:nvCxnSpPr>
          <p:spPr>
            <a:xfrm flipV="1">
              <a:off x="9514488" y="2369961"/>
              <a:ext cx="371476" cy="633369"/>
            </a:xfrm>
            <a:prstGeom prst="line">
              <a:avLst/>
            </a:prstGeom>
            <a:ln w="38100">
              <a:solidFill>
                <a:srgbClr val="00B0F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F3704C4-F7D6-4E01-A3EC-AC05A253CF0F}"/>
                </a:ext>
              </a:extLst>
            </p:cNvPr>
            <p:cNvCxnSpPr>
              <a:cxnSpLocks/>
            </p:cNvCxnSpPr>
            <p:nvPr/>
          </p:nvCxnSpPr>
          <p:spPr>
            <a:xfrm>
              <a:off x="9955019" y="2524699"/>
              <a:ext cx="595996" cy="1479172"/>
            </a:xfrm>
            <a:prstGeom prst="line">
              <a:avLst/>
            </a:prstGeom>
            <a:ln w="38100">
              <a:solidFill>
                <a:srgbClr val="00B0F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CDC493-2DAD-4ADC-B2B6-41268B5405A4}"/>
                </a:ext>
              </a:extLst>
            </p:cNvPr>
            <p:cNvCxnSpPr>
              <a:cxnSpLocks/>
            </p:cNvCxnSpPr>
            <p:nvPr/>
          </p:nvCxnSpPr>
          <p:spPr>
            <a:xfrm flipH="1" flipV="1">
              <a:off x="9958475" y="2369961"/>
              <a:ext cx="592540" cy="11758"/>
            </a:xfrm>
            <a:prstGeom prst="line">
              <a:avLst/>
            </a:prstGeom>
            <a:ln w="114300">
              <a:solidFill>
                <a:srgbClr val="00B0F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3CAF869-0491-4809-B1AA-980718E7FE62}"/>
                </a:ext>
              </a:extLst>
            </p:cNvPr>
            <p:cNvCxnSpPr>
              <a:cxnSpLocks/>
            </p:cNvCxnSpPr>
            <p:nvPr/>
          </p:nvCxnSpPr>
          <p:spPr>
            <a:xfrm flipV="1">
              <a:off x="9621175" y="3146586"/>
              <a:ext cx="1149772" cy="4412"/>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BB4EEF27-9FF8-4C1F-91D3-762683364CB2}"/>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757E917C-5C07-4B3F-A94E-03E439314916}"/>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F072C5AF-B00E-4FCA-9B4F-1EE0227005F3}"/>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CDB64D64-B3D8-419A-90C9-08B4BF8F9BCB}"/>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F40D4FFA-52D4-4DB7-B56D-77047CE00218}"/>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9FE49765-A74E-4FBE-B278-F3500F16F7AE}"/>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77BEE641-3AA7-45CE-B815-D89807E3722C}"/>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10FE99E3-AAA8-48AC-ADDA-EF39699D3D03}"/>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4E14E10A-527B-4EBA-B3B4-9888E513F823}"/>
                </a:ext>
              </a:extLst>
            </p:cNvPr>
            <p:cNvCxnSpPr>
              <a:cxnSpLocks/>
            </p:cNvCxnSpPr>
            <p:nvPr/>
          </p:nvCxnSpPr>
          <p:spPr>
            <a:xfrm>
              <a:off x="10633677" y="2381719"/>
              <a:ext cx="208190" cy="612089"/>
            </a:xfrm>
            <a:prstGeom prst="line">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ABB04E5-BDB5-4F5A-99BD-A01AE73C3B76}"/>
                </a:ext>
              </a:extLst>
            </p:cNvPr>
            <p:cNvCxnSpPr>
              <a:cxnSpLocks/>
            </p:cNvCxnSpPr>
            <p:nvPr/>
          </p:nvCxnSpPr>
          <p:spPr>
            <a:xfrm>
              <a:off x="9448800" y="3164870"/>
              <a:ext cx="375252" cy="481399"/>
            </a:xfrm>
            <a:prstGeom prst="line">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2E0F25B-A0BC-419E-9CC4-32185D16F736}"/>
                </a:ext>
              </a:extLst>
            </p:cNvPr>
            <p:cNvCxnSpPr>
              <a:cxnSpLocks/>
            </p:cNvCxnSpPr>
            <p:nvPr/>
          </p:nvCxnSpPr>
          <p:spPr>
            <a:xfrm>
              <a:off x="9952802" y="3806833"/>
              <a:ext cx="0" cy="385686"/>
            </a:xfrm>
            <a:prstGeom prst="line">
              <a:avLst/>
            </a:prstGeom>
            <a:ln w="76200">
              <a:solidFill>
                <a:schemeClr val="tx1"/>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2BFB694-44AB-4977-A7A7-8330894A76F6}"/>
                </a:ext>
              </a:extLst>
            </p:cNvPr>
            <p:cNvCxnSpPr>
              <a:cxnSpLocks/>
            </p:cNvCxnSpPr>
            <p:nvPr/>
          </p:nvCxnSpPr>
          <p:spPr>
            <a:xfrm>
              <a:off x="10064521" y="3806833"/>
              <a:ext cx="486494" cy="197038"/>
            </a:xfrm>
            <a:prstGeom prst="line">
              <a:avLst/>
            </a:prstGeom>
            <a:ln w="762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111E8BE-9EF2-467E-89EE-6928B878FF73}"/>
                </a:ext>
              </a:extLst>
            </p:cNvPr>
            <p:cNvCxnSpPr>
              <a:cxnSpLocks/>
            </p:cNvCxnSpPr>
            <p:nvPr/>
          </p:nvCxnSpPr>
          <p:spPr>
            <a:xfrm flipV="1">
              <a:off x="10108205" y="4003872"/>
              <a:ext cx="442810" cy="284786"/>
            </a:xfrm>
            <a:prstGeom prst="line">
              <a:avLst/>
            </a:prstGeom>
            <a:ln w="762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C12B4F3-C9B6-46B9-851B-B6036EFC6567}"/>
                </a:ext>
              </a:extLst>
            </p:cNvPr>
            <p:cNvCxnSpPr>
              <a:cxnSpLocks/>
            </p:cNvCxnSpPr>
            <p:nvPr/>
          </p:nvCxnSpPr>
          <p:spPr>
            <a:xfrm>
              <a:off x="9952802" y="4355881"/>
              <a:ext cx="351602" cy="610515"/>
            </a:xfrm>
            <a:prstGeom prst="line">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713D0F6-1165-4E72-9618-E30D90F1A9FF}"/>
                </a:ext>
              </a:extLst>
            </p:cNvPr>
            <p:cNvSpPr txBox="1"/>
            <p:nvPr/>
          </p:nvSpPr>
          <p:spPr>
            <a:xfrm>
              <a:off x="9683332" y="2189933"/>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p:txBody>
        </p:sp>
        <p:sp>
          <p:nvSpPr>
            <p:cNvPr id="27" name="TextBox 26">
              <a:extLst>
                <a:ext uri="{FF2B5EF4-FFF2-40B4-BE49-F238E27FC236}">
                  <a16:creationId xmlns:a16="http://schemas.microsoft.com/office/drawing/2014/main" id="{5F987D46-B666-4D38-850D-7E6C4BF1771D}"/>
                </a:ext>
              </a:extLst>
            </p:cNvPr>
            <p:cNvSpPr txBox="1"/>
            <p:nvPr/>
          </p:nvSpPr>
          <p:spPr>
            <a:xfrm>
              <a:off x="10426063" y="218529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p:txBody>
        </p:sp>
        <p:sp>
          <p:nvSpPr>
            <p:cNvPr id="28" name="TextBox 27">
              <a:extLst>
                <a:ext uri="{FF2B5EF4-FFF2-40B4-BE49-F238E27FC236}">
                  <a16:creationId xmlns:a16="http://schemas.microsoft.com/office/drawing/2014/main" id="{36676740-0418-4494-8D20-36EF10FEF0FE}"/>
                </a:ext>
              </a:extLst>
            </p:cNvPr>
            <p:cNvSpPr txBox="1"/>
            <p:nvPr/>
          </p:nvSpPr>
          <p:spPr>
            <a:xfrm>
              <a:off x="9236782" y="2966332"/>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p:txBody>
        </p:sp>
        <p:sp>
          <p:nvSpPr>
            <p:cNvPr id="29" name="TextBox 28">
              <a:extLst>
                <a:ext uri="{FF2B5EF4-FFF2-40B4-BE49-F238E27FC236}">
                  <a16:creationId xmlns:a16="http://schemas.microsoft.com/office/drawing/2014/main" id="{E2EFDCE1-24A9-4BFC-AA12-EA68CDAC6069}"/>
                </a:ext>
              </a:extLst>
            </p:cNvPr>
            <p:cNvSpPr txBox="1"/>
            <p:nvPr/>
          </p:nvSpPr>
          <p:spPr>
            <a:xfrm>
              <a:off x="10681854" y="2973587"/>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p:txBody>
        </p:sp>
        <p:sp>
          <p:nvSpPr>
            <p:cNvPr id="30" name="TextBox 29">
              <a:extLst>
                <a:ext uri="{FF2B5EF4-FFF2-40B4-BE49-F238E27FC236}">
                  <a16:creationId xmlns:a16="http://schemas.microsoft.com/office/drawing/2014/main" id="{4FCB1CE9-38C4-44B1-9802-AA0DE965534F}"/>
                </a:ext>
              </a:extLst>
            </p:cNvPr>
            <p:cNvSpPr txBox="1"/>
            <p:nvPr/>
          </p:nvSpPr>
          <p:spPr>
            <a:xfrm>
              <a:off x="9727148" y="3578948"/>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p:txBody>
        </p:sp>
        <p:sp>
          <p:nvSpPr>
            <p:cNvPr id="31" name="TextBox 30">
              <a:extLst>
                <a:ext uri="{FF2B5EF4-FFF2-40B4-BE49-F238E27FC236}">
                  <a16:creationId xmlns:a16="http://schemas.microsoft.com/office/drawing/2014/main" id="{783453A0-7E60-450D-856A-D739F4EB5E8F}"/>
                </a:ext>
              </a:extLst>
            </p:cNvPr>
            <p:cNvSpPr txBox="1"/>
            <p:nvPr/>
          </p:nvSpPr>
          <p:spPr>
            <a:xfrm>
              <a:off x="10339527" y="382416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p:txBody>
        </p:sp>
        <p:sp>
          <p:nvSpPr>
            <p:cNvPr id="32" name="TextBox 31">
              <a:extLst>
                <a:ext uri="{FF2B5EF4-FFF2-40B4-BE49-F238E27FC236}">
                  <a16:creationId xmlns:a16="http://schemas.microsoft.com/office/drawing/2014/main" id="{03CFF144-7228-45EC-BC18-6AFD291FB40F}"/>
                </a:ext>
              </a:extLst>
            </p:cNvPr>
            <p:cNvSpPr txBox="1"/>
            <p:nvPr/>
          </p:nvSpPr>
          <p:spPr>
            <a:xfrm>
              <a:off x="9753065" y="4179819"/>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p:txBody>
        </p:sp>
        <p:sp>
          <p:nvSpPr>
            <p:cNvPr id="33" name="TextBox 32">
              <a:extLst>
                <a:ext uri="{FF2B5EF4-FFF2-40B4-BE49-F238E27FC236}">
                  <a16:creationId xmlns:a16="http://schemas.microsoft.com/office/drawing/2014/main" id="{0ABD7D06-DBB5-4D34-B10C-2B9F92CB57E6}"/>
                </a:ext>
              </a:extLst>
            </p:cNvPr>
            <p:cNvSpPr txBox="1"/>
            <p:nvPr/>
          </p:nvSpPr>
          <p:spPr>
            <a:xfrm>
              <a:off x="10168167" y="4940996"/>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p:txBody>
        </p:sp>
      </p:grpSp>
      <p:graphicFrame>
        <p:nvGraphicFramePr>
          <p:cNvPr id="34" name="Table 38">
            <a:extLst>
              <a:ext uri="{FF2B5EF4-FFF2-40B4-BE49-F238E27FC236}">
                <a16:creationId xmlns:a16="http://schemas.microsoft.com/office/drawing/2014/main" id="{E8744368-6D01-4167-8F71-404FAE57D24D}"/>
              </a:ext>
            </a:extLst>
          </p:cNvPr>
          <p:cNvGraphicFramePr>
            <a:graphicFrameLocks noGrp="1"/>
          </p:cNvGraphicFramePr>
          <p:nvPr>
            <p:extLst>
              <p:ext uri="{D42A27DB-BD31-4B8C-83A1-F6EECF244321}">
                <p14:modId xmlns:p14="http://schemas.microsoft.com/office/powerpoint/2010/main" val="396928780"/>
              </p:ext>
            </p:extLst>
          </p:nvPr>
        </p:nvGraphicFramePr>
        <p:xfrm>
          <a:off x="4450080" y="3015657"/>
          <a:ext cx="3291840" cy="329184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1160791391"/>
                    </a:ext>
                  </a:extLst>
                </a:gridCol>
                <a:gridCol w="365760">
                  <a:extLst>
                    <a:ext uri="{9D8B030D-6E8A-4147-A177-3AD203B41FA5}">
                      <a16:colId xmlns:a16="http://schemas.microsoft.com/office/drawing/2014/main" val="3580078151"/>
                    </a:ext>
                  </a:extLst>
                </a:gridCol>
                <a:gridCol w="365760">
                  <a:extLst>
                    <a:ext uri="{9D8B030D-6E8A-4147-A177-3AD203B41FA5}">
                      <a16:colId xmlns:a16="http://schemas.microsoft.com/office/drawing/2014/main" val="3040861133"/>
                    </a:ext>
                  </a:extLst>
                </a:gridCol>
                <a:gridCol w="365760">
                  <a:extLst>
                    <a:ext uri="{9D8B030D-6E8A-4147-A177-3AD203B41FA5}">
                      <a16:colId xmlns:a16="http://schemas.microsoft.com/office/drawing/2014/main" val="3750205406"/>
                    </a:ext>
                  </a:extLst>
                </a:gridCol>
                <a:gridCol w="365760">
                  <a:extLst>
                    <a:ext uri="{9D8B030D-6E8A-4147-A177-3AD203B41FA5}">
                      <a16:colId xmlns:a16="http://schemas.microsoft.com/office/drawing/2014/main" val="137373489"/>
                    </a:ext>
                  </a:extLst>
                </a:gridCol>
                <a:gridCol w="365760">
                  <a:extLst>
                    <a:ext uri="{9D8B030D-6E8A-4147-A177-3AD203B41FA5}">
                      <a16:colId xmlns:a16="http://schemas.microsoft.com/office/drawing/2014/main" val="3559658997"/>
                    </a:ext>
                  </a:extLst>
                </a:gridCol>
                <a:gridCol w="365760">
                  <a:extLst>
                    <a:ext uri="{9D8B030D-6E8A-4147-A177-3AD203B41FA5}">
                      <a16:colId xmlns:a16="http://schemas.microsoft.com/office/drawing/2014/main" val="654325955"/>
                    </a:ext>
                  </a:extLst>
                </a:gridCol>
                <a:gridCol w="365760">
                  <a:extLst>
                    <a:ext uri="{9D8B030D-6E8A-4147-A177-3AD203B41FA5}">
                      <a16:colId xmlns:a16="http://schemas.microsoft.com/office/drawing/2014/main" val="340643525"/>
                    </a:ext>
                  </a:extLst>
                </a:gridCol>
                <a:gridCol w="365760">
                  <a:extLst>
                    <a:ext uri="{9D8B030D-6E8A-4147-A177-3AD203B41FA5}">
                      <a16:colId xmlns:a16="http://schemas.microsoft.com/office/drawing/2014/main" val="985285625"/>
                    </a:ext>
                  </a:extLst>
                </a:gridCol>
              </a:tblGrid>
              <a:tr h="355600">
                <a:tc>
                  <a:txBody>
                    <a:bodyPr/>
                    <a:lstStyle/>
                    <a:p>
                      <a:pPr algn="ctr"/>
                      <a:endParaRPr lang="fr-FR" dirty="0"/>
                    </a:p>
                  </a:txBody>
                  <a:tcPr>
                    <a:solidFill>
                      <a:schemeClr val="bg1"/>
                    </a:solidFill>
                  </a:tcPr>
                </a:tc>
                <a:tc>
                  <a:txBody>
                    <a:bodyPr/>
                    <a:lstStyle/>
                    <a:p>
                      <a:pPr algn="ctr"/>
                      <a:r>
                        <a:rPr lang="en-US" dirty="0">
                          <a:solidFill>
                            <a:schemeClr val="accent4">
                              <a:lumMod val="60000"/>
                              <a:lumOff val="40000"/>
                            </a:schemeClr>
                          </a:solidFill>
                        </a:rPr>
                        <a:t>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2</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3</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4</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5</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6</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7</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8</a:t>
                      </a:r>
                    </a:p>
                  </a:txBody>
                  <a:tcPr>
                    <a:solidFill>
                      <a:schemeClr val="tx1"/>
                    </a:solidFill>
                  </a:tcPr>
                </a:tc>
                <a:extLst>
                  <a:ext uri="{0D108BD9-81ED-4DB2-BD59-A6C34878D82A}">
                    <a16:rowId xmlns:a16="http://schemas.microsoft.com/office/drawing/2014/main" val="3337210578"/>
                  </a:ext>
                </a:extLst>
              </a:tr>
              <a:tr h="355600">
                <a:tc>
                  <a:txBody>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3</a:t>
                      </a:r>
                      <a:endParaRPr lang="fr-FR" dirty="0"/>
                    </a:p>
                  </a:txBody>
                  <a:tcPr>
                    <a:solidFill>
                      <a:srgbClr val="00B050"/>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113491038"/>
                  </a:ext>
                </a:extLst>
              </a:tr>
              <a:tr h="355600">
                <a:tc>
                  <a:txBody>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852759760"/>
                  </a:ext>
                </a:extLst>
              </a:tr>
              <a:tr h="355600">
                <a:tc>
                  <a:txBody>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492037244"/>
                  </a:ext>
                </a:extLst>
              </a:tr>
              <a:tr h="355600">
                <a:tc>
                  <a:txBody>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3594548446"/>
                  </a:ext>
                </a:extLst>
              </a:tr>
              <a:tr h="355600">
                <a:tc>
                  <a:txBody>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248068657"/>
                  </a:ext>
                </a:extLst>
              </a:tr>
              <a:tr h="355600">
                <a:tc>
                  <a:txBody>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2</a:t>
                      </a:r>
                      <a:endParaRPr lang="fr-FR" dirty="0"/>
                    </a:p>
                  </a:txBody>
                  <a:tcPr>
                    <a:solidFill>
                      <a:srgbClr val="00B050"/>
                    </a:solidFill>
                  </a:tcPr>
                </a:tc>
                <a:tc>
                  <a:txBody>
                    <a:bodyPr/>
                    <a:lstStyle/>
                    <a:p>
                      <a:pPr algn="ctr"/>
                      <a:r>
                        <a:rPr lang="en-US" dirty="0"/>
                        <a:t>0</a:t>
                      </a:r>
                      <a:endParaRPr lang="fr-FR" dirty="0"/>
                    </a:p>
                  </a:txBody>
                  <a:tcPr>
                    <a:solidFill>
                      <a:schemeClr val="bg1">
                        <a:lumMod val="95000"/>
                      </a:schemeClr>
                    </a:solidFill>
                  </a:tcPr>
                </a:tc>
                <a:extLst>
                  <a:ext uri="{0D108BD9-81ED-4DB2-BD59-A6C34878D82A}">
                    <a16:rowId xmlns:a16="http://schemas.microsoft.com/office/drawing/2014/main" val="1858898233"/>
                  </a:ext>
                </a:extLst>
              </a:tr>
              <a:tr h="355600">
                <a:tc>
                  <a:txBody>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1</a:t>
                      </a:r>
                      <a:endParaRPr lang="fr-FR" dirty="0"/>
                    </a:p>
                  </a:txBody>
                  <a:tcPr>
                    <a:solidFill>
                      <a:srgbClr val="00B050"/>
                    </a:solidFill>
                  </a:tcPr>
                </a:tc>
                <a:extLst>
                  <a:ext uri="{0D108BD9-81ED-4DB2-BD59-A6C34878D82A}">
                    <a16:rowId xmlns:a16="http://schemas.microsoft.com/office/drawing/2014/main" val="1993533395"/>
                  </a:ext>
                </a:extLst>
              </a:tr>
              <a:tr h="355600">
                <a:tc>
                  <a:txBody>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95000"/>
                      </a:schemeClr>
                    </a:solidFill>
                  </a:tcPr>
                </a:tc>
                <a:tc>
                  <a:txBody>
                    <a:bodyPr/>
                    <a:lstStyle/>
                    <a:p>
                      <a:pPr algn="ctr"/>
                      <a:r>
                        <a:rPr lang="en-US" dirty="0"/>
                        <a:t>0</a:t>
                      </a:r>
                      <a:endParaRPr lang="fr-FR" dirty="0"/>
                    </a:p>
                  </a:txBody>
                  <a:tcPr>
                    <a:solidFill>
                      <a:schemeClr val="accent6">
                        <a:lumMod val="20000"/>
                        <a:lumOff val="80000"/>
                      </a:schemeClr>
                    </a:solidFill>
                  </a:tcPr>
                </a:tc>
                <a:tc>
                  <a:txBody>
                    <a:bodyPr/>
                    <a:lstStyle/>
                    <a:p>
                      <a:pPr algn="ctr"/>
                      <a:r>
                        <a:rPr lang="en-US" dirty="0"/>
                        <a:t>0</a:t>
                      </a:r>
                      <a:endParaRPr lang="fr-FR" dirty="0"/>
                    </a:p>
                  </a:txBody>
                  <a:tcPr>
                    <a:solidFill>
                      <a:schemeClr val="bg1">
                        <a:lumMod val="50000"/>
                      </a:schemeClr>
                    </a:solidFill>
                  </a:tcPr>
                </a:tc>
                <a:extLst>
                  <a:ext uri="{0D108BD9-81ED-4DB2-BD59-A6C34878D82A}">
                    <a16:rowId xmlns:a16="http://schemas.microsoft.com/office/drawing/2014/main" val="3647899706"/>
                  </a:ext>
                </a:extLst>
              </a:tr>
            </a:tbl>
          </a:graphicData>
        </a:graphic>
      </p:graphicFrame>
      <p:graphicFrame>
        <p:nvGraphicFramePr>
          <p:cNvPr id="35" name="Table 4">
            <a:extLst>
              <a:ext uri="{FF2B5EF4-FFF2-40B4-BE49-F238E27FC236}">
                <a16:creationId xmlns:a16="http://schemas.microsoft.com/office/drawing/2014/main" id="{6F78B41B-6C13-4B50-AEBD-3C196F990A25}"/>
              </a:ext>
            </a:extLst>
          </p:cNvPr>
          <p:cNvGraphicFramePr>
            <a:graphicFrameLocks noGrp="1"/>
          </p:cNvGraphicFramePr>
          <p:nvPr>
            <p:extLst>
              <p:ext uri="{D42A27DB-BD31-4B8C-83A1-F6EECF244321}">
                <p14:modId xmlns:p14="http://schemas.microsoft.com/office/powerpoint/2010/main" val="2709824479"/>
              </p:ext>
            </p:extLst>
          </p:nvPr>
        </p:nvGraphicFramePr>
        <p:xfrm>
          <a:off x="9058468" y="2240705"/>
          <a:ext cx="2551176" cy="4043680"/>
        </p:xfrm>
        <a:graphic>
          <a:graphicData uri="http://schemas.openxmlformats.org/drawingml/2006/table">
            <a:tbl>
              <a:tblPr firstRow="1" bandRow="1">
                <a:tableStyleId>{5C22544A-7EE6-4342-B048-85BDC9FD1C3A}</a:tableStyleId>
              </a:tblPr>
              <a:tblGrid>
                <a:gridCol w="850392">
                  <a:extLst>
                    <a:ext uri="{9D8B030D-6E8A-4147-A177-3AD203B41FA5}">
                      <a16:colId xmlns:a16="http://schemas.microsoft.com/office/drawing/2014/main" val="3633928271"/>
                    </a:ext>
                  </a:extLst>
                </a:gridCol>
                <a:gridCol w="850392">
                  <a:extLst>
                    <a:ext uri="{9D8B030D-6E8A-4147-A177-3AD203B41FA5}">
                      <a16:colId xmlns:a16="http://schemas.microsoft.com/office/drawing/2014/main" val="448717354"/>
                    </a:ext>
                  </a:extLst>
                </a:gridCol>
                <a:gridCol w="850392">
                  <a:extLst>
                    <a:ext uri="{9D8B030D-6E8A-4147-A177-3AD203B41FA5}">
                      <a16:colId xmlns:a16="http://schemas.microsoft.com/office/drawing/2014/main" val="4130169604"/>
                    </a:ext>
                  </a:extLst>
                </a:gridCol>
              </a:tblGrid>
              <a:tr h="370840">
                <a:tc>
                  <a:txBody>
                    <a:bodyPr/>
                    <a:lstStyle/>
                    <a:p>
                      <a:pPr algn="ctr"/>
                      <a:r>
                        <a:rPr lang="en-US" dirty="0">
                          <a:solidFill>
                            <a:schemeClr val="accent4">
                              <a:lumMod val="60000"/>
                              <a:lumOff val="40000"/>
                            </a:schemeClr>
                          </a:solidFill>
                        </a:rPr>
                        <a:t>ID 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ID 2</a:t>
                      </a:r>
                      <a:endParaRPr lang="fr-FR" dirty="0">
                        <a:solidFill>
                          <a:schemeClr val="accent4">
                            <a:lumMod val="60000"/>
                            <a:lumOff val="40000"/>
                          </a:schemeClr>
                        </a:solidFill>
                      </a:endParaRPr>
                    </a:p>
                  </a:txBody>
                  <a:tcPr>
                    <a:solidFill>
                      <a:schemeClr val="tx1"/>
                    </a:solidFill>
                  </a:tcPr>
                </a:tc>
                <a:tc>
                  <a:txBody>
                    <a:bodyPr/>
                    <a:lstStyle/>
                    <a:p>
                      <a:pPr algn="ctr"/>
                      <a:r>
                        <a:rPr lang="en-US" sz="1200" dirty="0">
                          <a:solidFill>
                            <a:schemeClr val="accent4">
                              <a:lumMod val="60000"/>
                              <a:lumOff val="40000"/>
                            </a:schemeClr>
                          </a:solidFill>
                        </a:rPr>
                        <a:t>Attribute</a:t>
                      </a:r>
                      <a:endParaRPr lang="fr-FR" sz="1200" dirty="0">
                        <a:solidFill>
                          <a:schemeClr val="accent4">
                            <a:lumMod val="60000"/>
                            <a:lumOff val="40000"/>
                          </a:schemeClr>
                        </a:solidFill>
                      </a:endParaRPr>
                    </a:p>
                  </a:txBody>
                  <a:tcPr anchor="ctr">
                    <a:solidFill>
                      <a:schemeClr val="tx1"/>
                    </a:solidFill>
                  </a:tcPr>
                </a:tc>
                <a:extLst>
                  <a:ext uri="{0D108BD9-81ED-4DB2-BD59-A6C34878D82A}">
                    <a16:rowId xmlns:a16="http://schemas.microsoft.com/office/drawing/2014/main" val="3390748688"/>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fr-FR" dirty="0"/>
                        <a:t>3</a:t>
                      </a:r>
                    </a:p>
                  </a:txBody>
                  <a:tcPr>
                    <a:solidFill>
                      <a:schemeClr val="bg1">
                        <a:lumMod val="95000"/>
                      </a:schemeClr>
                    </a:solidFill>
                  </a:tcPr>
                </a:tc>
                <a:extLst>
                  <a:ext uri="{0D108BD9-81ED-4DB2-BD59-A6C34878D82A}">
                    <a16:rowId xmlns:a16="http://schemas.microsoft.com/office/drawing/2014/main" val="551088812"/>
                  </a:ext>
                </a:extLst>
              </a:tr>
              <a:tr h="370840">
                <a:tc>
                  <a:txBody>
                    <a:bodyPr/>
                    <a:lstStyle/>
                    <a:p>
                      <a:pPr algn="ctr"/>
                      <a:r>
                        <a:rPr lang="en-US" dirty="0"/>
                        <a:t>1</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2745773553"/>
                  </a:ext>
                </a:extLst>
              </a:tr>
              <a:tr h="370840">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1806561758"/>
                  </a:ext>
                </a:extLst>
              </a:tr>
              <a:tr h="185420">
                <a:tc>
                  <a:txBody>
                    <a:bodyPr/>
                    <a:lstStyle/>
                    <a:p>
                      <a:pPr algn="ctr"/>
                      <a:r>
                        <a:rPr lang="en-US" dirty="0"/>
                        <a:t>3</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2456207752"/>
                  </a:ext>
                </a:extLst>
              </a:tr>
              <a:tr h="185420">
                <a:tc>
                  <a:txBody>
                    <a:bodyPr/>
                    <a:lstStyle/>
                    <a:p>
                      <a:pPr algn="ctr"/>
                      <a:r>
                        <a:rPr lang="en-US" dirty="0"/>
                        <a:t>4</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1371277798"/>
                  </a:ext>
                </a:extLst>
              </a:tr>
              <a:tr h="121920">
                <a:tc>
                  <a:txBody>
                    <a:bodyPr/>
                    <a:lstStyle/>
                    <a:p>
                      <a:pPr algn="ctr"/>
                      <a:r>
                        <a:rPr lang="en-US" dirty="0"/>
                        <a:t>5</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tc>
                  <a:txBody>
                    <a:bodyPr/>
                    <a:lstStyle/>
                    <a:p>
                      <a:pPr algn="ctr"/>
                      <a:r>
                        <a:rPr lang="fr-FR" dirty="0"/>
                        <a:t>2</a:t>
                      </a:r>
                    </a:p>
                  </a:txBody>
                  <a:tcPr>
                    <a:solidFill>
                      <a:schemeClr val="bg1">
                        <a:lumMod val="95000"/>
                      </a:schemeClr>
                    </a:solidFill>
                  </a:tcPr>
                </a:tc>
                <a:extLst>
                  <a:ext uri="{0D108BD9-81ED-4DB2-BD59-A6C34878D82A}">
                    <a16:rowId xmlns:a16="http://schemas.microsoft.com/office/drawing/2014/main" val="1697648120"/>
                  </a:ext>
                </a:extLst>
              </a:tr>
              <a:tr h="243840">
                <a:tc>
                  <a:txBody>
                    <a:bodyPr/>
                    <a:lstStyle/>
                    <a:p>
                      <a:pPr algn="ctr"/>
                      <a:r>
                        <a:rPr lang="en-US" dirty="0"/>
                        <a:t>6</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extLst>
                  <a:ext uri="{0D108BD9-81ED-4DB2-BD59-A6C34878D82A}">
                    <a16:rowId xmlns:a16="http://schemas.microsoft.com/office/drawing/2014/main" val="3276464267"/>
                  </a:ext>
                </a:extLst>
              </a:tr>
              <a:tr h="121920">
                <a:tc>
                  <a:txBody>
                    <a:bodyPr/>
                    <a:lstStyle/>
                    <a:p>
                      <a:pPr algn="ctr"/>
                      <a:r>
                        <a:rPr lang="en-US" dirty="0"/>
                        <a:t>6</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fr-FR" dirty="0"/>
                        <a:t>2</a:t>
                      </a:r>
                    </a:p>
                  </a:txBody>
                  <a:tcPr>
                    <a:solidFill>
                      <a:schemeClr val="bg1">
                        <a:lumMod val="95000"/>
                      </a:schemeClr>
                    </a:solidFill>
                  </a:tcPr>
                </a:tc>
                <a:extLst>
                  <a:ext uri="{0D108BD9-81ED-4DB2-BD59-A6C34878D82A}">
                    <a16:rowId xmlns:a16="http://schemas.microsoft.com/office/drawing/2014/main" val="3872792594"/>
                  </a:ext>
                </a:extLst>
              </a:tr>
              <a:tr h="180340">
                <a:tc>
                  <a:txBody>
                    <a:bodyPr/>
                    <a:lstStyle/>
                    <a:p>
                      <a:pPr algn="ctr"/>
                      <a:r>
                        <a:rPr lang="en-US" dirty="0"/>
                        <a:t>6</a:t>
                      </a:r>
                      <a:endParaRPr lang="fr-FR" dirty="0"/>
                    </a:p>
                  </a:txBody>
                  <a:tcPr>
                    <a:solidFill>
                      <a:schemeClr val="bg1">
                        <a:lumMod val="95000"/>
                      </a:schemeClr>
                    </a:solidFill>
                  </a:tcPr>
                </a:tc>
                <a:tc>
                  <a:txBody>
                    <a:bodyPr/>
                    <a:lstStyle/>
                    <a:p>
                      <a:pPr algn="ctr"/>
                      <a:r>
                        <a:rPr lang="en-US" dirty="0"/>
                        <a:t>7</a:t>
                      </a:r>
                      <a:endParaRPr lang="fr-FR" dirty="0"/>
                    </a:p>
                  </a:txBody>
                  <a:tcPr>
                    <a:solidFill>
                      <a:schemeClr val="bg1">
                        <a:lumMod val="95000"/>
                      </a:schemeClr>
                    </a:solidFill>
                  </a:tcPr>
                </a:tc>
                <a:tc>
                  <a:txBody>
                    <a:bodyPr/>
                    <a:lstStyle/>
                    <a:p>
                      <a:pPr algn="ctr"/>
                      <a:r>
                        <a:rPr lang="fr-FR" dirty="0"/>
                        <a:t>2</a:t>
                      </a:r>
                    </a:p>
                  </a:txBody>
                  <a:tcPr>
                    <a:solidFill>
                      <a:schemeClr val="bg1">
                        <a:lumMod val="95000"/>
                      </a:schemeClr>
                    </a:solidFill>
                  </a:tcPr>
                </a:tc>
                <a:extLst>
                  <a:ext uri="{0D108BD9-81ED-4DB2-BD59-A6C34878D82A}">
                    <a16:rowId xmlns:a16="http://schemas.microsoft.com/office/drawing/2014/main" val="1414656967"/>
                  </a:ext>
                </a:extLst>
              </a:tr>
              <a:tr h="182880">
                <a:tc>
                  <a:txBody>
                    <a:bodyPr/>
                    <a:lstStyle/>
                    <a:p>
                      <a:pPr algn="ctr"/>
                      <a:r>
                        <a:rPr lang="en-US" dirty="0"/>
                        <a:t>7</a:t>
                      </a:r>
                      <a:endParaRPr lang="fr-FR" dirty="0"/>
                    </a:p>
                  </a:txBody>
                  <a:tcPr>
                    <a:solidFill>
                      <a:schemeClr val="bg1">
                        <a:lumMod val="95000"/>
                      </a:schemeClr>
                    </a:solidFill>
                  </a:tcPr>
                </a:tc>
                <a:tc>
                  <a:txBody>
                    <a:bodyPr/>
                    <a:lstStyle/>
                    <a:p>
                      <a:pPr algn="ctr"/>
                      <a:r>
                        <a:rPr lang="en-US" dirty="0"/>
                        <a:t>8</a:t>
                      </a:r>
                      <a:endParaRPr lang="fr-FR" dirty="0"/>
                    </a:p>
                  </a:txBody>
                  <a:tcPr>
                    <a:solidFill>
                      <a:schemeClr val="bg1">
                        <a:lumMod val="95000"/>
                      </a:schemeClr>
                    </a:solidFill>
                  </a:tcPr>
                </a:tc>
                <a:tc>
                  <a:txBody>
                    <a:bodyPr/>
                    <a:lstStyle/>
                    <a:p>
                      <a:pPr algn="ctr"/>
                      <a:r>
                        <a:rPr lang="fr-FR" dirty="0"/>
                        <a:t>1</a:t>
                      </a:r>
                    </a:p>
                  </a:txBody>
                  <a:tcPr>
                    <a:solidFill>
                      <a:schemeClr val="bg1">
                        <a:lumMod val="95000"/>
                      </a:schemeClr>
                    </a:solidFill>
                  </a:tcPr>
                </a:tc>
                <a:extLst>
                  <a:ext uri="{0D108BD9-81ED-4DB2-BD59-A6C34878D82A}">
                    <a16:rowId xmlns:a16="http://schemas.microsoft.com/office/drawing/2014/main" val="3617806729"/>
                  </a:ext>
                </a:extLst>
              </a:tr>
            </a:tbl>
          </a:graphicData>
        </a:graphic>
      </p:graphicFrame>
      <p:sp>
        <p:nvSpPr>
          <p:cNvPr id="36" name="Rectangle 35">
            <a:extLst>
              <a:ext uri="{FF2B5EF4-FFF2-40B4-BE49-F238E27FC236}">
                <a16:creationId xmlns:a16="http://schemas.microsoft.com/office/drawing/2014/main" id="{50FE6DFF-73EC-4657-AE0B-B2E16A622F4F}"/>
              </a:ext>
            </a:extLst>
          </p:cNvPr>
          <p:cNvSpPr/>
          <p:nvPr/>
        </p:nvSpPr>
        <p:spPr>
          <a:xfrm>
            <a:off x="4820092" y="3379800"/>
            <a:ext cx="2923455" cy="369332"/>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DAE14C6B-7340-4D9B-9A16-7C203276A842}"/>
              </a:ext>
            </a:extLst>
          </p:cNvPr>
          <p:cNvSpPr/>
          <p:nvPr/>
        </p:nvSpPr>
        <p:spPr>
          <a:xfrm rot="5400000">
            <a:off x="3532203" y="4656862"/>
            <a:ext cx="2923455" cy="369332"/>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37">
            <a:extLst>
              <a:ext uri="{FF2B5EF4-FFF2-40B4-BE49-F238E27FC236}">
                <a16:creationId xmlns:a16="http://schemas.microsoft.com/office/drawing/2014/main" id="{4CFC95F7-EF96-45D1-B9B1-71F98CF1E75F}"/>
              </a:ext>
            </a:extLst>
          </p:cNvPr>
          <p:cNvSpPr/>
          <p:nvPr/>
        </p:nvSpPr>
        <p:spPr>
          <a:xfrm>
            <a:off x="9080067" y="2594315"/>
            <a:ext cx="2529577" cy="772816"/>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DA2FAC9F-9AC3-427C-9C93-43F254A5A62D}"/>
              </a:ext>
            </a:extLst>
          </p:cNvPr>
          <p:cNvSpPr/>
          <p:nvPr/>
        </p:nvSpPr>
        <p:spPr>
          <a:xfrm>
            <a:off x="9090133" y="4836622"/>
            <a:ext cx="2529577" cy="353066"/>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extBox 4">
            <a:extLst>
              <a:ext uri="{FF2B5EF4-FFF2-40B4-BE49-F238E27FC236}">
                <a16:creationId xmlns:a16="http://schemas.microsoft.com/office/drawing/2014/main" id="{EDB687EC-780E-BDFB-609E-7C932842B937}"/>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Static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1928649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6EF36BB0-F01D-5E1C-8F31-D358137DB7D9}"/>
              </a:ext>
            </a:extLst>
          </p:cNvPr>
          <p:cNvSpPr txBox="1"/>
          <p:nvPr/>
        </p:nvSpPr>
        <p:spPr>
          <a:xfrm>
            <a:off x="442948" y="1572173"/>
            <a:ext cx="11449134" cy="400110"/>
          </a:xfrm>
          <a:prstGeom prst="rect">
            <a:avLst/>
          </a:prstGeom>
          <a:noFill/>
        </p:spPr>
        <p:txBody>
          <a:bodyPr wrap="square" rtlCol="0">
            <a:spAutoFit/>
          </a:bodyPr>
          <a:lstStyle/>
          <a:p>
            <a:r>
              <a:rPr lang="en-US" sz="2000" dirty="0"/>
              <a:t>You can also create </a:t>
            </a:r>
            <a:r>
              <a:rPr lang="en-US" sz="2000" b="1" i="1" dirty="0">
                <a:solidFill>
                  <a:schemeClr val="accent4">
                    <a:lumMod val="75000"/>
                  </a:schemeClr>
                </a:solidFill>
              </a:rPr>
              <a:t>directed networks</a:t>
            </a:r>
          </a:p>
        </p:txBody>
      </p:sp>
      <p:cxnSp>
        <p:nvCxnSpPr>
          <p:cNvPr id="8" name="Straight Connector 7">
            <a:extLst>
              <a:ext uri="{FF2B5EF4-FFF2-40B4-BE49-F238E27FC236}">
                <a16:creationId xmlns:a16="http://schemas.microsoft.com/office/drawing/2014/main" id="{48E411BA-8741-43F0-B82F-1F3234C60D84}"/>
              </a:ext>
            </a:extLst>
          </p:cNvPr>
          <p:cNvCxnSpPr>
            <a:cxnSpLocks/>
          </p:cNvCxnSpPr>
          <p:nvPr/>
        </p:nvCxnSpPr>
        <p:spPr>
          <a:xfrm flipV="1">
            <a:off x="1485899" y="3367130"/>
            <a:ext cx="371476" cy="633369"/>
          </a:xfrm>
          <a:prstGeom prst="line">
            <a:avLst/>
          </a:prstGeom>
          <a:ln w="38100">
            <a:solidFill>
              <a:srgbClr val="00B0F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F3704C4-F7D6-4E01-A3EC-AC05A253CF0F}"/>
              </a:ext>
            </a:extLst>
          </p:cNvPr>
          <p:cNvCxnSpPr>
            <a:cxnSpLocks/>
          </p:cNvCxnSpPr>
          <p:nvPr/>
        </p:nvCxnSpPr>
        <p:spPr>
          <a:xfrm>
            <a:off x="1926430" y="3521868"/>
            <a:ext cx="595996" cy="1479172"/>
          </a:xfrm>
          <a:prstGeom prst="line">
            <a:avLst/>
          </a:prstGeom>
          <a:ln w="38100">
            <a:solidFill>
              <a:srgbClr val="00B0F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CDC493-2DAD-4ADC-B2B6-41268B5405A4}"/>
              </a:ext>
            </a:extLst>
          </p:cNvPr>
          <p:cNvCxnSpPr>
            <a:cxnSpLocks/>
          </p:cNvCxnSpPr>
          <p:nvPr/>
        </p:nvCxnSpPr>
        <p:spPr>
          <a:xfrm flipH="1" flipV="1">
            <a:off x="1929886" y="3367130"/>
            <a:ext cx="592540" cy="11758"/>
          </a:xfrm>
          <a:prstGeom prst="line">
            <a:avLst/>
          </a:prstGeom>
          <a:ln w="114300">
            <a:solidFill>
              <a:srgbClr val="00B0F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3CAF869-0491-4809-B1AA-980718E7FE62}"/>
              </a:ext>
            </a:extLst>
          </p:cNvPr>
          <p:cNvCxnSpPr>
            <a:cxnSpLocks/>
          </p:cNvCxnSpPr>
          <p:nvPr/>
        </p:nvCxnSpPr>
        <p:spPr>
          <a:xfrm flipV="1">
            <a:off x="1592586" y="4143755"/>
            <a:ext cx="1149772" cy="4412"/>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BB4EEF27-9FF8-4C1F-91D3-762683364CB2}"/>
              </a:ext>
            </a:extLst>
          </p:cNvPr>
          <p:cNvSpPr/>
          <p:nvPr/>
        </p:nvSpPr>
        <p:spPr>
          <a:xfrm>
            <a:off x="1248573" y="3974435"/>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757E917C-5C07-4B3F-A94E-03E439314916}"/>
              </a:ext>
            </a:extLst>
          </p:cNvPr>
          <p:cNvSpPr/>
          <p:nvPr/>
        </p:nvSpPr>
        <p:spPr>
          <a:xfrm>
            <a:off x="2694064" y="3974435"/>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F072C5AF-B00E-4FCA-9B4F-1EE0227005F3}"/>
              </a:ext>
            </a:extLst>
          </p:cNvPr>
          <p:cNvSpPr/>
          <p:nvPr/>
        </p:nvSpPr>
        <p:spPr>
          <a:xfrm>
            <a:off x="1740541" y="457728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CDB64D64-B3D8-419A-90C9-08B4BF8F9BCB}"/>
              </a:ext>
            </a:extLst>
          </p:cNvPr>
          <p:cNvSpPr/>
          <p:nvPr/>
        </p:nvSpPr>
        <p:spPr>
          <a:xfrm>
            <a:off x="2350788" y="4829402"/>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F40D4FFA-52D4-4DB7-B56D-77047CE00218}"/>
              </a:ext>
            </a:extLst>
          </p:cNvPr>
          <p:cNvSpPr/>
          <p:nvPr/>
        </p:nvSpPr>
        <p:spPr>
          <a:xfrm>
            <a:off x="1758248" y="5182449"/>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9FE49765-A74E-4FBE-B278-F3500F16F7AE}"/>
              </a:ext>
            </a:extLst>
          </p:cNvPr>
          <p:cNvSpPr/>
          <p:nvPr/>
        </p:nvSpPr>
        <p:spPr>
          <a:xfrm>
            <a:off x="2179150" y="5932847"/>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77BEE641-3AA7-45CE-B815-D89807E3722C}"/>
              </a:ext>
            </a:extLst>
          </p:cNvPr>
          <p:cNvSpPr/>
          <p:nvPr/>
        </p:nvSpPr>
        <p:spPr>
          <a:xfrm>
            <a:off x="1686306" y="3193592"/>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10FE99E3-AAA8-48AC-ADDA-EF39699D3D03}"/>
              </a:ext>
            </a:extLst>
          </p:cNvPr>
          <p:cNvSpPr/>
          <p:nvPr/>
        </p:nvSpPr>
        <p:spPr>
          <a:xfrm>
            <a:off x="2434282" y="3192235"/>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4E14E10A-527B-4EBA-B3B4-9888E513F823}"/>
              </a:ext>
            </a:extLst>
          </p:cNvPr>
          <p:cNvCxnSpPr>
            <a:cxnSpLocks/>
          </p:cNvCxnSpPr>
          <p:nvPr/>
        </p:nvCxnSpPr>
        <p:spPr>
          <a:xfrm>
            <a:off x="2605088" y="3378888"/>
            <a:ext cx="208190" cy="612089"/>
          </a:xfrm>
          <a:prstGeom prst="line">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ABB04E5-BDB5-4F5A-99BD-A01AE73C3B76}"/>
              </a:ext>
            </a:extLst>
          </p:cNvPr>
          <p:cNvCxnSpPr>
            <a:cxnSpLocks/>
          </p:cNvCxnSpPr>
          <p:nvPr/>
        </p:nvCxnSpPr>
        <p:spPr>
          <a:xfrm>
            <a:off x="1420211" y="4162039"/>
            <a:ext cx="375252" cy="481399"/>
          </a:xfrm>
          <a:prstGeom prst="line">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2E0F25B-A0BC-419E-9CC4-32185D16F736}"/>
              </a:ext>
            </a:extLst>
          </p:cNvPr>
          <p:cNvCxnSpPr>
            <a:cxnSpLocks/>
          </p:cNvCxnSpPr>
          <p:nvPr/>
        </p:nvCxnSpPr>
        <p:spPr>
          <a:xfrm>
            <a:off x="1924213" y="4804002"/>
            <a:ext cx="0" cy="385686"/>
          </a:xfrm>
          <a:prstGeom prst="line">
            <a:avLst/>
          </a:prstGeom>
          <a:ln w="76200">
            <a:solidFill>
              <a:schemeClr val="tx1"/>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2BFB694-44AB-4977-A7A7-8330894A76F6}"/>
              </a:ext>
            </a:extLst>
          </p:cNvPr>
          <p:cNvCxnSpPr>
            <a:cxnSpLocks/>
          </p:cNvCxnSpPr>
          <p:nvPr/>
        </p:nvCxnSpPr>
        <p:spPr>
          <a:xfrm>
            <a:off x="2035932" y="4804002"/>
            <a:ext cx="486494" cy="197038"/>
          </a:xfrm>
          <a:prstGeom prst="line">
            <a:avLst/>
          </a:prstGeom>
          <a:ln w="762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111E8BE-9EF2-467E-89EE-6928B878FF73}"/>
              </a:ext>
            </a:extLst>
          </p:cNvPr>
          <p:cNvCxnSpPr>
            <a:cxnSpLocks/>
          </p:cNvCxnSpPr>
          <p:nvPr/>
        </p:nvCxnSpPr>
        <p:spPr>
          <a:xfrm flipV="1">
            <a:off x="2079616" y="5001041"/>
            <a:ext cx="442810" cy="284786"/>
          </a:xfrm>
          <a:prstGeom prst="line">
            <a:avLst/>
          </a:prstGeom>
          <a:ln w="762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C12B4F3-C9B6-46B9-851B-B6036EFC6567}"/>
              </a:ext>
            </a:extLst>
          </p:cNvPr>
          <p:cNvCxnSpPr>
            <a:cxnSpLocks/>
          </p:cNvCxnSpPr>
          <p:nvPr/>
        </p:nvCxnSpPr>
        <p:spPr>
          <a:xfrm>
            <a:off x="1924213" y="5353050"/>
            <a:ext cx="351602" cy="610515"/>
          </a:xfrm>
          <a:prstGeom prst="line">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713D0F6-1165-4E72-9618-E30D90F1A9FF}"/>
              </a:ext>
            </a:extLst>
          </p:cNvPr>
          <p:cNvSpPr txBox="1"/>
          <p:nvPr/>
        </p:nvSpPr>
        <p:spPr>
          <a:xfrm>
            <a:off x="1654743" y="3187102"/>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p:txBody>
      </p:sp>
      <p:sp>
        <p:nvSpPr>
          <p:cNvPr id="27" name="TextBox 26">
            <a:extLst>
              <a:ext uri="{FF2B5EF4-FFF2-40B4-BE49-F238E27FC236}">
                <a16:creationId xmlns:a16="http://schemas.microsoft.com/office/drawing/2014/main" id="{5F987D46-B666-4D38-850D-7E6C4BF1771D}"/>
              </a:ext>
            </a:extLst>
          </p:cNvPr>
          <p:cNvSpPr txBox="1"/>
          <p:nvPr/>
        </p:nvSpPr>
        <p:spPr>
          <a:xfrm>
            <a:off x="2397474" y="3182464"/>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p:txBody>
      </p:sp>
      <p:sp>
        <p:nvSpPr>
          <p:cNvPr id="28" name="TextBox 27">
            <a:extLst>
              <a:ext uri="{FF2B5EF4-FFF2-40B4-BE49-F238E27FC236}">
                <a16:creationId xmlns:a16="http://schemas.microsoft.com/office/drawing/2014/main" id="{36676740-0418-4494-8D20-36EF10FEF0FE}"/>
              </a:ext>
            </a:extLst>
          </p:cNvPr>
          <p:cNvSpPr txBox="1"/>
          <p:nvPr/>
        </p:nvSpPr>
        <p:spPr>
          <a:xfrm>
            <a:off x="1208193" y="3963501"/>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p:txBody>
      </p:sp>
      <p:sp>
        <p:nvSpPr>
          <p:cNvPr id="29" name="TextBox 28">
            <a:extLst>
              <a:ext uri="{FF2B5EF4-FFF2-40B4-BE49-F238E27FC236}">
                <a16:creationId xmlns:a16="http://schemas.microsoft.com/office/drawing/2014/main" id="{E2EFDCE1-24A9-4BFC-AA12-EA68CDAC6069}"/>
              </a:ext>
            </a:extLst>
          </p:cNvPr>
          <p:cNvSpPr txBox="1"/>
          <p:nvPr/>
        </p:nvSpPr>
        <p:spPr>
          <a:xfrm>
            <a:off x="2653265" y="3970756"/>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p:txBody>
      </p:sp>
      <p:sp>
        <p:nvSpPr>
          <p:cNvPr id="30" name="TextBox 29">
            <a:extLst>
              <a:ext uri="{FF2B5EF4-FFF2-40B4-BE49-F238E27FC236}">
                <a16:creationId xmlns:a16="http://schemas.microsoft.com/office/drawing/2014/main" id="{4FCB1CE9-38C4-44B1-9802-AA0DE965534F}"/>
              </a:ext>
            </a:extLst>
          </p:cNvPr>
          <p:cNvSpPr txBox="1"/>
          <p:nvPr/>
        </p:nvSpPr>
        <p:spPr>
          <a:xfrm>
            <a:off x="1698559" y="4576117"/>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p:txBody>
      </p:sp>
      <p:sp>
        <p:nvSpPr>
          <p:cNvPr id="31" name="TextBox 30">
            <a:extLst>
              <a:ext uri="{FF2B5EF4-FFF2-40B4-BE49-F238E27FC236}">
                <a16:creationId xmlns:a16="http://schemas.microsoft.com/office/drawing/2014/main" id="{783453A0-7E60-450D-856A-D739F4EB5E8F}"/>
              </a:ext>
            </a:extLst>
          </p:cNvPr>
          <p:cNvSpPr txBox="1"/>
          <p:nvPr/>
        </p:nvSpPr>
        <p:spPr>
          <a:xfrm>
            <a:off x="2310938" y="4821334"/>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p:txBody>
      </p:sp>
      <p:sp>
        <p:nvSpPr>
          <p:cNvPr id="32" name="TextBox 31">
            <a:extLst>
              <a:ext uri="{FF2B5EF4-FFF2-40B4-BE49-F238E27FC236}">
                <a16:creationId xmlns:a16="http://schemas.microsoft.com/office/drawing/2014/main" id="{03CFF144-7228-45EC-BC18-6AFD291FB40F}"/>
              </a:ext>
            </a:extLst>
          </p:cNvPr>
          <p:cNvSpPr txBox="1"/>
          <p:nvPr/>
        </p:nvSpPr>
        <p:spPr>
          <a:xfrm>
            <a:off x="1724476" y="5176988"/>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p:txBody>
      </p:sp>
      <p:sp>
        <p:nvSpPr>
          <p:cNvPr id="33" name="TextBox 32">
            <a:extLst>
              <a:ext uri="{FF2B5EF4-FFF2-40B4-BE49-F238E27FC236}">
                <a16:creationId xmlns:a16="http://schemas.microsoft.com/office/drawing/2014/main" id="{0ABD7D06-DBB5-4D34-B10C-2B9F92CB57E6}"/>
              </a:ext>
            </a:extLst>
          </p:cNvPr>
          <p:cNvSpPr txBox="1"/>
          <p:nvPr/>
        </p:nvSpPr>
        <p:spPr>
          <a:xfrm>
            <a:off x="2139578" y="5938165"/>
            <a:ext cx="424873" cy="369332"/>
          </a:xfrm>
          <a:prstGeom prst="rect">
            <a:avLst/>
          </a:prstGeom>
          <a:noFill/>
        </p:spPr>
        <p:txBody>
          <a:bodyPr wrap="square" rtlCol="0">
            <a:spAutoFit/>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p:txBody>
      </p:sp>
      <p:pic>
        <p:nvPicPr>
          <p:cNvPr id="39" name="Picture 38">
            <a:extLst>
              <a:ext uri="{FF2B5EF4-FFF2-40B4-BE49-F238E27FC236}">
                <a16:creationId xmlns:a16="http://schemas.microsoft.com/office/drawing/2014/main" id="{B58817D8-0CA9-4895-8CE7-58565EE4E08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44873" y="1002205"/>
            <a:ext cx="3048000" cy="2033016"/>
          </a:xfrm>
          <a:prstGeom prst="rect">
            <a:avLst/>
          </a:prstGeom>
        </p:spPr>
      </p:pic>
      <p:pic>
        <p:nvPicPr>
          <p:cNvPr id="41" name="Picture 40">
            <a:extLst>
              <a:ext uri="{FF2B5EF4-FFF2-40B4-BE49-F238E27FC236}">
                <a16:creationId xmlns:a16="http://schemas.microsoft.com/office/drawing/2014/main" id="{8161554A-ED0A-4648-86B7-6A28FC48BB2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973018" y="2880686"/>
            <a:ext cx="3401936" cy="1914092"/>
          </a:xfrm>
          <a:prstGeom prst="rect">
            <a:avLst/>
          </a:prstGeom>
        </p:spPr>
      </p:pic>
      <p:pic>
        <p:nvPicPr>
          <p:cNvPr id="43" name="Picture 42">
            <a:extLst>
              <a:ext uri="{FF2B5EF4-FFF2-40B4-BE49-F238E27FC236}">
                <a16:creationId xmlns:a16="http://schemas.microsoft.com/office/drawing/2014/main" id="{BA2E4E0E-9AB5-473E-BF33-13F866FC0AB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268380" y="4354519"/>
            <a:ext cx="3318804" cy="2212535"/>
          </a:xfrm>
          <a:prstGeom prst="rect">
            <a:avLst/>
          </a:prstGeom>
        </p:spPr>
      </p:pic>
      <p:sp>
        <p:nvSpPr>
          <p:cNvPr id="4" name="TextBox 3">
            <a:extLst>
              <a:ext uri="{FF2B5EF4-FFF2-40B4-BE49-F238E27FC236}">
                <a16:creationId xmlns:a16="http://schemas.microsoft.com/office/drawing/2014/main" id="{50FC5426-F320-8BD4-6B53-AAD88CC8DF9E}"/>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Static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3749139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F378C50F-24FF-4AB1-9554-2CBD0631969C}"/>
              </a:ext>
            </a:extLst>
          </p:cNvPr>
          <p:cNvSpPr txBox="1"/>
          <p:nvPr/>
        </p:nvSpPr>
        <p:spPr>
          <a:xfrm>
            <a:off x="442948" y="1572173"/>
            <a:ext cx="11449134" cy="400110"/>
          </a:xfrm>
          <a:prstGeom prst="rect">
            <a:avLst/>
          </a:prstGeom>
          <a:noFill/>
        </p:spPr>
        <p:txBody>
          <a:bodyPr wrap="square" rtlCol="0">
            <a:spAutoFit/>
          </a:bodyPr>
          <a:lstStyle/>
          <a:p>
            <a:r>
              <a:rPr lang="en-US" sz="2000" dirty="0"/>
              <a:t>We may also need to represent the </a:t>
            </a:r>
            <a:r>
              <a:rPr lang="en-US" sz="2000" b="1" i="1" dirty="0"/>
              <a:t>temporal dynamics </a:t>
            </a:r>
            <a:r>
              <a:rPr lang="en-US" sz="2000" dirty="0"/>
              <a:t>of networks</a:t>
            </a:r>
          </a:p>
        </p:txBody>
      </p:sp>
      <p:graphicFrame>
        <p:nvGraphicFramePr>
          <p:cNvPr id="6" name="Table 4">
            <a:extLst>
              <a:ext uri="{FF2B5EF4-FFF2-40B4-BE49-F238E27FC236}">
                <a16:creationId xmlns:a16="http://schemas.microsoft.com/office/drawing/2014/main" id="{9447340E-7E97-4949-9EB8-A042A4A2EC65}"/>
              </a:ext>
            </a:extLst>
          </p:cNvPr>
          <p:cNvGraphicFramePr>
            <a:graphicFrameLocks noGrp="1"/>
          </p:cNvGraphicFramePr>
          <p:nvPr>
            <p:extLst>
              <p:ext uri="{D42A27DB-BD31-4B8C-83A1-F6EECF244321}">
                <p14:modId xmlns:p14="http://schemas.microsoft.com/office/powerpoint/2010/main" val="1413255908"/>
              </p:ext>
            </p:extLst>
          </p:nvPr>
        </p:nvGraphicFramePr>
        <p:xfrm>
          <a:off x="6834908" y="2257889"/>
          <a:ext cx="4572000" cy="39370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633928271"/>
                    </a:ext>
                  </a:extLst>
                </a:gridCol>
                <a:gridCol w="914400">
                  <a:extLst>
                    <a:ext uri="{9D8B030D-6E8A-4147-A177-3AD203B41FA5}">
                      <a16:colId xmlns:a16="http://schemas.microsoft.com/office/drawing/2014/main" val="448717354"/>
                    </a:ext>
                  </a:extLst>
                </a:gridCol>
                <a:gridCol w="914400">
                  <a:extLst>
                    <a:ext uri="{9D8B030D-6E8A-4147-A177-3AD203B41FA5}">
                      <a16:colId xmlns:a16="http://schemas.microsoft.com/office/drawing/2014/main" val="4130169604"/>
                    </a:ext>
                  </a:extLst>
                </a:gridCol>
                <a:gridCol w="1828800">
                  <a:extLst>
                    <a:ext uri="{9D8B030D-6E8A-4147-A177-3AD203B41FA5}">
                      <a16:colId xmlns:a16="http://schemas.microsoft.com/office/drawing/2014/main" val="2145150470"/>
                    </a:ext>
                  </a:extLst>
                </a:gridCol>
              </a:tblGrid>
              <a:tr h="370840">
                <a:tc>
                  <a:txBody>
                    <a:bodyPr/>
                    <a:lstStyle/>
                    <a:p>
                      <a:pPr algn="ctr"/>
                      <a:r>
                        <a:rPr lang="en-US" dirty="0">
                          <a:solidFill>
                            <a:schemeClr val="accent4">
                              <a:lumMod val="60000"/>
                              <a:lumOff val="40000"/>
                            </a:schemeClr>
                          </a:solidFill>
                        </a:rPr>
                        <a:t>ID 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ID 2</a:t>
                      </a:r>
                      <a:endParaRPr lang="fr-FR" dirty="0">
                        <a:solidFill>
                          <a:schemeClr val="accent4">
                            <a:lumMod val="60000"/>
                            <a:lumOff val="40000"/>
                          </a:schemeClr>
                        </a:solidFill>
                      </a:endParaRPr>
                    </a:p>
                  </a:txBody>
                  <a:tcPr>
                    <a:solidFill>
                      <a:schemeClr val="tx1"/>
                    </a:solidFill>
                  </a:tcPr>
                </a:tc>
                <a:tc>
                  <a:txBody>
                    <a:bodyPr/>
                    <a:lstStyle/>
                    <a:p>
                      <a:pPr algn="ctr"/>
                      <a:r>
                        <a:rPr lang="en-US" sz="1800" dirty="0">
                          <a:solidFill>
                            <a:schemeClr val="accent4">
                              <a:lumMod val="60000"/>
                              <a:lumOff val="40000"/>
                            </a:schemeClr>
                          </a:solidFill>
                        </a:rPr>
                        <a:t>Weight</a:t>
                      </a:r>
                      <a:endParaRPr lang="fr-FR" sz="1800" dirty="0">
                        <a:solidFill>
                          <a:schemeClr val="accent4">
                            <a:lumMod val="60000"/>
                            <a:lumOff val="40000"/>
                          </a:schemeClr>
                        </a:solidFill>
                      </a:endParaRPr>
                    </a:p>
                  </a:txBody>
                  <a:tcPr anchor="ctr">
                    <a:solidFill>
                      <a:schemeClr val="tx1"/>
                    </a:solidFill>
                  </a:tcPr>
                </a:tc>
                <a:tc>
                  <a:txBody>
                    <a:bodyPr/>
                    <a:lstStyle/>
                    <a:p>
                      <a:pPr algn="ctr"/>
                      <a:r>
                        <a:rPr lang="en-US" sz="1800" dirty="0">
                          <a:solidFill>
                            <a:schemeClr val="accent4">
                              <a:lumMod val="60000"/>
                              <a:lumOff val="40000"/>
                            </a:schemeClr>
                          </a:solidFill>
                        </a:rPr>
                        <a:t>Time</a:t>
                      </a:r>
                      <a:endParaRPr lang="fr-FR" sz="1800" dirty="0">
                        <a:solidFill>
                          <a:schemeClr val="accent4">
                            <a:lumMod val="60000"/>
                            <a:lumOff val="40000"/>
                          </a:schemeClr>
                        </a:solidFill>
                      </a:endParaRPr>
                    </a:p>
                  </a:txBody>
                  <a:tcPr anchor="ctr">
                    <a:solidFill>
                      <a:schemeClr val="tx1"/>
                    </a:solidFill>
                  </a:tcPr>
                </a:tc>
                <a:extLst>
                  <a:ext uri="{0D108BD9-81ED-4DB2-BD59-A6C34878D82A}">
                    <a16:rowId xmlns:a16="http://schemas.microsoft.com/office/drawing/2014/main" val="3390748688"/>
                  </a:ext>
                </a:extLst>
              </a:tr>
              <a:tr h="370840">
                <a:tc>
                  <a:txBody>
                    <a:bodyPr/>
                    <a:lstStyle/>
                    <a:p>
                      <a:pPr algn="ctr"/>
                      <a:r>
                        <a:rPr lang="en-US" sz="1600" dirty="0"/>
                        <a:t>1</a:t>
                      </a:r>
                      <a:endParaRPr lang="fr-FR" sz="1600" dirty="0"/>
                    </a:p>
                  </a:txBody>
                  <a:tcPr>
                    <a:solidFill>
                      <a:schemeClr val="bg1">
                        <a:lumMod val="95000"/>
                      </a:schemeClr>
                    </a:solidFill>
                  </a:tcPr>
                </a:tc>
                <a:tc>
                  <a:txBody>
                    <a:bodyPr/>
                    <a:lstStyle/>
                    <a:p>
                      <a:pPr algn="ctr"/>
                      <a:r>
                        <a:rPr lang="en-US" sz="1600" dirty="0"/>
                        <a:t>2</a:t>
                      </a:r>
                      <a:endParaRPr lang="fr-FR" sz="1600" dirty="0"/>
                    </a:p>
                  </a:txBody>
                  <a:tcPr>
                    <a:solidFill>
                      <a:schemeClr val="bg1">
                        <a:lumMod val="95000"/>
                      </a:schemeClr>
                    </a:solidFill>
                  </a:tcPr>
                </a:tc>
                <a:tc>
                  <a:txBody>
                    <a:bodyPr/>
                    <a:lstStyle/>
                    <a:p>
                      <a:pPr algn="ctr"/>
                      <a:r>
                        <a:rPr lang="fr-FR" sz="1600" dirty="0"/>
                        <a:t>3</a:t>
                      </a:r>
                    </a:p>
                  </a:txBody>
                  <a:tcPr>
                    <a:solidFill>
                      <a:schemeClr val="bg1">
                        <a:lumMod val="95000"/>
                      </a:schemeClr>
                    </a:solidFill>
                  </a:tcPr>
                </a:tc>
                <a:tc>
                  <a:txBody>
                    <a:bodyPr/>
                    <a:lstStyle/>
                    <a:p>
                      <a:pPr algn="ctr"/>
                      <a:r>
                        <a:rPr lang="en-US" sz="1600" dirty="0"/>
                        <a:t>01/01/2023 07:45</a:t>
                      </a:r>
                      <a:endParaRPr lang="fr-FR" sz="1600" dirty="0"/>
                    </a:p>
                  </a:txBody>
                  <a:tcPr>
                    <a:solidFill>
                      <a:schemeClr val="bg1">
                        <a:lumMod val="95000"/>
                      </a:schemeClr>
                    </a:solidFill>
                  </a:tcPr>
                </a:tc>
                <a:extLst>
                  <a:ext uri="{0D108BD9-81ED-4DB2-BD59-A6C34878D82A}">
                    <a16:rowId xmlns:a16="http://schemas.microsoft.com/office/drawing/2014/main" val="551088812"/>
                  </a:ext>
                </a:extLst>
              </a:tr>
              <a:tr h="370840">
                <a:tc>
                  <a:txBody>
                    <a:bodyPr/>
                    <a:lstStyle/>
                    <a:p>
                      <a:pPr algn="ctr"/>
                      <a:r>
                        <a:rPr lang="en-US" sz="1600" dirty="0"/>
                        <a:t>1</a:t>
                      </a:r>
                      <a:endParaRPr lang="fr-FR" sz="1600" dirty="0"/>
                    </a:p>
                  </a:txBody>
                  <a:tcPr>
                    <a:solidFill>
                      <a:schemeClr val="bg1">
                        <a:lumMod val="95000"/>
                      </a:schemeClr>
                    </a:solidFill>
                  </a:tcPr>
                </a:tc>
                <a:tc>
                  <a:txBody>
                    <a:bodyPr/>
                    <a:lstStyle/>
                    <a:p>
                      <a:pPr algn="ctr"/>
                      <a:r>
                        <a:rPr lang="en-US" sz="1600" dirty="0"/>
                        <a:t>3</a:t>
                      </a:r>
                      <a:endParaRPr lang="fr-FR" sz="1600" dirty="0"/>
                    </a:p>
                  </a:txBody>
                  <a:tcPr>
                    <a:solidFill>
                      <a:schemeClr val="bg1">
                        <a:lumMod val="95000"/>
                      </a:schemeClr>
                    </a:solidFill>
                  </a:tcPr>
                </a:tc>
                <a:tc>
                  <a:txBody>
                    <a:bodyPr/>
                    <a:lstStyle/>
                    <a:p>
                      <a:pPr algn="ctr"/>
                      <a:r>
                        <a:rPr lang="fr-FR" sz="1600" dirty="0"/>
                        <a:t>1</a:t>
                      </a:r>
                    </a:p>
                  </a:txBody>
                  <a:tcPr>
                    <a:solidFill>
                      <a:schemeClr val="bg1">
                        <a:lumMod val="95000"/>
                      </a:schemeClr>
                    </a:solidFill>
                  </a:tcPr>
                </a:tc>
                <a:tc>
                  <a:txBody>
                    <a:bodyPr/>
                    <a:lstStyle/>
                    <a:p>
                      <a:pPr algn="ctr"/>
                      <a:r>
                        <a:rPr lang="en-US" sz="1600" dirty="0"/>
                        <a:t>01/01/2023 07:49</a:t>
                      </a:r>
                      <a:endParaRPr lang="fr-FR" sz="1600" dirty="0"/>
                    </a:p>
                  </a:txBody>
                  <a:tcPr>
                    <a:solidFill>
                      <a:schemeClr val="bg1">
                        <a:lumMod val="95000"/>
                      </a:schemeClr>
                    </a:solidFill>
                  </a:tcPr>
                </a:tc>
                <a:extLst>
                  <a:ext uri="{0D108BD9-81ED-4DB2-BD59-A6C34878D82A}">
                    <a16:rowId xmlns:a16="http://schemas.microsoft.com/office/drawing/2014/main" val="2745773553"/>
                  </a:ext>
                </a:extLst>
              </a:tr>
              <a:tr h="370840">
                <a:tc>
                  <a:txBody>
                    <a:bodyPr/>
                    <a:lstStyle/>
                    <a:p>
                      <a:pPr algn="ctr"/>
                      <a:r>
                        <a:rPr lang="en-US" sz="1600" dirty="0"/>
                        <a:t>1</a:t>
                      </a:r>
                      <a:endParaRPr lang="fr-FR" sz="1600" dirty="0"/>
                    </a:p>
                  </a:txBody>
                  <a:tcPr>
                    <a:solidFill>
                      <a:schemeClr val="bg1">
                        <a:lumMod val="95000"/>
                      </a:schemeClr>
                    </a:solidFill>
                  </a:tcPr>
                </a:tc>
                <a:tc>
                  <a:txBody>
                    <a:bodyPr/>
                    <a:lstStyle/>
                    <a:p>
                      <a:pPr algn="ctr"/>
                      <a:r>
                        <a:rPr lang="en-US" sz="1600" dirty="0"/>
                        <a:t>6</a:t>
                      </a:r>
                      <a:endParaRPr lang="fr-FR" sz="1600" dirty="0"/>
                    </a:p>
                  </a:txBody>
                  <a:tcPr>
                    <a:solidFill>
                      <a:schemeClr val="bg1">
                        <a:lumMod val="95000"/>
                      </a:schemeClr>
                    </a:solidFill>
                  </a:tcPr>
                </a:tc>
                <a:tc>
                  <a:txBody>
                    <a:bodyPr/>
                    <a:lstStyle/>
                    <a:p>
                      <a:pPr algn="ctr"/>
                      <a:r>
                        <a:rPr lang="fr-FR" sz="1600" dirty="0"/>
                        <a:t>1</a:t>
                      </a:r>
                    </a:p>
                  </a:txBody>
                  <a:tcPr>
                    <a:solidFill>
                      <a:schemeClr val="bg1">
                        <a:lumMod val="95000"/>
                      </a:schemeClr>
                    </a:solidFill>
                  </a:tcPr>
                </a:tc>
                <a:tc>
                  <a:txBody>
                    <a:bodyPr/>
                    <a:lstStyle/>
                    <a:p>
                      <a:pPr algn="ctr"/>
                      <a:r>
                        <a:rPr lang="en-US" sz="1600" dirty="0"/>
                        <a:t>03/01/2023 10:18</a:t>
                      </a:r>
                      <a:endParaRPr lang="fr-FR" sz="1600" dirty="0"/>
                    </a:p>
                  </a:txBody>
                  <a:tcPr>
                    <a:solidFill>
                      <a:schemeClr val="bg1">
                        <a:lumMod val="95000"/>
                      </a:schemeClr>
                    </a:solidFill>
                  </a:tcPr>
                </a:tc>
                <a:extLst>
                  <a:ext uri="{0D108BD9-81ED-4DB2-BD59-A6C34878D82A}">
                    <a16:rowId xmlns:a16="http://schemas.microsoft.com/office/drawing/2014/main" val="3019948275"/>
                  </a:ext>
                </a:extLst>
              </a:tr>
              <a:tr h="370840">
                <a:tc>
                  <a:txBody>
                    <a:bodyPr/>
                    <a:lstStyle/>
                    <a:p>
                      <a:pPr algn="ctr"/>
                      <a:r>
                        <a:rPr lang="en-US" sz="1600" dirty="0"/>
                        <a:t>2</a:t>
                      </a:r>
                      <a:endParaRPr lang="fr-FR" sz="1600" dirty="0"/>
                    </a:p>
                  </a:txBody>
                  <a:tcPr>
                    <a:solidFill>
                      <a:schemeClr val="bg1">
                        <a:lumMod val="95000"/>
                      </a:schemeClr>
                    </a:solidFill>
                  </a:tcPr>
                </a:tc>
                <a:tc>
                  <a:txBody>
                    <a:bodyPr/>
                    <a:lstStyle/>
                    <a:p>
                      <a:pPr algn="ctr"/>
                      <a:r>
                        <a:rPr lang="en-US" sz="1600" dirty="0"/>
                        <a:t>4</a:t>
                      </a:r>
                      <a:endParaRPr lang="fr-FR" sz="1600" dirty="0"/>
                    </a:p>
                  </a:txBody>
                  <a:tcPr>
                    <a:solidFill>
                      <a:schemeClr val="bg1">
                        <a:lumMod val="95000"/>
                      </a:schemeClr>
                    </a:solidFill>
                  </a:tcPr>
                </a:tc>
                <a:tc>
                  <a:txBody>
                    <a:bodyPr/>
                    <a:lstStyle/>
                    <a:p>
                      <a:pPr algn="ctr"/>
                      <a:r>
                        <a:rPr lang="fr-FR" sz="1600" dirty="0"/>
                        <a:t>1</a:t>
                      </a:r>
                    </a:p>
                  </a:txBody>
                  <a:tcPr>
                    <a:solidFill>
                      <a:schemeClr val="bg1">
                        <a:lumMod val="95000"/>
                      </a:schemeClr>
                    </a:solidFill>
                  </a:tcPr>
                </a:tc>
                <a:tc>
                  <a:txBody>
                    <a:bodyPr/>
                    <a:lstStyle/>
                    <a:p>
                      <a:pPr algn="ctr"/>
                      <a:r>
                        <a:rPr lang="en-US" sz="1600" dirty="0"/>
                        <a:t>01/01/2023 07:59</a:t>
                      </a:r>
                      <a:endParaRPr lang="fr-FR" sz="1600" dirty="0"/>
                    </a:p>
                  </a:txBody>
                  <a:tcPr>
                    <a:solidFill>
                      <a:schemeClr val="bg1">
                        <a:lumMod val="95000"/>
                      </a:schemeClr>
                    </a:solidFill>
                  </a:tcPr>
                </a:tc>
                <a:extLst>
                  <a:ext uri="{0D108BD9-81ED-4DB2-BD59-A6C34878D82A}">
                    <a16:rowId xmlns:a16="http://schemas.microsoft.com/office/drawing/2014/main" val="1806561758"/>
                  </a:ext>
                </a:extLst>
              </a:tr>
              <a:tr h="370840">
                <a:tc>
                  <a:txBody>
                    <a:bodyPr/>
                    <a:lstStyle/>
                    <a:p>
                      <a:pPr algn="ctr"/>
                      <a:r>
                        <a:rPr lang="en-US" sz="1600" dirty="0"/>
                        <a:t>3</a:t>
                      </a:r>
                      <a:endParaRPr lang="fr-FR" sz="1600" dirty="0"/>
                    </a:p>
                  </a:txBody>
                  <a:tcPr>
                    <a:solidFill>
                      <a:schemeClr val="bg1">
                        <a:lumMod val="95000"/>
                      </a:schemeClr>
                    </a:solidFill>
                  </a:tcPr>
                </a:tc>
                <a:tc>
                  <a:txBody>
                    <a:bodyPr/>
                    <a:lstStyle/>
                    <a:p>
                      <a:pPr algn="ctr"/>
                      <a:r>
                        <a:rPr lang="en-US" sz="1600" dirty="0"/>
                        <a:t>4</a:t>
                      </a:r>
                      <a:endParaRPr lang="fr-FR" sz="1600" dirty="0"/>
                    </a:p>
                  </a:txBody>
                  <a:tcPr>
                    <a:solidFill>
                      <a:schemeClr val="bg1">
                        <a:lumMod val="95000"/>
                      </a:schemeClr>
                    </a:solidFill>
                  </a:tcPr>
                </a:tc>
                <a:tc>
                  <a:txBody>
                    <a:bodyPr/>
                    <a:lstStyle/>
                    <a:p>
                      <a:pPr algn="ctr"/>
                      <a:r>
                        <a:rPr lang="fr-FR" sz="1600" dirty="0"/>
                        <a:t>1</a:t>
                      </a:r>
                    </a:p>
                  </a:txBody>
                  <a:tcPr>
                    <a:solidFill>
                      <a:schemeClr val="bg1">
                        <a:lumMod val="95000"/>
                      </a:schemeClr>
                    </a:solidFill>
                  </a:tcPr>
                </a:tc>
                <a:tc>
                  <a:txBody>
                    <a:bodyPr/>
                    <a:lstStyle/>
                    <a:p>
                      <a:pPr algn="ctr"/>
                      <a:r>
                        <a:rPr lang="en-US" sz="1600" dirty="0"/>
                        <a:t>01/01/2023 11:47</a:t>
                      </a:r>
                      <a:endParaRPr lang="fr-FR" sz="1600" dirty="0"/>
                    </a:p>
                  </a:txBody>
                  <a:tcPr>
                    <a:solidFill>
                      <a:schemeClr val="bg1">
                        <a:lumMod val="95000"/>
                      </a:schemeClr>
                    </a:solidFill>
                  </a:tcPr>
                </a:tc>
                <a:extLst>
                  <a:ext uri="{0D108BD9-81ED-4DB2-BD59-A6C34878D82A}">
                    <a16:rowId xmlns:a16="http://schemas.microsoft.com/office/drawing/2014/main" val="2008170764"/>
                  </a:ext>
                </a:extLst>
              </a:tr>
              <a:tr h="370840">
                <a:tc>
                  <a:txBody>
                    <a:bodyPr/>
                    <a:lstStyle/>
                    <a:p>
                      <a:pPr algn="ctr"/>
                      <a:r>
                        <a:rPr lang="en-US" sz="1600" dirty="0"/>
                        <a:t>3</a:t>
                      </a:r>
                      <a:endParaRPr lang="fr-FR" sz="1600" dirty="0"/>
                    </a:p>
                  </a:txBody>
                  <a:tcPr>
                    <a:solidFill>
                      <a:schemeClr val="bg1">
                        <a:lumMod val="95000"/>
                      </a:schemeClr>
                    </a:solidFill>
                  </a:tcPr>
                </a:tc>
                <a:tc>
                  <a:txBody>
                    <a:bodyPr/>
                    <a:lstStyle/>
                    <a:p>
                      <a:pPr algn="ctr"/>
                      <a:r>
                        <a:rPr lang="en-US" sz="1600" dirty="0"/>
                        <a:t>5</a:t>
                      </a:r>
                      <a:endParaRPr lang="fr-FR" sz="1600" dirty="0"/>
                    </a:p>
                  </a:txBody>
                  <a:tcPr>
                    <a:solidFill>
                      <a:schemeClr val="bg1">
                        <a:lumMod val="95000"/>
                      </a:schemeClr>
                    </a:solidFill>
                  </a:tcPr>
                </a:tc>
                <a:tc>
                  <a:txBody>
                    <a:bodyPr/>
                    <a:lstStyle/>
                    <a:p>
                      <a:pPr algn="ctr"/>
                      <a:r>
                        <a:rPr lang="fr-FR" sz="1600" dirty="0"/>
                        <a:t>1</a:t>
                      </a:r>
                    </a:p>
                  </a:txBody>
                  <a:tcPr>
                    <a:solidFill>
                      <a:schemeClr val="bg1">
                        <a:lumMod val="95000"/>
                      </a:schemeClr>
                    </a:solidFill>
                  </a:tcPr>
                </a:tc>
                <a:tc>
                  <a:txBody>
                    <a:bodyPr/>
                    <a:lstStyle/>
                    <a:p>
                      <a:pPr algn="ctr"/>
                      <a:r>
                        <a:rPr lang="en-US" sz="1600" dirty="0"/>
                        <a:t>02/01/2023 15:32</a:t>
                      </a:r>
                      <a:endParaRPr lang="fr-FR" sz="1600" dirty="0"/>
                    </a:p>
                  </a:txBody>
                  <a:tcPr>
                    <a:solidFill>
                      <a:schemeClr val="bg1">
                        <a:lumMod val="95000"/>
                      </a:schemeClr>
                    </a:solidFill>
                  </a:tcPr>
                </a:tc>
                <a:extLst>
                  <a:ext uri="{0D108BD9-81ED-4DB2-BD59-A6C34878D82A}">
                    <a16:rowId xmlns:a16="http://schemas.microsoft.com/office/drawing/2014/main" val="2456207752"/>
                  </a:ext>
                </a:extLst>
              </a:tr>
              <a:tr h="0">
                <a:tc>
                  <a:txBody>
                    <a:bodyPr/>
                    <a:lstStyle/>
                    <a:p>
                      <a:pPr algn="ctr"/>
                      <a:r>
                        <a:rPr lang="en-US" sz="1600" dirty="0"/>
                        <a:t>5</a:t>
                      </a:r>
                      <a:endParaRPr lang="fr-FR" sz="1600" dirty="0"/>
                    </a:p>
                  </a:txBody>
                  <a:tcPr>
                    <a:solidFill>
                      <a:schemeClr val="bg1">
                        <a:lumMod val="95000"/>
                      </a:schemeClr>
                    </a:solidFill>
                  </a:tcPr>
                </a:tc>
                <a:tc>
                  <a:txBody>
                    <a:bodyPr/>
                    <a:lstStyle/>
                    <a:p>
                      <a:pPr algn="ctr"/>
                      <a:r>
                        <a:rPr lang="en-US" sz="1600" dirty="0"/>
                        <a:t>6</a:t>
                      </a:r>
                      <a:endParaRPr lang="fr-FR" sz="1600" dirty="0"/>
                    </a:p>
                  </a:txBody>
                  <a:tcPr>
                    <a:solidFill>
                      <a:schemeClr val="bg1">
                        <a:lumMod val="95000"/>
                      </a:schemeClr>
                    </a:solidFill>
                  </a:tcPr>
                </a:tc>
                <a:tc>
                  <a:txBody>
                    <a:bodyPr/>
                    <a:lstStyle/>
                    <a:p>
                      <a:pPr algn="ctr"/>
                      <a:r>
                        <a:rPr lang="fr-FR" sz="1600" dirty="0"/>
                        <a:t>2</a:t>
                      </a:r>
                    </a:p>
                  </a:txBody>
                  <a:tcPr>
                    <a:solidFill>
                      <a:schemeClr val="bg1">
                        <a:lumMod val="95000"/>
                      </a:schemeClr>
                    </a:solidFill>
                  </a:tcPr>
                </a:tc>
                <a:tc>
                  <a:txBody>
                    <a:bodyPr/>
                    <a:lstStyle/>
                    <a:p>
                      <a:pPr algn="ctr"/>
                      <a:r>
                        <a:rPr lang="en-US" sz="1600" dirty="0"/>
                        <a:t>02/01/2023 09:46</a:t>
                      </a:r>
                      <a:endParaRPr lang="fr-FR" sz="1600" dirty="0"/>
                    </a:p>
                  </a:txBody>
                  <a:tcPr>
                    <a:solidFill>
                      <a:schemeClr val="bg1">
                        <a:lumMod val="95000"/>
                      </a:schemeClr>
                    </a:solidFill>
                  </a:tcPr>
                </a:tc>
                <a:extLst>
                  <a:ext uri="{0D108BD9-81ED-4DB2-BD59-A6C34878D82A}">
                    <a16:rowId xmlns:a16="http://schemas.microsoft.com/office/drawing/2014/main" val="440282349"/>
                  </a:ext>
                </a:extLst>
              </a:tr>
              <a:tr h="273050">
                <a:tc>
                  <a:txBody>
                    <a:bodyPr/>
                    <a:lstStyle/>
                    <a:p>
                      <a:pPr algn="ctr"/>
                      <a:r>
                        <a:rPr lang="en-US" sz="1600" dirty="0"/>
                        <a:t>5</a:t>
                      </a:r>
                      <a:endParaRPr lang="fr-FR" sz="1600" dirty="0"/>
                    </a:p>
                  </a:txBody>
                  <a:tcPr>
                    <a:solidFill>
                      <a:schemeClr val="bg1">
                        <a:lumMod val="95000"/>
                      </a:schemeClr>
                    </a:solidFill>
                  </a:tcPr>
                </a:tc>
                <a:tc>
                  <a:txBody>
                    <a:bodyPr/>
                    <a:lstStyle/>
                    <a:p>
                      <a:pPr algn="ctr"/>
                      <a:r>
                        <a:rPr lang="en-US" sz="1600" dirty="0"/>
                        <a:t>7</a:t>
                      </a:r>
                      <a:endParaRPr lang="fr-FR" sz="1600" dirty="0"/>
                    </a:p>
                  </a:txBody>
                  <a:tcPr>
                    <a:solidFill>
                      <a:schemeClr val="bg1">
                        <a:lumMod val="95000"/>
                      </a:schemeClr>
                    </a:solidFill>
                  </a:tcPr>
                </a:tc>
                <a:tc>
                  <a:txBody>
                    <a:bodyPr/>
                    <a:lstStyle/>
                    <a:p>
                      <a:pPr algn="ctr"/>
                      <a:r>
                        <a:rPr lang="fr-FR" sz="1600" dirty="0"/>
                        <a:t>2</a:t>
                      </a:r>
                    </a:p>
                  </a:txBody>
                  <a:tcPr>
                    <a:solidFill>
                      <a:schemeClr val="bg1">
                        <a:lumMod val="95000"/>
                      </a:schemeClr>
                    </a:solidFill>
                  </a:tcPr>
                </a:tc>
                <a:tc>
                  <a:txBody>
                    <a:bodyPr/>
                    <a:lstStyle/>
                    <a:p>
                      <a:pPr algn="ctr"/>
                      <a:r>
                        <a:rPr lang="en-US" sz="1600" dirty="0"/>
                        <a:t>02/01/2023 16:02</a:t>
                      </a:r>
                      <a:endParaRPr lang="fr-FR" sz="1600" dirty="0"/>
                    </a:p>
                  </a:txBody>
                  <a:tcPr>
                    <a:solidFill>
                      <a:schemeClr val="bg1">
                        <a:lumMod val="95000"/>
                      </a:schemeClr>
                    </a:solidFill>
                  </a:tcPr>
                </a:tc>
                <a:extLst>
                  <a:ext uri="{0D108BD9-81ED-4DB2-BD59-A6C34878D82A}">
                    <a16:rowId xmlns:a16="http://schemas.microsoft.com/office/drawing/2014/main" val="1697648120"/>
                  </a:ext>
                </a:extLst>
              </a:tr>
              <a:tr h="180340">
                <a:tc>
                  <a:txBody>
                    <a:bodyPr/>
                    <a:lstStyle/>
                    <a:p>
                      <a:pPr algn="ctr"/>
                      <a:r>
                        <a:rPr lang="en-US" sz="1600" dirty="0"/>
                        <a:t>6</a:t>
                      </a:r>
                      <a:endParaRPr lang="fr-FR" sz="1600" dirty="0"/>
                    </a:p>
                  </a:txBody>
                  <a:tcPr>
                    <a:solidFill>
                      <a:schemeClr val="bg1">
                        <a:lumMod val="95000"/>
                      </a:schemeClr>
                    </a:solidFill>
                  </a:tcPr>
                </a:tc>
                <a:tc>
                  <a:txBody>
                    <a:bodyPr/>
                    <a:lstStyle/>
                    <a:p>
                      <a:pPr algn="ctr"/>
                      <a:r>
                        <a:rPr lang="en-US" sz="1600" dirty="0"/>
                        <a:t>7</a:t>
                      </a:r>
                      <a:endParaRPr lang="fr-FR" sz="1600" dirty="0"/>
                    </a:p>
                  </a:txBody>
                  <a:tcPr>
                    <a:solidFill>
                      <a:schemeClr val="bg1">
                        <a:lumMod val="95000"/>
                      </a:schemeClr>
                    </a:solidFill>
                  </a:tcPr>
                </a:tc>
                <a:tc>
                  <a:txBody>
                    <a:bodyPr/>
                    <a:lstStyle/>
                    <a:p>
                      <a:pPr algn="ctr"/>
                      <a:r>
                        <a:rPr lang="fr-FR" sz="1600" dirty="0"/>
                        <a:t>2</a:t>
                      </a:r>
                    </a:p>
                  </a:txBody>
                  <a:tcPr>
                    <a:solidFill>
                      <a:schemeClr val="bg1">
                        <a:lumMod val="95000"/>
                      </a:schemeClr>
                    </a:solidFill>
                  </a:tcPr>
                </a:tc>
                <a:tc>
                  <a:txBody>
                    <a:bodyPr/>
                    <a:lstStyle/>
                    <a:p>
                      <a:pPr algn="ctr"/>
                      <a:r>
                        <a:rPr lang="en-US" sz="1600" dirty="0"/>
                        <a:t>01/01/2023 08:30</a:t>
                      </a:r>
                      <a:endParaRPr lang="fr-FR" sz="1600" dirty="0"/>
                    </a:p>
                  </a:txBody>
                  <a:tcPr>
                    <a:solidFill>
                      <a:schemeClr val="bg1">
                        <a:lumMod val="95000"/>
                      </a:schemeClr>
                    </a:solidFill>
                  </a:tcPr>
                </a:tc>
                <a:extLst>
                  <a:ext uri="{0D108BD9-81ED-4DB2-BD59-A6C34878D82A}">
                    <a16:rowId xmlns:a16="http://schemas.microsoft.com/office/drawing/2014/main" val="1414656967"/>
                  </a:ext>
                </a:extLst>
              </a:tr>
              <a:tr h="0">
                <a:tc>
                  <a:txBody>
                    <a:bodyPr/>
                    <a:lstStyle/>
                    <a:p>
                      <a:pPr algn="ctr"/>
                      <a:r>
                        <a:rPr lang="en-US" sz="1600" dirty="0"/>
                        <a:t>7</a:t>
                      </a:r>
                      <a:endParaRPr lang="fr-FR" sz="1600" dirty="0"/>
                    </a:p>
                  </a:txBody>
                  <a:tcPr>
                    <a:solidFill>
                      <a:schemeClr val="bg1">
                        <a:lumMod val="95000"/>
                      </a:schemeClr>
                    </a:solidFill>
                  </a:tcPr>
                </a:tc>
                <a:tc>
                  <a:txBody>
                    <a:bodyPr/>
                    <a:lstStyle/>
                    <a:p>
                      <a:pPr algn="ctr"/>
                      <a:r>
                        <a:rPr lang="en-US" sz="1600" dirty="0"/>
                        <a:t>8</a:t>
                      </a:r>
                      <a:endParaRPr lang="fr-FR" sz="1600" dirty="0"/>
                    </a:p>
                  </a:txBody>
                  <a:tcPr>
                    <a:solidFill>
                      <a:schemeClr val="bg1">
                        <a:lumMod val="95000"/>
                      </a:schemeClr>
                    </a:solidFill>
                  </a:tcPr>
                </a:tc>
                <a:tc>
                  <a:txBody>
                    <a:bodyPr/>
                    <a:lstStyle/>
                    <a:p>
                      <a:pPr algn="ctr"/>
                      <a:r>
                        <a:rPr lang="fr-FR" sz="1600" dirty="0"/>
                        <a:t>1</a:t>
                      </a:r>
                    </a:p>
                  </a:txBody>
                  <a:tcPr>
                    <a:solidFill>
                      <a:schemeClr val="bg1">
                        <a:lumMod val="95000"/>
                      </a:schemeClr>
                    </a:solidFill>
                  </a:tcPr>
                </a:tc>
                <a:tc>
                  <a:txBody>
                    <a:bodyPr/>
                    <a:lstStyle/>
                    <a:p>
                      <a:pPr algn="ctr"/>
                      <a:r>
                        <a:rPr lang="en-US" sz="1600" dirty="0"/>
                        <a:t>04/01/2023 12:35</a:t>
                      </a:r>
                      <a:endParaRPr lang="fr-FR" sz="1600" dirty="0"/>
                    </a:p>
                  </a:txBody>
                  <a:tcPr>
                    <a:solidFill>
                      <a:schemeClr val="bg1">
                        <a:lumMod val="95000"/>
                      </a:schemeClr>
                    </a:solidFill>
                  </a:tcPr>
                </a:tc>
                <a:extLst>
                  <a:ext uri="{0D108BD9-81ED-4DB2-BD59-A6C34878D82A}">
                    <a16:rowId xmlns:a16="http://schemas.microsoft.com/office/drawing/2014/main" val="3617806729"/>
                  </a:ext>
                </a:extLst>
              </a:tr>
            </a:tbl>
          </a:graphicData>
        </a:graphic>
      </p:graphicFrame>
      <p:sp>
        <p:nvSpPr>
          <p:cNvPr id="7" name="TextBox 6">
            <a:extLst>
              <a:ext uri="{FF2B5EF4-FFF2-40B4-BE49-F238E27FC236}">
                <a16:creationId xmlns:a16="http://schemas.microsoft.com/office/drawing/2014/main" id="{F7AC0BE7-B226-4DDD-AF2D-B67D748DB9BD}"/>
              </a:ext>
            </a:extLst>
          </p:cNvPr>
          <p:cNvSpPr txBox="1"/>
          <p:nvPr/>
        </p:nvSpPr>
        <p:spPr>
          <a:xfrm>
            <a:off x="907142" y="2333563"/>
            <a:ext cx="5188858" cy="3785652"/>
          </a:xfrm>
          <a:prstGeom prst="rect">
            <a:avLst/>
          </a:prstGeom>
          <a:noFill/>
        </p:spPr>
        <p:txBody>
          <a:bodyPr wrap="square" rtlCol="0">
            <a:spAutoFit/>
          </a:bodyPr>
          <a:lstStyle/>
          <a:p>
            <a:r>
              <a:rPr lang="en-US" sz="2000" dirty="0"/>
              <a:t>All network data starts with a temporal component</a:t>
            </a:r>
          </a:p>
          <a:p>
            <a:endParaRPr lang="en-US" sz="2000" dirty="0"/>
          </a:p>
          <a:p>
            <a:endParaRPr lang="en-US" sz="2000" dirty="0"/>
          </a:p>
          <a:p>
            <a:r>
              <a:rPr lang="en-US" sz="2000" dirty="0"/>
              <a:t>Most efficiently stored as </a:t>
            </a:r>
            <a:r>
              <a:rPr lang="en-US" sz="2000" b="1" dirty="0"/>
              <a:t>edge lists</a:t>
            </a:r>
          </a:p>
          <a:p>
            <a:endParaRPr lang="en-US" sz="2000" dirty="0"/>
          </a:p>
          <a:p>
            <a:endParaRPr lang="en-US" sz="2000" dirty="0"/>
          </a:p>
          <a:p>
            <a:r>
              <a:rPr lang="en-US" sz="2000" dirty="0"/>
              <a:t>We have to decide:</a:t>
            </a:r>
          </a:p>
          <a:p>
            <a:endParaRPr lang="en-US" sz="2000" dirty="0"/>
          </a:p>
          <a:p>
            <a:pPr marL="342900" indent="-342900">
              <a:buAutoNum type="arabicParenR"/>
            </a:pPr>
            <a:r>
              <a:rPr lang="en-US" dirty="0"/>
              <a:t>If it is important to include?</a:t>
            </a:r>
          </a:p>
          <a:p>
            <a:pPr marL="342900" indent="-342900">
              <a:buAutoNum type="arabicParenR"/>
            </a:pPr>
            <a:endParaRPr lang="en-US" dirty="0"/>
          </a:p>
          <a:p>
            <a:pPr marL="342900" indent="-342900">
              <a:buAutoNum type="arabicParenR"/>
            </a:pPr>
            <a:r>
              <a:rPr lang="en-US" dirty="0"/>
              <a:t>How to include it?</a:t>
            </a:r>
          </a:p>
        </p:txBody>
      </p:sp>
      <p:cxnSp>
        <p:nvCxnSpPr>
          <p:cNvPr id="9" name="Straight Arrow Connector 8">
            <a:extLst>
              <a:ext uri="{FF2B5EF4-FFF2-40B4-BE49-F238E27FC236}">
                <a16:creationId xmlns:a16="http://schemas.microsoft.com/office/drawing/2014/main" id="{113418A2-D273-4335-AA51-6C85FD7A877C}"/>
              </a:ext>
            </a:extLst>
          </p:cNvPr>
          <p:cNvCxnSpPr/>
          <p:nvPr/>
        </p:nvCxnSpPr>
        <p:spPr>
          <a:xfrm>
            <a:off x="4775200" y="3768436"/>
            <a:ext cx="19304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EADAB19-2F21-456C-876C-419355B6D8F7}"/>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Dynamic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2862400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F378C50F-24FF-4AB1-9554-2CBD0631969C}"/>
              </a:ext>
            </a:extLst>
          </p:cNvPr>
          <p:cNvSpPr txBox="1"/>
          <p:nvPr/>
        </p:nvSpPr>
        <p:spPr>
          <a:xfrm>
            <a:off x="442948" y="1572173"/>
            <a:ext cx="11449134" cy="400110"/>
          </a:xfrm>
          <a:prstGeom prst="rect">
            <a:avLst/>
          </a:prstGeom>
          <a:noFill/>
        </p:spPr>
        <p:txBody>
          <a:bodyPr wrap="square" rtlCol="0">
            <a:spAutoFit/>
          </a:bodyPr>
          <a:lstStyle/>
          <a:p>
            <a:r>
              <a:rPr lang="en-US" sz="2000" dirty="0"/>
              <a:t>We may also need to represent the </a:t>
            </a:r>
            <a:r>
              <a:rPr lang="en-US" sz="2000" b="1" i="1" dirty="0"/>
              <a:t>temporal dynamics </a:t>
            </a:r>
            <a:r>
              <a:rPr lang="en-US" sz="2000" dirty="0"/>
              <a:t>of networks</a:t>
            </a:r>
          </a:p>
        </p:txBody>
      </p:sp>
      <p:sp>
        <p:nvSpPr>
          <p:cNvPr id="7" name="TextBox 6">
            <a:extLst>
              <a:ext uri="{FF2B5EF4-FFF2-40B4-BE49-F238E27FC236}">
                <a16:creationId xmlns:a16="http://schemas.microsoft.com/office/drawing/2014/main" id="{F7AC0BE7-B226-4DDD-AF2D-B67D748DB9BD}"/>
              </a:ext>
            </a:extLst>
          </p:cNvPr>
          <p:cNvSpPr txBox="1"/>
          <p:nvPr/>
        </p:nvSpPr>
        <p:spPr>
          <a:xfrm>
            <a:off x="907142" y="2333563"/>
            <a:ext cx="5188858" cy="1231106"/>
          </a:xfrm>
          <a:prstGeom prst="rect">
            <a:avLst/>
          </a:prstGeom>
          <a:noFill/>
        </p:spPr>
        <p:txBody>
          <a:bodyPr wrap="square" rtlCol="0">
            <a:spAutoFit/>
          </a:bodyPr>
          <a:lstStyle/>
          <a:p>
            <a:r>
              <a:rPr lang="en-US" sz="2000" dirty="0"/>
              <a:t>We have to decide:</a:t>
            </a:r>
          </a:p>
          <a:p>
            <a:endParaRPr lang="en-US" dirty="0"/>
          </a:p>
          <a:p>
            <a:r>
              <a:rPr lang="en-US" dirty="0"/>
              <a:t>2)    How to include it?</a:t>
            </a:r>
          </a:p>
          <a:p>
            <a:endParaRPr lang="en-US" dirty="0"/>
          </a:p>
        </p:txBody>
      </p:sp>
      <p:sp>
        <p:nvSpPr>
          <p:cNvPr id="11" name="TextBox 10">
            <a:extLst>
              <a:ext uri="{FF2B5EF4-FFF2-40B4-BE49-F238E27FC236}">
                <a16:creationId xmlns:a16="http://schemas.microsoft.com/office/drawing/2014/main" id="{BC950978-137F-4B53-AB3D-70BB6F949EEF}"/>
              </a:ext>
            </a:extLst>
          </p:cNvPr>
          <p:cNvSpPr txBox="1"/>
          <p:nvPr/>
        </p:nvSpPr>
        <p:spPr>
          <a:xfrm>
            <a:off x="683491" y="3578815"/>
            <a:ext cx="4673600" cy="55399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3000" b="1" dirty="0"/>
              <a:t>TIME-ORDERED NETWORKS</a:t>
            </a:r>
            <a:endParaRPr lang="fr-FR" sz="3000" b="1" dirty="0"/>
          </a:p>
        </p:txBody>
      </p:sp>
      <p:sp>
        <p:nvSpPr>
          <p:cNvPr id="12" name="TextBox 11">
            <a:extLst>
              <a:ext uri="{FF2B5EF4-FFF2-40B4-BE49-F238E27FC236}">
                <a16:creationId xmlns:a16="http://schemas.microsoft.com/office/drawing/2014/main" id="{AA76AA55-8CC4-463C-A8B1-327F141A82E6}"/>
              </a:ext>
            </a:extLst>
          </p:cNvPr>
          <p:cNvSpPr txBox="1"/>
          <p:nvPr/>
        </p:nvSpPr>
        <p:spPr>
          <a:xfrm>
            <a:off x="6345249" y="3578815"/>
            <a:ext cx="5315528" cy="55399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3000" b="1" dirty="0"/>
              <a:t>TIME-AGGREGATED NETWORKS</a:t>
            </a:r>
            <a:endParaRPr lang="fr-FR" sz="3000" b="1" dirty="0"/>
          </a:p>
        </p:txBody>
      </p:sp>
      <p:pic>
        <p:nvPicPr>
          <p:cNvPr id="14" name="Picture 13">
            <a:extLst>
              <a:ext uri="{FF2B5EF4-FFF2-40B4-BE49-F238E27FC236}">
                <a16:creationId xmlns:a16="http://schemas.microsoft.com/office/drawing/2014/main" id="{3E32DC76-4A53-4213-88F2-92048D83D96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b="50000"/>
          <a:stretch/>
        </p:blipFill>
        <p:spPr>
          <a:xfrm>
            <a:off x="1029839" y="4418814"/>
            <a:ext cx="3948561" cy="1734025"/>
          </a:xfrm>
          <a:prstGeom prst="rect">
            <a:avLst/>
          </a:prstGeom>
        </p:spPr>
      </p:pic>
      <p:grpSp>
        <p:nvGrpSpPr>
          <p:cNvPr id="15" name="Group 14">
            <a:extLst>
              <a:ext uri="{FF2B5EF4-FFF2-40B4-BE49-F238E27FC236}">
                <a16:creationId xmlns:a16="http://schemas.microsoft.com/office/drawing/2014/main" id="{12A5509F-F013-4735-8F21-CDEBF08CF6BD}"/>
              </a:ext>
            </a:extLst>
          </p:cNvPr>
          <p:cNvGrpSpPr/>
          <p:nvPr/>
        </p:nvGrpSpPr>
        <p:grpSpPr>
          <a:xfrm>
            <a:off x="7075164" y="4593204"/>
            <a:ext cx="664803" cy="1146141"/>
            <a:chOff x="9277162" y="2195066"/>
            <a:chExt cx="1788767" cy="3083888"/>
          </a:xfrm>
        </p:grpSpPr>
        <p:cxnSp>
          <p:nvCxnSpPr>
            <p:cNvPr id="16" name="Straight Connector 15">
              <a:extLst>
                <a:ext uri="{FF2B5EF4-FFF2-40B4-BE49-F238E27FC236}">
                  <a16:creationId xmlns:a16="http://schemas.microsoft.com/office/drawing/2014/main" id="{2EE3DA7F-C611-4418-91E3-9CEB2C44DA1D}"/>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E196B85F-0E56-4170-A329-4910DF8881C5}"/>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9F46E838-1B0D-4CEA-A5E0-2DBF53E026BB}"/>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81FA6D78-9C33-43C4-A8D8-3D3ABACA3952}"/>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Oval 19">
              <a:extLst>
                <a:ext uri="{FF2B5EF4-FFF2-40B4-BE49-F238E27FC236}">
                  <a16:creationId xmlns:a16="http://schemas.microsoft.com/office/drawing/2014/main" id="{261F4ACD-6BD6-414C-B199-EF626B2428D8}"/>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Oval 20">
              <a:extLst>
                <a:ext uri="{FF2B5EF4-FFF2-40B4-BE49-F238E27FC236}">
                  <a16:creationId xmlns:a16="http://schemas.microsoft.com/office/drawing/2014/main" id="{EC277537-6163-4AB6-80F5-E95A37FD8337}"/>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Oval 21">
              <a:extLst>
                <a:ext uri="{FF2B5EF4-FFF2-40B4-BE49-F238E27FC236}">
                  <a16:creationId xmlns:a16="http://schemas.microsoft.com/office/drawing/2014/main" id="{64D9BCFA-EDB7-4FDC-BDAA-E7F1CE067E11}"/>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Oval 22">
              <a:extLst>
                <a:ext uri="{FF2B5EF4-FFF2-40B4-BE49-F238E27FC236}">
                  <a16:creationId xmlns:a16="http://schemas.microsoft.com/office/drawing/2014/main" id="{E92C8D66-B36B-4E9C-A38A-6FEC9C0230C2}"/>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Oval 23">
              <a:extLst>
                <a:ext uri="{FF2B5EF4-FFF2-40B4-BE49-F238E27FC236}">
                  <a16:creationId xmlns:a16="http://schemas.microsoft.com/office/drawing/2014/main" id="{E8B692DE-4024-4D83-87D8-3D2E8D748700}"/>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5" name="Straight Connector 24">
              <a:extLst>
                <a:ext uri="{FF2B5EF4-FFF2-40B4-BE49-F238E27FC236}">
                  <a16:creationId xmlns:a16="http://schemas.microsoft.com/office/drawing/2014/main" id="{B286843F-45D0-45D4-91A9-5A5B1B05DE75}"/>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C645620-EA65-4938-B252-1642FD9C97DD}"/>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EE3459A-E1B9-4C25-B676-60130BCDB026}"/>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1C51AFD-76F9-43E6-90A4-E9E0E1C9A403}"/>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6FEA679-6E27-4641-AEC3-F11B5A4A504C}"/>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1CCE780-7811-474C-AE4E-77EBA164003F}"/>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72BC07-7CAD-4A7C-8856-90910ADC0801}"/>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8EEF8E3-01B9-4EC7-92BB-5FB646DE5B32}"/>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66712E6-6A53-4583-A52D-640AF68F65FC}"/>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D4EB82C6-1907-47CA-9DB1-56F8CB844070}"/>
              </a:ext>
            </a:extLst>
          </p:cNvPr>
          <p:cNvGrpSpPr/>
          <p:nvPr/>
        </p:nvGrpSpPr>
        <p:grpSpPr>
          <a:xfrm>
            <a:off x="8691525" y="4593204"/>
            <a:ext cx="664803" cy="1146141"/>
            <a:chOff x="9277162" y="2195066"/>
            <a:chExt cx="1788767" cy="3083888"/>
          </a:xfrm>
        </p:grpSpPr>
        <p:cxnSp>
          <p:nvCxnSpPr>
            <p:cNvPr id="35" name="Straight Connector 34">
              <a:extLst>
                <a:ext uri="{FF2B5EF4-FFF2-40B4-BE49-F238E27FC236}">
                  <a16:creationId xmlns:a16="http://schemas.microsoft.com/office/drawing/2014/main" id="{7F60503D-8019-4973-A7EE-57E8F43CC324}"/>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1A67D60E-8BD7-471C-83B1-B4EA9645CDA8}"/>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Oval 36">
              <a:extLst>
                <a:ext uri="{FF2B5EF4-FFF2-40B4-BE49-F238E27FC236}">
                  <a16:creationId xmlns:a16="http://schemas.microsoft.com/office/drawing/2014/main" id="{FE7CF3C2-683B-4C9A-A786-18F7FC9E39F0}"/>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Oval 37">
              <a:extLst>
                <a:ext uri="{FF2B5EF4-FFF2-40B4-BE49-F238E27FC236}">
                  <a16:creationId xmlns:a16="http://schemas.microsoft.com/office/drawing/2014/main" id="{6DC26216-DEB8-4032-A123-24079424426E}"/>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Oval 38">
              <a:extLst>
                <a:ext uri="{FF2B5EF4-FFF2-40B4-BE49-F238E27FC236}">
                  <a16:creationId xmlns:a16="http://schemas.microsoft.com/office/drawing/2014/main" id="{050AAF20-0CD8-4DB8-92AB-E8DF89B02B96}"/>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Oval 39">
              <a:extLst>
                <a:ext uri="{FF2B5EF4-FFF2-40B4-BE49-F238E27FC236}">
                  <a16:creationId xmlns:a16="http://schemas.microsoft.com/office/drawing/2014/main" id="{0BD95C75-D392-4011-AB52-C88136B0C075}"/>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Oval 40">
              <a:extLst>
                <a:ext uri="{FF2B5EF4-FFF2-40B4-BE49-F238E27FC236}">
                  <a16:creationId xmlns:a16="http://schemas.microsoft.com/office/drawing/2014/main" id="{C2F8F02A-868F-4EA7-968A-274B4BCFCC81}"/>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Oval 41">
              <a:extLst>
                <a:ext uri="{FF2B5EF4-FFF2-40B4-BE49-F238E27FC236}">
                  <a16:creationId xmlns:a16="http://schemas.microsoft.com/office/drawing/2014/main" id="{7AF74794-D6F2-4CE7-82E4-97F6166263F8}"/>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Oval 42">
              <a:extLst>
                <a:ext uri="{FF2B5EF4-FFF2-40B4-BE49-F238E27FC236}">
                  <a16:creationId xmlns:a16="http://schemas.microsoft.com/office/drawing/2014/main" id="{8AB163FE-EFF3-4411-B589-1395AF7F0CBA}"/>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4" name="Straight Connector 43">
              <a:extLst>
                <a:ext uri="{FF2B5EF4-FFF2-40B4-BE49-F238E27FC236}">
                  <a16:creationId xmlns:a16="http://schemas.microsoft.com/office/drawing/2014/main" id="{112BF859-2B5F-47D8-9C7C-E54D64FD2797}"/>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F6026E9-1D67-4227-9411-44095F2A96D5}"/>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A66AA4F-E978-463B-A9B6-885CB2DBF4BD}"/>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4A28242-F1FE-45DB-9115-2B24A1E09DFC}"/>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E9E0298-3FB0-4B90-9430-329097E594C3}"/>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94500EF-76D5-4458-850C-C4DFCE800723}"/>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297CE48-F803-40C4-8592-00223964BB2F}"/>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535D5C19-015C-4803-BDA9-931B08831BF8}"/>
              </a:ext>
            </a:extLst>
          </p:cNvPr>
          <p:cNvGrpSpPr/>
          <p:nvPr/>
        </p:nvGrpSpPr>
        <p:grpSpPr>
          <a:xfrm>
            <a:off x="10322218" y="4597493"/>
            <a:ext cx="664803" cy="1146141"/>
            <a:chOff x="9277162" y="2195066"/>
            <a:chExt cx="1788767" cy="3083888"/>
          </a:xfrm>
        </p:grpSpPr>
        <p:cxnSp>
          <p:nvCxnSpPr>
            <p:cNvPr id="54" name="Straight Connector 53">
              <a:extLst>
                <a:ext uri="{FF2B5EF4-FFF2-40B4-BE49-F238E27FC236}">
                  <a16:creationId xmlns:a16="http://schemas.microsoft.com/office/drawing/2014/main" id="{7EFCC611-9588-4A35-889B-D7B68F32E124}"/>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36D3A630-313F-4480-B6D4-398872A87B23}"/>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val 55">
              <a:extLst>
                <a:ext uri="{FF2B5EF4-FFF2-40B4-BE49-F238E27FC236}">
                  <a16:creationId xmlns:a16="http://schemas.microsoft.com/office/drawing/2014/main" id="{A76D8FBC-4CD4-4D19-979C-B97DCDD8D616}"/>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Oval 56">
              <a:extLst>
                <a:ext uri="{FF2B5EF4-FFF2-40B4-BE49-F238E27FC236}">
                  <a16:creationId xmlns:a16="http://schemas.microsoft.com/office/drawing/2014/main" id="{679B8253-8266-441C-8069-F27F1DCBF4B9}"/>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Oval 57">
              <a:extLst>
                <a:ext uri="{FF2B5EF4-FFF2-40B4-BE49-F238E27FC236}">
                  <a16:creationId xmlns:a16="http://schemas.microsoft.com/office/drawing/2014/main" id="{CE705898-746C-40F5-B0ED-51C52B8C5A06}"/>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Oval 58">
              <a:extLst>
                <a:ext uri="{FF2B5EF4-FFF2-40B4-BE49-F238E27FC236}">
                  <a16:creationId xmlns:a16="http://schemas.microsoft.com/office/drawing/2014/main" id="{D8C1F5CB-EF8C-48BE-8EA0-589B9CAA0523}"/>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Oval 59">
              <a:extLst>
                <a:ext uri="{FF2B5EF4-FFF2-40B4-BE49-F238E27FC236}">
                  <a16:creationId xmlns:a16="http://schemas.microsoft.com/office/drawing/2014/main" id="{475D0508-8E79-4D25-9FB7-DC3E2126F30A}"/>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Oval 60">
              <a:extLst>
                <a:ext uri="{FF2B5EF4-FFF2-40B4-BE49-F238E27FC236}">
                  <a16:creationId xmlns:a16="http://schemas.microsoft.com/office/drawing/2014/main" id="{DB06E439-6E24-47BE-89C1-13EA1E161935}"/>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Oval 61">
              <a:extLst>
                <a:ext uri="{FF2B5EF4-FFF2-40B4-BE49-F238E27FC236}">
                  <a16:creationId xmlns:a16="http://schemas.microsoft.com/office/drawing/2014/main" id="{B05440DD-2EBF-443E-A3E1-F7F67EB82EB3}"/>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6" name="Straight Connector 65">
              <a:extLst>
                <a:ext uri="{FF2B5EF4-FFF2-40B4-BE49-F238E27FC236}">
                  <a16:creationId xmlns:a16="http://schemas.microsoft.com/office/drawing/2014/main" id="{38D1267F-8B34-4516-9FBC-F5371FB46704}"/>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5F8D9FE-6CC0-47B7-A476-42C76F130B0F}"/>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54F6A71-9C55-4E76-AB9C-092129D4C99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86891C9-E9BD-4B77-9A07-CD73E3E26EF0}"/>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4432C94-1E2A-4FC6-9487-D9D049997591}"/>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3" name="TextBox 72">
            <a:extLst>
              <a:ext uri="{FF2B5EF4-FFF2-40B4-BE49-F238E27FC236}">
                <a16:creationId xmlns:a16="http://schemas.microsoft.com/office/drawing/2014/main" id="{0F964F4C-6B62-4DD6-8ACA-40D788827FE7}"/>
              </a:ext>
            </a:extLst>
          </p:cNvPr>
          <p:cNvSpPr txBox="1"/>
          <p:nvPr/>
        </p:nvSpPr>
        <p:spPr>
          <a:xfrm>
            <a:off x="7037708" y="5946211"/>
            <a:ext cx="766618" cy="369332"/>
          </a:xfrm>
          <a:prstGeom prst="rect">
            <a:avLst/>
          </a:prstGeom>
          <a:noFill/>
        </p:spPr>
        <p:txBody>
          <a:bodyPr wrap="square">
            <a:spAutoFit/>
          </a:bodyPr>
          <a:lstStyle/>
          <a:p>
            <a:pPr algn="ctr"/>
            <a:r>
              <a:rPr lang="en-US" sz="1800" dirty="0"/>
              <a:t>t=1</a:t>
            </a:r>
            <a:endParaRPr lang="fr-FR" dirty="0"/>
          </a:p>
        </p:txBody>
      </p:sp>
      <p:sp>
        <p:nvSpPr>
          <p:cNvPr id="74" name="TextBox 73">
            <a:extLst>
              <a:ext uri="{FF2B5EF4-FFF2-40B4-BE49-F238E27FC236}">
                <a16:creationId xmlns:a16="http://schemas.microsoft.com/office/drawing/2014/main" id="{D9C5AB6D-E62B-4102-84F1-240338AF940F}"/>
              </a:ext>
            </a:extLst>
          </p:cNvPr>
          <p:cNvSpPr txBox="1"/>
          <p:nvPr/>
        </p:nvSpPr>
        <p:spPr>
          <a:xfrm>
            <a:off x="8717859" y="5946211"/>
            <a:ext cx="766618" cy="369332"/>
          </a:xfrm>
          <a:prstGeom prst="rect">
            <a:avLst/>
          </a:prstGeom>
          <a:noFill/>
        </p:spPr>
        <p:txBody>
          <a:bodyPr wrap="square">
            <a:spAutoFit/>
          </a:bodyPr>
          <a:lstStyle/>
          <a:p>
            <a:pPr algn="ctr"/>
            <a:r>
              <a:rPr lang="en-US" sz="1800" dirty="0"/>
              <a:t>t=2</a:t>
            </a:r>
            <a:endParaRPr lang="fr-FR" dirty="0"/>
          </a:p>
        </p:txBody>
      </p:sp>
      <p:sp>
        <p:nvSpPr>
          <p:cNvPr id="75" name="TextBox 74">
            <a:extLst>
              <a:ext uri="{FF2B5EF4-FFF2-40B4-BE49-F238E27FC236}">
                <a16:creationId xmlns:a16="http://schemas.microsoft.com/office/drawing/2014/main" id="{EA9971C2-8B03-49AB-8970-2B5EA9F9CCEC}"/>
              </a:ext>
            </a:extLst>
          </p:cNvPr>
          <p:cNvSpPr txBox="1"/>
          <p:nvPr/>
        </p:nvSpPr>
        <p:spPr>
          <a:xfrm>
            <a:off x="10348552" y="5946211"/>
            <a:ext cx="766618" cy="369332"/>
          </a:xfrm>
          <a:prstGeom prst="rect">
            <a:avLst/>
          </a:prstGeom>
          <a:noFill/>
        </p:spPr>
        <p:txBody>
          <a:bodyPr wrap="square">
            <a:spAutoFit/>
          </a:bodyPr>
          <a:lstStyle/>
          <a:p>
            <a:pPr algn="ctr"/>
            <a:r>
              <a:rPr lang="en-US" sz="1800" dirty="0"/>
              <a:t>t=3</a:t>
            </a:r>
            <a:endParaRPr lang="fr-FR" dirty="0"/>
          </a:p>
        </p:txBody>
      </p:sp>
      <p:sp>
        <p:nvSpPr>
          <p:cNvPr id="5" name="TextBox 4">
            <a:extLst>
              <a:ext uri="{FF2B5EF4-FFF2-40B4-BE49-F238E27FC236}">
                <a16:creationId xmlns:a16="http://schemas.microsoft.com/office/drawing/2014/main" id="{9CD3EFFF-3A9B-A062-DED8-CA2D5DDE6597}"/>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Dynamic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3159113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F378C50F-24FF-4AB1-9554-2CBD0631969C}"/>
              </a:ext>
            </a:extLst>
          </p:cNvPr>
          <p:cNvSpPr txBox="1"/>
          <p:nvPr/>
        </p:nvSpPr>
        <p:spPr>
          <a:xfrm>
            <a:off x="442948" y="1572173"/>
            <a:ext cx="11449134" cy="400110"/>
          </a:xfrm>
          <a:prstGeom prst="rect">
            <a:avLst/>
          </a:prstGeom>
          <a:noFill/>
        </p:spPr>
        <p:txBody>
          <a:bodyPr wrap="square" rtlCol="0">
            <a:spAutoFit/>
          </a:bodyPr>
          <a:lstStyle/>
          <a:p>
            <a:r>
              <a:rPr lang="en-US" sz="2000" dirty="0"/>
              <a:t>We may also need to represent the </a:t>
            </a:r>
            <a:r>
              <a:rPr lang="en-US" sz="2000" b="1" i="1" dirty="0"/>
              <a:t>temporal dynamics </a:t>
            </a:r>
            <a:r>
              <a:rPr lang="en-US" sz="2000" dirty="0"/>
              <a:t>of networks</a:t>
            </a:r>
          </a:p>
        </p:txBody>
      </p:sp>
      <p:sp>
        <p:nvSpPr>
          <p:cNvPr id="11" name="TextBox 10">
            <a:extLst>
              <a:ext uri="{FF2B5EF4-FFF2-40B4-BE49-F238E27FC236}">
                <a16:creationId xmlns:a16="http://schemas.microsoft.com/office/drawing/2014/main" id="{BC950978-137F-4B53-AB3D-70BB6F949EEF}"/>
              </a:ext>
            </a:extLst>
          </p:cNvPr>
          <p:cNvSpPr txBox="1"/>
          <p:nvPr/>
        </p:nvSpPr>
        <p:spPr>
          <a:xfrm>
            <a:off x="858981" y="2627471"/>
            <a:ext cx="4673600" cy="55399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3000" b="1" dirty="0"/>
              <a:t>TIME-ORDERED NETWORKS</a:t>
            </a:r>
            <a:endParaRPr lang="fr-FR" sz="3000" b="1" dirty="0"/>
          </a:p>
        </p:txBody>
      </p:sp>
      <p:pic>
        <p:nvPicPr>
          <p:cNvPr id="14" name="Picture 13">
            <a:extLst>
              <a:ext uri="{FF2B5EF4-FFF2-40B4-BE49-F238E27FC236}">
                <a16:creationId xmlns:a16="http://schemas.microsoft.com/office/drawing/2014/main" id="{3E32DC76-4A53-4213-88F2-92048D83D96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b="50000"/>
          <a:stretch/>
        </p:blipFill>
        <p:spPr>
          <a:xfrm>
            <a:off x="1205329" y="3467470"/>
            <a:ext cx="3948561" cy="1734025"/>
          </a:xfrm>
          <a:prstGeom prst="rect">
            <a:avLst/>
          </a:prstGeom>
        </p:spPr>
      </p:pic>
      <p:sp>
        <p:nvSpPr>
          <p:cNvPr id="64" name="TextBox 63">
            <a:extLst>
              <a:ext uri="{FF2B5EF4-FFF2-40B4-BE49-F238E27FC236}">
                <a16:creationId xmlns:a16="http://schemas.microsoft.com/office/drawing/2014/main" id="{61DA5F55-99B1-4E1D-A5C1-C5BAA61B6051}"/>
              </a:ext>
            </a:extLst>
          </p:cNvPr>
          <p:cNvSpPr txBox="1"/>
          <p:nvPr/>
        </p:nvSpPr>
        <p:spPr>
          <a:xfrm>
            <a:off x="6471919" y="2627471"/>
            <a:ext cx="5188858" cy="2554545"/>
          </a:xfrm>
          <a:prstGeom prst="rect">
            <a:avLst/>
          </a:prstGeom>
          <a:noFill/>
        </p:spPr>
        <p:txBody>
          <a:bodyPr wrap="square" rtlCol="0">
            <a:spAutoFit/>
          </a:bodyPr>
          <a:lstStyle/>
          <a:p>
            <a:r>
              <a:rPr lang="en-US" sz="2000" dirty="0"/>
              <a:t>Retain the most information about the system</a:t>
            </a:r>
          </a:p>
          <a:p>
            <a:endParaRPr lang="en-US" sz="2000" dirty="0"/>
          </a:p>
          <a:p>
            <a:endParaRPr lang="en-US" sz="2000" dirty="0"/>
          </a:p>
          <a:p>
            <a:r>
              <a:rPr lang="en-US" sz="2000" dirty="0"/>
              <a:t>Fewer subjective decisions required</a:t>
            </a:r>
            <a:endParaRPr lang="en-US" sz="2000" b="1" dirty="0"/>
          </a:p>
          <a:p>
            <a:endParaRPr lang="en-US" sz="2000" dirty="0"/>
          </a:p>
          <a:p>
            <a:endParaRPr lang="en-US" sz="2000" dirty="0"/>
          </a:p>
          <a:p>
            <a:r>
              <a:rPr lang="en-US" sz="2000" dirty="0"/>
              <a:t>Harder to work with – few descriptive measures and models are available</a:t>
            </a:r>
            <a:endParaRPr lang="en-US" dirty="0"/>
          </a:p>
        </p:txBody>
      </p:sp>
      <p:sp>
        <p:nvSpPr>
          <p:cNvPr id="5" name="TextBox 4">
            <a:extLst>
              <a:ext uri="{FF2B5EF4-FFF2-40B4-BE49-F238E27FC236}">
                <a16:creationId xmlns:a16="http://schemas.microsoft.com/office/drawing/2014/main" id="{93F3CAE6-BA86-BFA2-A2D4-29FEDCD54523}"/>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Dynamic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1180782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F378C50F-24FF-4AB1-9554-2CBD0631969C}"/>
              </a:ext>
            </a:extLst>
          </p:cNvPr>
          <p:cNvSpPr txBox="1"/>
          <p:nvPr/>
        </p:nvSpPr>
        <p:spPr>
          <a:xfrm>
            <a:off x="442948" y="1572173"/>
            <a:ext cx="11449134" cy="400110"/>
          </a:xfrm>
          <a:prstGeom prst="rect">
            <a:avLst/>
          </a:prstGeom>
          <a:noFill/>
        </p:spPr>
        <p:txBody>
          <a:bodyPr wrap="square" rtlCol="0">
            <a:spAutoFit/>
          </a:bodyPr>
          <a:lstStyle/>
          <a:p>
            <a:r>
              <a:rPr lang="en-US" sz="2000" dirty="0"/>
              <a:t>We may also need to represent the </a:t>
            </a:r>
            <a:r>
              <a:rPr lang="en-US" sz="2000" b="1" i="1" dirty="0"/>
              <a:t>temporal dynamics </a:t>
            </a:r>
            <a:r>
              <a:rPr lang="en-US" sz="2000" dirty="0"/>
              <a:t>of networks</a:t>
            </a:r>
          </a:p>
        </p:txBody>
      </p:sp>
      <p:sp>
        <p:nvSpPr>
          <p:cNvPr id="64" name="TextBox 63">
            <a:extLst>
              <a:ext uri="{FF2B5EF4-FFF2-40B4-BE49-F238E27FC236}">
                <a16:creationId xmlns:a16="http://schemas.microsoft.com/office/drawing/2014/main" id="{61DA5F55-99B1-4E1D-A5C1-C5BAA61B6051}"/>
              </a:ext>
            </a:extLst>
          </p:cNvPr>
          <p:cNvSpPr txBox="1"/>
          <p:nvPr/>
        </p:nvSpPr>
        <p:spPr>
          <a:xfrm>
            <a:off x="6431244" y="2169341"/>
            <a:ext cx="5760755" cy="5324535"/>
          </a:xfrm>
          <a:prstGeom prst="rect">
            <a:avLst/>
          </a:prstGeom>
          <a:noFill/>
        </p:spPr>
        <p:txBody>
          <a:bodyPr wrap="square" rtlCol="0">
            <a:spAutoFit/>
          </a:bodyPr>
          <a:lstStyle/>
          <a:p>
            <a:r>
              <a:rPr lang="en-US" sz="2000" dirty="0"/>
              <a:t>Adopts same data structures and models as static networks</a:t>
            </a:r>
          </a:p>
          <a:p>
            <a:endParaRPr lang="en-US" sz="2000" dirty="0"/>
          </a:p>
          <a:p>
            <a:endParaRPr lang="en-US" sz="2000" dirty="0"/>
          </a:p>
          <a:p>
            <a:r>
              <a:rPr lang="en-US" sz="2000" dirty="0"/>
              <a:t>More statistical tools available</a:t>
            </a:r>
          </a:p>
          <a:p>
            <a:endParaRPr lang="en-US" sz="2000" dirty="0"/>
          </a:p>
          <a:p>
            <a:endParaRPr lang="en-US" sz="2000" dirty="0"/>
          </a:p>
          <a:p>
            <a:r>
              <a:rPr lang="en-US" sz="2000" dirty="0"/>
              <a:t>Need to decide how to aggregate the social data</a:t>
            </a:r>
          </a:p>
          <a:p>
            <a:endParaRPr lang="en-US" sz="2000" dirty="0"/>
          </a:p>
          <a:p>
            <a:pPr marL="342900" indent="-342900">
              <a:buFont typeface="Arial" panose="020B0604020202020204" pitchFamily="34" charset="0"/>
              <a:buChar char="•"/>
            </a:pPr>
            <a:r>
              <a:rPr lang="en-US" sz="2000" dirty="0"/>
              <a:t>Snapshots (single moment in time)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Aggregate over biologically justified timescales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Rolling windows (e.g. months 1-3, months 2-4 etc.)</a:t>
            </a:r>
          </a:p>
          <a:p>
            <a:endParaRPr lang="en-US" sz="2000" dirty="0"/>
          </a:p>
          <a:p>
            <a:endParaRPr lang="en-US" sz="2000" dirty="0"/>
          </a:p>
          <a:p>
            <a:endParaRPr lang="en-US" sz="2000" dirty="0"/>
          </a:p>
        </p:txBody>
      </p:sp>
      <p:sp>
        <p:nvSpPr>
          <p:cNvPr id="9" name="TextBox 8">
            <a:extLst>
              <a:ext uri="{FF2B5EF4-FFF2-40B4-BE49-F238E27FC236}">
                <a16:creationId xmlns:a16="http://schemas.microsoft.com/office/drawing/2014/main" id="{0E5AA9B9-692A-4A64-B6A1-C09252B66039}"/>
              </a:ext>
            </a:extLst>
          </p:cNvPr>
          <p:cNvSpPr txBox="1"/>
          <p:nvPr/>
        </p:nvSpPr>
        <p:spPr>
          <a:xfrm>
            <a:off x="517085" y="2627468"/>
            <a:ext cx="5315528" cy="55399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3000" b="1" dirty="0"/>
              <a:t>TIME-AGGREGATED NETWORKS</a:t>
            </a:r>
            <a:endParaRPr lang="fr-FR" sz="3000" b="1" dirty="0"/>
          </a:p>
        </p:txBody>
      </p:sp>
      <p:grpSp>
        <p:nvGrpSpPr>
          <p:cNvPr id="10" name="Group 9">
            <a:extLst>
              <a:ext uri="{FF2B5EF4-FFF2-40B4-BE49-F238E27FC236}">
                <a16:creationId xmlns:a16="http://schemas.microsoft.com/office/drawing/2014/main" id="{72F26F8A-395F-46F9-88B8-D02DBC30F856}"/>
              </a:ext>
            </a:extLst>
          </p:cNvPr>
          <p:cNvGrpSpPr/>
          <p:nvPr/>
        </p:nvGrpSpPr>
        <p:grpSpPr>
          <a:xfrm>
            <a:off x="1247000" y="3641857"/>
            <a:ext cx="664803" cy="1146141"/>
            <a:chOff x="9277162" y="2195066"/>
            <a:chExt cx="1788767" cy="3083888"/>
          </a:xfrm>
        </p:grpSpPr>
        <p:cxnSp>
          <p:nvCxnSpPr>
            <p:cNvPr id="12" name="Straight Connector 11">
              <a:extLst>
                <a:ext uri="{FF2B5EF4-FFF2-40B4-BE49-F238E27FC236}">
                  <a16:creationId xmlns:a16="http://schemas.microsoft.com/office/drawing/2014/main" id="{3D739883-B0DA-430B-B625-F6A2C349C610}"/>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8DE2FFE-9CD5-4DE7-BCCF-5994D574F5EE}"/>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E7FAABC9-3365-4419-A229-C4D49939607B}"/>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128E225B-FBB2-4C81-A9C2-E16BC9DF6825}"/>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09FBD58B-12D9-4EE0-B944-F5D41060DE77}"/>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9C3E1259-0980-4DDC-8579-F04E2F389166}"/>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5FE422A4-F460-4988-872F-C95EFC3DCA4A}"/>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Oval 19">
              <a:extLst>
                <a:ext uri="{FF2B5EF4-FFF2-40B4-BE49-F238E27FC236}">
                  <a16:creationId xmlns:a16="http://schemas.microsoft.com/office/drawing/2014/main" id="{93F5559E-F136-40EF-8B97-51039B8AF7C8}"/>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Oval 20">
              <a:extLst>
                <a:ext uri="{FF2B5EF4-FFF2-40B4-BE49-F238E27FC236}">
                  <a16:creationId xmlns:a16="http://schemas.microsoft.com/office/drawing/2014/main" id="{11A072ED-2B5A-4F92-B0B5-C143C8835D28}"/>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2" name="Straight Connector 21">
              <a:extLst>
                <a:ext uri="{FF2B5EF4-FFF2-40B4-BE49-F238E27FC236}">
                  <a16:creationId xmlns:a16="http://schemas.microsoft.com/office/drawing/2014/main" id="{23476BD8-9827-4D94-86AC-911BD10F2DC6}"/>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5E3EC46-467C-4511-99C8-444242163DBB}"/>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F658316-D566-49DE-A89E-DBB495FC9164}"/>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152CC2-9693-466D-A156-E6F3DEB36D93}"/>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51A29E0-5A2D-4CEC-9C86-24823967A9F0}"/>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1E22C19-3682-443D-B07E-6BF234802CB2}"/>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EE67281-B431-4DC3-82F6-3459953D25B3}"/>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651A442-98B0-424A-865B-EE0D9E4173E3}"/>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381882D-B0EB-459E-92E2-F4E4CADBA6E5}"/>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5D0ECF91-3B1B-418C-A7CB-1A0F2F8DB142}"/>
              </a:ext>
            </a:extLst>
          </p:cNvPr>
          <p:cNvGrpSpPr/>
          <p:nvPr/>
        </p:nvGrpSpPr>
        <p:grpSpPr>
          <a:xfrm>
            <a:off x="2863361" y="3641857"/>
            <a:ext cx="664803" cy="1146141"/>
            <a:chOff x="9277162" y="2195066"/>
            <a:chExt cx="1788767" cy="3083888"/>
          </a:xfrm>
        </p:grpSpPr>
        <p:cxnSp>
          <p:nvCxnSpPr>
            <p:cNvPr id="32" name="Straight Connector 31">
              <a:extLst>
                <a:ext uri="{FF2B5EF4-FFF2-40B4-BE49-F238E27FC236}">
                  <a16:creationId xmlns:a16="http://schemas.microsoft.com/office/drawing/2014/main" id="{65021AF8-6398-4AD9-9FBD-327456F914FC}"/>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FEBBFEF6-D775-4274-865D-D4B1FE4A46AC}"/>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Oval 33">
              <a:extLst>
                <a:ext uri="{FF2B5EF4-FFF2-40B4-BE49-F238E27FC236}">
                  <a16:creationId xmlns:a16="http://schemas.microsoft.com/office/drawing/2014/main" id="{8CBC7E4A-186A-4E3C-B1CC-1911231654F3}"/>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Oval 34">
              <a:extLst>
                <a:ext uri="{FF2B5EF4-FFF2-40B4-BE49-F238E27FC236}">
                  <a16:creationId xmlns:a16="http://schemas.microsoft.com/office/drawing/2014/main" id="{19E6E2CE-784B-446E-A718-CF76E7731AEB}"/>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Oval 35">
              <a:extLst>
                <a:ext uri="{FF2B5EF4-FFF2-40B4-BE49-F238E27FC236}">
                  <a16:creationId xmlns:a16="http://schemas.microsoft.com/office/drawing/2014/main" id="{F0F96A48-0883-4E22-91CD-EC5452D41F28}"/>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Oval 36">
              <a:extLst>
                <a:ext uri="{FF2B5EF4-FFF2-40B4-BE49-F238E27FC236}">
                  <a16:creationId xmlns:a16="http://schemas.microsoft.com/office/drawing/2014/main" id="{8C6B8453-F062-4D7B-8F99-7CF48C196E2C}"/>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Oval 37">
              <a:extLst>
                <a:ext uri="{FF2B5EF4-FFF2-40B4-BE49-F238E27FC236}">
                  <a16:creationId xmlns:a16="http://schemas.microsoft.com/office/drawing/2014/main" id="{75762274-814B-46EF-8084-44F3C445749F}"/>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Oval 38">
              <a:extLst>
                <a:ext uri="{FF2B5EF4-FFF2-40B4-BE49-F238E27FC236}">
                  <a16:creationId xmlns:a16="http://schemas.microsoft.com/office/drawing/2014/main" id="{38D57ABA-8CD6-4E3D-B753-CC8544D648C8}"/>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Oval 39">
              <a:extLst>
                <a:ext uri="{FF2B5EF4-FFF2-40B4-BE49-F238E27FC236}">
                  <a16:creationId xmlns:a16="http://schemas.microsoft.com/office/drawing/2014/main" id="{78FD00A4-B1A0-40C8-A8D5-6F735F6C7684}"/>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1" name="Straight Connector 40">
              <a:extLst>
                <a:ext uri="{FF2B5EF4-FFF2-40B4-BE49-F238E27FC236}">
                  <a16:creationId xmlns:a16="http://schemas.microsoft.com/office/drawing/2014/main" id="{4FF8B753-B9F3-4950-8305-5176EAFB1918}"/>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7307917-4DC8-4967-9EA9-271E49E99FD2}"/>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48DE4AC-CD84-4120-B322-782A41E7CF3C}"/>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056B42F-2823-407C-B2B6-39FC6F586CE4}"/>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C37C51A-4C3C-486E-8D1D-5FD0B2999DBC}"/>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44056A9-7ADD-4101-81C9-FF4A08BF6E49}"/>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AE82601-DD42-4877-8A02-F6E669BEEB7C}"/>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29133C60-5199-4F46-BA01-46CCE1DD3E3D}"/>
              </a:ext>
            </a:extLst>
          </p:cNvPr>
          <p:cNvGrpSpPr/>
          <p:nvPr/>
        </p:nvGrpSpPr>
        <p:grpSpPr>
          <a:xfrm>
            <a:off x="4494054" y="3646146"/>
            <a:ext cx="664803" cy="1146141"/>
            <a:chOff x="9277162" y="2195066"/>
            <a:chExt cx="1788767" cy="3083888"/>
          </a:xfrm>
        </p:grpSpPr>
        <p:cxnSp>
          <p:nvCxnSpPr>
            <p:cNvPr id="49" name="Straight Connector 48">
              <a:extLst>
                <a:ext uri="{FF2B5EF4-FFF2-40B4-BE49-F238E27FC236}">
                  <a16:creationId xmlns:a16="http://schemas.microsoft.com/office/drawing/2014/main" id="{F4928DEF-D64D-4009-81CA-FD5E7F7BDC2F}"/>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889BD6B1-0280-4B80-98D7-D91A7058D6CA}"/>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Oval 50">
              <a:extLst>
                <a:ext uri="{FF2B5EF4-FFF2-40B4-BE49-F238E27FC236}">
                  <a16:creationId xmlns:a16="http://schemas.microsoft.com/office/drawing/2014/main" id="{8C9B08B5-C839-4E24-A774-121C87E2938A}"/>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Oval 51">
              <a:extLst>
                <a:ext uri="{FF2B5EF4-FFF2-40B4-BE49-F238E27FC236}">
                  <a16:creationId xmlns:a16="http://schemas.microsoft.com/office/drawing/2014/main" id="{EB53F2C1-6FD7-4D8E-8430-B979ED33A7FA}"/>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Oval 52">
              <a:extLst>
                <a:ext uri="{FF2B5EF4-FFF2-40B4-BE49-F238E27FC236}">
                  <a16:creationId xmlns:a16="http://schemas.microsoft.com/office/drawing/2014/main" id="{B8AB74DD-00CD-4028-9DDA-6B5ABDDFD339}"/>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Oval 53">
              <a:extLst>
                <a:ext uri="{FF2B5EF4-FFF2-40B4-BE49-F238E27FC236}">
                  <a16:creationId xmlns:a16="http://schemas.microsoft.com/office/drawing/2014/main" id="{BEE3371D-4758-4F9A-BBE7-A4BB0A623F8C}"/>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Oval 54">
              <a:extLst>
                <a:ext uri="{FF2B5EF4-FFF2-40B4-BE49-F238E27FC236}">
                  <a16:creationId xmlns:a16="http://schemas.microsoft.com/office/drawing/2014/main" id="{09A42EB6-B613-4A8F-91DF-0FC7CBC8E05A}"/>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val 55">
              <a:extLst>
                <a:ext uri="{FF2B5EF4-FFF2-40B4-BE49-F238E27FC236}">
                  <a16:creationId xmlns:a16="http://schemas.microsoft.com/office/drawing/2014/main" id="{8E4B8FB2-B723-4AF8-BF9D-926F70227BC0}"/>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Oval 56">
              <a:extLst>
                <a:ext uri="{FF2B5EF4-FFF2-40B4-BE49-F238E27FC236}">
                  <a16:creationId xmlns:a16="http://schemas.microsoft.com/office/drawing/2014/main" id="{1298C6E4-40D0-43B0-BD44-02729AE12817}"/>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8" name="Straight Connector 57">
              <a:extLst>
                <a:ext uri="{FF2B5EF4-FFF2-40B4-BE49-F238E27FC236}">
                  <a16:creationId xmlns:a16="http://schemas.microsoft.com/office/drawing/2014/main" id="{7B03D57E-95EE-40DE-86E4-7A0B6FF04DFE}"/>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61DBDD3-1AD8-4B48-A8CB-402290BD6D5D}"/>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5AD3D39-33AA-4504-ACF9-4B87DD0A8701}"/>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9D1C79F-60EF-4474-A06B-36643AAD1086}"/>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83FD79C-842A-4B8A-B1B9-CDD1F43B8391}"/>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3" name="TextBox 62">
            <a:extLst>
              <a:ext uri="{FF2B5EF4-FFF2-40B4-BE49-F238E27FC236}">
                <a16:creationId xmlns:a16="http://schemas.microsoft.com/office/drawing/2014/main" id="{98B1213D-6794-4633-AB07-C161F0BDB0C7}"/>
              </a:ext>
            </a:extLst>
          </p:cNvPr>
          <p:cNvSpPr txBox="1"/>
          <p:nvPr/>
        </p:nvSpPr>
        <p:spPr>
          <a:xfrm>
            <a:off x="1209544" y="4994864"/>
            <a:ext cx="766618" cy="369332"/>
          </a:xfrm>
          <a:prstGeom prst="rect">
            <a:avLst/>
          </a:prstGeom>
          <a:noFill/>
        </p:spPr>
        <p:txBody>
          <a:bodyPr wrap="square">
            <a:spAutoFit/>
          </a:bodyPr>
          <a:lstStyle/>
          <a:p>
            <a:pPr algn="ctr"/>
            <a:r>
              <a:rPr lang="en-US" sz="1800" dirty="0"/>
              <a:t>t=1</a:t>
            </a:r>
            <a:endParaRPr lang="fr-FR" dirty="0"/>
          </a:p>
        </p:txBody>
      </p:sp>
      <p:sp>
        <p:nvSpPr>
          <p:cNvPr id="65" name="TextBox 64">
            <a:extLst>
              <a:ext uri="{FF2B5EF4-FFF2-40B4-BE49-F238E27FC236}">
                <a16:creationId xmlns:a16="http://schemas.microsoft.com/office/drawing/2014/main" id="{49500367-514B-43CB-841B-66288521579F}"/>
              </a:ext>
            </a:extLst>
          </p:cNvPr>
          <p:cNvSpPr txBox="1"/>
          <p:nvPr/>
        </p:nvSpPr>
        <p:spPr>
          <a:xfrm>
            <a:off x="2889695" y="4994864"/>
            <a:ext cx="766618" cy="369332"/>
          </a:xfrm>
          <a:prstGeom prst="rect">
            <a:avLst/>
          </a:prstGeom>
          <a:noFill/>
        </p:spPr>
        <p:txBody>
          <a:bodyPr wrap="square">
            <a:spAutoFit/>
          </a:bodyPr>
          <a:lstStyle/>
          <a:p>
            <a:pPr algn="ctr"/>
            <a:r>
              <a:rPr lang="en-US" sz="1800" dirty="0"/>
              <a:t>t=2</a:t>
            </a:r>
            <a:endParaRPr lang="fr-FR" dirty="0"/>
          </a:p>
        </p:txBody>
      </p:sp>
      <p:sp>
        <p:nvSpPr>
          <p:cNvPr id="66" name="TextBox 65">
            <a:extLst>
              <a:ext uri="{FF2B5EF4-FFF2-40B4-BE49-F238E27FC236}">
                <a16:creationId xmlns:a16="http://schemas.microsoft.com/office/drawing/2014/main" id="{36D46FDA-98DC-42D5-8404-4BE09E073A4E}"/>
              </a:ext>
            </a:extLst>
          </p:cNvPr>
          <p:cNvSpPr txBox="1"/>
          <p:nvPr/>
        </p:nvSpPr>
        <p:spPr>
          <a:xfrm>
            <a:off x="4520388" y="4994864"/>
            <a:ext cx="766618" cy="369332"/>
          </a:xfrm>
          <a:prstGeom prst="rect">
            <a:avLst/>
          </a:prstGeom>
          <a:noFill/>
        </p:spPr>
        <p:txBody>
          <a:bodyPr wrap="square">
            <a:spAutoFit/>
          </a:bodyPr>
          <a:lstStyle/>
          <a:p>
            <a:pPr algn="ctr"/>
            <a:r>
              <a:rPr lang="en-US" sz="1800" dirty="0"/>
              <a:t>t=3</a:t>
            </a:r>
            <a:endParaRPr lang="fr-FR" dirty="0"/>
          </a:p>
        </p:txBody>
      </p:sp>
      <p:sp>
        <p:nvSpPr>
          <p:cNvPr id="5" name="TextBox 4">
            <a:extLst>
              <a:ext uri="{FF2B5EF4-FFF2-40B4-BE49-F238E27FC236}">
                <a16:creationId xmlns:a16="http://schemas.microsoft.com/office/drawing/2014/main" id="{061CFB58-006C-208E-6A08-705CC7F6E3F9}"/>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Dynamic network representations</a:t>
            </a:r>
          </a:p>
          <a:p>
            <a:pPr marL="457200" indent="-457200">
              <a:buFont typeface="+mj-lt"/>
              <a:buAutoNum type="arabicPeriod" startAt="4"/>
            </a:pPr>
            <a:endParaRPr lang="en-US" sz="2400" b="1" i="1" dirty="0"/>
          </a:p>
        </p:txBody>
      </p:sp>
    </p:spTree>
    <p:extLst>
      <p:ext uri="{BB962C8B-B14F-4D97-AF65-F5344CB8AC3E}">
        <p14:creationId xmlns:p14="http://schemas.microsoft.com/office/powerpoint/2010/main" val="3574426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BF0123B6-AFE9-4710-BBEB-8BFADD2DB9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5" name="TextBox 4">
            <a:extLst>
              <a:ext uri="{FF2B5EF4-FFF2-40B4-BE49-F238E27FC236}">
                <a16:creationId xmlns:a16="http://schemas.microsoft.com/office/drawing/2014/main" id="{49EAA419-6EE0-4C77-8653-602EB49A518A}"/>
              </a:ext>
            </a:extLst>
          </p:cNvPr>
          <p:cNvSpPr txBox="1"/>
          <p:nvPr/>
        </p:nvSpPr>
        <p:spPr>
          <a:xfrm>
            <a:off x="182880" y="870857"/>
            <a:ext cx="11686903" cy="830997"/>
          </a:xfrm>
          <a:prstGeom prst="rect">
            <a:avLst/>
          </a:prstGeom>
          <a:noFill/>
        </p:spPr>
        <p:txBody>
          <a:bodyPr wrap="square" rtlCol="0">
            <a:spAutoFit/>
          </a:bodyPr>
          <a:lstStyle/>
          <a:p>
            <a:pPr marL="457200" indent="-457200">
              <a:buFont typeface="+mj-lt"/>
              <a:buAutoNum type="arabicPeriod" startAt="4"/>
            </a:pPr>
            <a:r>
              <a:rPr lang="en-US" sz="2400" b="1" dirty="0"/>
              <a:t>Different network representations</a:t>
            </a:r>
          </a:p>
          <a:p>
            <a:pPr marL="457200" indent="-457200">
              <a:buFont typeface="+mj-lt"/>
              <a:buAutoNum type="arabicPeriod" startAt="4"/>
            </a:pPr>
            <a:endParaRPr lang="en-US" sz="2400" b="1" i="1" dirty="0"/>
          </a:p>
        </p:txBody>
      </p:sp>
      <p:sp>
        <p:nvSpPr>
          <p:cNvPr id="4" name="TextBox 3">
            <a:extLst>
              <a:ext uri="{FF2B5EF4-FFF2-40B4-BE49-F238E27FC236}">
                <a16:creationId xmlns:a16="http://schemas.microsoft.com/office/drawing/2014/main" id="{12DED257-607A-3785-BE8D-9F6261F8FAB4}"/>
              </a:ext>
            </a:extLst>
          </p:cNvPr>
          <p:cNvSpPr txBox="1"/>
          <p:nvPr/>
        </p:nvSpPr>
        <p:spPr>
          <a:xfrm>
            <a:off x="1510344" y="1960678"/>
            <a:ext cx="8851554" cy="1015663"/>
          </a:xfrm>
          <a:prstGeom prst="rect">
            <a:avLst/>
          </a:prstGeom>
          <a:solidFill>
            <a:schemeClr val="accent1">
              <a:lumMod val="75000"/>
            </a:schemeClr>
          </a:solidFill>
        </p:spPr>
        <p:txBody>
          <a:bodyPr wrap="square" rtlCol="0">
            <a:spAutoFit/>
          </a:bodyPr>
          <a:lstStyle/>
          <a:p>
            <a:pPr algn="ctr"/>
            <a:r>
              <a:rPr lang="en-US" sz="3000" b="1" dirty="0">
                <a:solidFill>
                  <a:schemeClr val="bg1"/>
                </a:solidFill>
              </a:rPr>
              <a:t>1. Go to the R Markdown for Session 1 and work through the section SESSION 1: PART 6 </a:t>
            </a:r>
          </a:p>
        </p:txBody>
      </p:sp>
    </p:spTree>
    <p:extLst>
      <p:ext uri="{BB962C8B-B14F-4D97-AF65-F5344CB8AC3E}">
        <p14:creationId xmlns:p14="http://schemas.microsoft.com/office/powerpoint/2010/main" val="1249475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49691DB4-FD4F-4AA3-8590-BC44BFC6500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4363B0CE-4B61-4C57-BCEE-74DC96AEE77F}"/>
              </a:ext>
            </a:extLst>
          </p:cNvPr>
          <p:cNvSpPr txBox="1"/>
          <p:nvPr/>
        </p:nvSpPr>
        <p:spPr>
          <a:xfrm>
            <a:off x="182880" y="870857"/>
            <a:ext cx="11686903" cy="4893647"/>
          </a:xfrm>
          <a:prstGeom prst="rect">
            <a:avLst/>
          </a:prstGeom>
          <a:noFill/>
        </p:spPr>
        <p:txBody>
          <a:bodyPr wrap="square" rtlCol="0">
            <a:spAutoFit/>
          </a:bodyPr>
          <a:lstStyle/>
          <a:p>
            <a:r>
              <a:rPr lang="en-US" sz="2400" b="1" dirty="0"/>
              <a:t>Plan for the next two weeks:</a:t>
            </a:r>
          </a:p>
          <a:p>
            <a:endParaRPr lang="en-US" sz="2400" b="1" dirty="0"/>
          </a:p>
          <a:p>
            <a:r>
              <a:rPr lang="en-US" sz="2400" dirty="0"/>
              <a:t>SESSION 1 – What is a network?</a:t>
            </a:r>
          </a:p>
          <a:p>
            <a:endParaRPr lang="en-US" sz="2400" dirty="0"/>
          </a:p>
          <a:p>
            <a:r>
              <a:rPr lang="en-US" sz="2400" b="1" dirty="0"/>
              <a:t>SESSION 2 - How do we describe network structures?</a:t>
            </a:r>
          </a:p>
          <a:p>
            <a:endParaRPr lang="en-US" sz="2400" dirty="0"/>
          </a:p>
          <a:p>
            <a:r>
              <a:rPr lang="en-US" sz="2400" dirty="0"/>
              <a:t>SESSION 3 - How do we test hypotheses in networks?</a:t>
            </a:r>
          </a:p>
          <a:p>
            <a:endParaRPr lang="en-US" sz="2400" b="1" dirty="0"/>
          </a:p>
          <a:p>
            <a:endParaRPr lang="en-US" sz="2400" b="1" dirty="0"/>
          </a:p>
          <a:p>
            <a:endParaRPr lang="en-US" sz="2400" b="1" dirty="0"/>
          </a:p>
          <a:p>
            <a:r>
              <a:rPr lang="en-US" sz="2400" b="1" dirty="0">
                <a:highlight>
                  <a:srgbClr val="FFFF00"/>
                </a:highlight>
              </a:rPr>
              <a:t>Course materials:</a:t>
            </a:r>
            <a:br>
              <a:rPr lang="en-US" sz="2400" b="1" dirty="0">
                <a:highlight>
                  <a:srgbClr val="FFFF00"/>
                </a:highlight>
              </a:rPr>
            </a:br>
            <a:br>
              <a:rPr lang="en-US" sz="2400" b="1" dirty="0">
                <a:highlight>
                  <a:srgbClr val="FFFF00"/>
                </a:highlight>
              </a:rPr>
            </a:br>
            <a:r>
              <a:rPr lang="en-US" sz="2400" i="1" dirty="0">
                <a:highlight>
                  <a:srgbClr val="FFFF00"/>
                </a:highlight>
                <a:hlinkClick r:id="rId3"/>
              </a:rPr>
              <a:t>https://github.com/NETDEM-project/CEFE_Networks_Course</a:t>
            </a:r>
            <a:r>
              <a:rPr lang="en-US" sz="2400" i="1" dirty="0">
                <a:highlight>
                  <a:srgbClr val="FFFF00"/>
                </a:highlight>
              </a:rPr>
              <a:t> </a:t>
            </a:r>
            <a:endParaRPr lang="fr-FR" sz="2400" i="1" dirty="0">
              <a:highlight>
                <a:srgbClr val="FFFF00"/>
              </a:highlight>
            </a:endParaRPr>
          </a:p>
        </p:txBody>
      </p:sp>
      <p:pic>
        <p:nvPicPr>
          <p:cNvPr id="5" name="Picture 4" descr="Map&#10;&#10;Description automatically generated">
            <a:extLst>
              <a:ext uri="{FF2B5EF4-FFF2-40B4-BE49-F238E27FC236}">
                <a16:creationId xmlns:a16="http://schemas.microsoft.com/office/drawing/2014/main" id="{D4DE085E-3A5F-44B5-B12E-92C131BECE5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818748" y="3764309"/>
            <a:ext cx="2842029" cy="2767119"/>
          </a:xfrm>
          <a:prstGeom prst="rect">
            <a:avLst/>
          </a:prstGeom>
        </p:spPr>
      </p:pic>
    </p:spTree>
    <p:extLst>
      <p:ext uri="{BB962C8B-B14F-4D97-AF65-F5344CB8AC3E}">
        <p14:creationId xmlns:p14="http://schemas.microsoft.com/office/powerpoint/2010/main" val="10614822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E9893C-559C-6F71-1B44-2A8757169719}"/>
              </a:ext>
            </a:extLst>
          </p:cNvPr>
          <p:cNvSpPr txBox="1"/>
          <p:nvPr/>
        </p:nvSpPr>
        <p:spPr>
          <a:xfrm>
            <a:off x="182880" y="870857"/>
            <a:ext cx="11686903" cy="3785652"/>
          </a:xfrm>
          <a:prstGeom prst="rect">
            <a:avLst/>
          </a:prstGeom>
          <a:noFill/>
        </p:spPr>
        <p:txBody>
          <a:bodyPr wrap="square" rtlCol="0">
            <a:spAutoFit/>
          </a:bodyPr>
          <a:lstStyle/>
          <a:p>
            <a:r>
              <a:rPr lang="en-US" sz="2400" b="1" dirty="0"/>
              <a:t>Plan for today:</a:t>
            </a:r>
          </a:p>
          <a:p>
            <a:endParaRPr lang="en-US" sz="2400" b="1" dirty="0"/>
          </a:p>
          <a:p>
            <a:pPr marL="457200" indent="-457200">
              <a:buAutoNum type="arabicPeriod"/>
            </a:pPr>
            <a:r>
              <a:rPr lang="en-US" sz="2400" dirty="0"/>
              <a:t>The basics of network structure</a:t>
            </a:r>
            <a:endParaRPr lang="en-US" sz="2400" i="1" dirty="0"/>
          </a:p>
          <a:p>
            <a:pPr marL="457200" indent="-457200">
              <a:buAutoNum type="arabicPeriod"/>
            </a:pPr>
            <a:endParaRPr lang="en-US" sz="2400" i="1" dirty="0"/>
          </a:p>
          <a:p>
            <a:pPr marL="457200" indent="-457200">
              <a:buAutoNum type="arabicPeriod"/>
            </a:pPr>
            <a:r>
              <a:rPr lang="en-US" sz="2400" dirty="0"/>
              <a:t>Describing node-level or microscale structure of networks</a:t>
            </a:r>
          </a:p>
          <a:p>
            <a:pPr marL="457200" indent="-457200">
              <a:buAutoNum type="arabicPeriod"/>
            </a:pPr>
            <a:endParaRPr lang="en-US" sz="2400" dirty="0"/>
          </a:p>
          <a:p>
            <a:pPr marL="457200" indent="-457200">
              <a:buFontTx/>
              <a:buAutoNum type="arabicPeriod"/>
            </a:pPr>
            <a:r>
              <a:rPr lang="en-US" sz="2400" dirty="0"/>
              <a:t>Describing mesoscale structure of networks</a:t>
            </a:r>
          </a:p>
          <a:p>
            <a:pPr marL="457200" indent="-457200">
              <a:buFontTx/>
              <a:buAutoNum type="arabicPeriod"/>
            </a:pPr>
            <a:endParaRPr lang="en-US" sz="2400" dirty="0"/>
          </a:p>
          <a:p>
            <a:pPr marL="457200" indent="-457200">
              <a:buAutoNum type="arabicPeriod"/>
            </a:pPr>
            <a:r>
              <a:rPr lang="en-US" sz="2400" dirty="0"/>
              <a:t>Describing macroscale structure of networks</a:t>
            </a:r>
          </a:p>
          <a:p>
            <a:pPr marL="457200" indent="-457200">
              <a:buAutoNum type="arabicPeriod"/>
            </a:pPr>
            <a:endParaRPr lang="en-US" sz="2400" dirty="0"/>
          </a:p>
        </p:txBody>
      </p:sp>
    </p:spTree>
    <p:extLst>
      <p:ext uri="{BB962C8B-B14F-4D97-AF65-F5344CB8AC3E}">
        <p14:creationId xmlns:p14="http://schemas.microsoft.com/office/powerpoint/2010/main" val="4244014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6D968B-5E9A-B8CF-BAF4-BAD83DEF28AC}"/>
              </a:ext>
            </a:extLst>
          </p:cNvPr>
          <p:cNvSpPr txBox="1"/>
          <p:nvPr/>
        </p:nvSpPr>
        <p:spPr>
          <a:xfrm>
            <a:off x="421342" y="967850"/>
            <a:ext cx="6167716" cy="461665"/>
          </a:xfrm>
          <a:prstGeom prst="rect">
            <a:avLst/>
          </a:prstGeom>
          <a:noFill/>
        </p:spPr>
        <p:txBody>
          <a:bodyPr wrap="square">
            <a:spAutoFit/>
          </a:bodyPr>
          <a:lstStyle/>
          <a:p>
            <a:pPr marL="457200" indent="-457200">
              <a:buAutoNum type="arabicPeriod"/>
            </a:pPr>
            <a:r>
              <a:rPr lang="en-US" sz="2400" dirty="0"/>
              <a:t>The basics of network structure</a:t>
            </a:r>
            <a:endParaRPr lang="en-US" sz="2400" i="1" dirty="0"/>
          </a:p>
        </p:txBody>
      </p:sp>
      <p:pic>
        <p:nvPicPr>
          <p:cNvPr id="8" name="Picture 7" descr="Diagram, radar chart&#10;&#10;Description automatically generated">
            <a:extLst>
              <a:ext uri="{FF2B5EF4-FFF2-40B4-BE49-F238E27FC236}">
                <a16:creationId xmlns:a16="http://schemas.microsoft.com/office/drawing/2014/main" id="{39331F4E-71A0-E8A9-6A6E-745335212DA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24217" y="1637180"/>
            <a:ext cx="8827994" cy="4626720"/>
          </a:xfrm>
          <a:prstGeom prst="rect">
            <a:avLst/>
          </a:prstGeom>
        </p:spPr>
      </p:pic>
    </p:spTree>
    <p:extLst>
      <p:ext uri="{BB962C8B-B14F-4D97-AF65-F5344CB8AC3E}">
        <p14:creationId xmlns:p14="http://schemas.microsoft.com/office/powerpoint/2010/main" val="14073827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4524315"/>
          </a:xfrm>
          <a:prstGeom prst="rect">
            <a:avLst/>
          </a:prstGeom>
          <a:noFill/>
        </p:spPr>
        <p:txBody>
          <a:bodyPr wrap="square" rtlCol="0">
            <a:spAutoFit/>
          </a:bodyPr>
          <a:lstStyle/>
          <a:p>
            <a:r>
              <a:rPr lang="en-US" sz="2000" dirty="0"/>
              <a:t>We can use network measures of network metrics to quantify an individual’s social network position. These measures are mainly:</a:t>
            </a:r>
          </a:p>
          <a:p>
            <a:endParaRPr lang="en-US" sz="2000" dirty="0"/>
          </a:p>
          <a:p>
            <a:endParaRPr lang="en-US" sz="2000" dirty="0"/>
          </a:p>
          <a:p>
            <a:r>
              <a:rPr lang="en-US" sz="2400" b="1" dirty="0"/>
              <a:t>CENTRALITY measures </a:t>
            </a:r>
            <a:r>
              <a:rPr lang="en-US" sz="2400" dirty="0"/>
              <a:t>that capture how “central” or influential an individual is in the network.</a:t>
            </a:r>
          </a:p>
          <a:p>
            <a:endParaRPr lang="en-US" sz="2000" b="1" dirty="0"/>
          </a:p>
          <a:p>
            <a:endParaRPr lang="en-US" sz="2000" b="1" dirty="0"/>
          </a:p>
          <a:p>
            <a:r>
              <a:rPr lang="en-CA" sz="2000" dirty="0"/>
              <a:t>However, there are other measures that capture other aspects of an individual’s social network position such as:</a:t>
            </a:r>
          </a:p>
          <a:p>
            <a:endParaRPr lang="en-CA" sz="2000" dirty="0"/>
          </a:p>
          <a:p>
            <a:r>
              <a:rPr lang="en-CA" sz="2000" b="1" dirty="0"/>
              <a:t>CLUSTERING COEFFICIENT</a:t>
            </a:r>
          </a:p>
          <a:p>
            <a:endParaRPr lang="en-CA" sz="2000" b="1" dirty="0"/>
          </a:p>
          <a:p>
            <a:r>
              <a:rPr lang="en-CA" sz="2000" b="1" dirty="0"/>
              <a:t>EDGE WEIGHT VARIANCE</a:t>
            </a:r>
          </a:p>
        </p:txBody>
      </p:sp>
      <p:sp>
        <p:nvSpPr>
          <p:cNvPr id="9" name="TextBox 8">
            <a:extLst>
              <a:ext uri="{FF2B5EF4-FFF2-40B4-BE49-F238E27FC236}">
                <a16:creationId xmlns:a16="http://schemas.microsoft.com/office/drawing/2014/main" id="{4835F1B3-5087-E101-253D-F6E1C7F90C33}"/>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341079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4" name="TextBox 3">
            <a:extLst>
              <a:ext uri="{FF2B5EF4-FFF2-40B4-BE49-F238E27FC236}">
                <a16:creationId xmlns:a16="http://schemas.microsoft.com/office/drawing/2014/main" id="{B3076EF0-4785-71A9-7EBD-974C71E74011}"/>
              </a:ext>
            </a:extLst>
          </p:cNvPr>
          <p:cNvSpPr txBox="1"/>
          <p:nvPr/>
        </p:nvSpPr>
        <p:spPr>
          <a:xfrm>
            <a:off x="1398495" y="2801129"/>
            <a:ext cx="6562164" cy="461665"/>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DEGREE is the number of connections a node has</a:t>
            </a:r>
            <a:endParaRPr lang="en-CA" sz="2400" dirty="0">
              <a:solidFill>
                <a:schemeClr val="accent5">
                  <a:lumMod val="20000"/>
                  <a:lumOff val="80000"/>
                </a:schemeClr>
              </a:solidFill>
            </a:endParaRPr>
          </a:p>
        </p:txBody>
      </p:sp>
      <p:grpSp>
        <p:nvGrpSpPr>
          <p:cNvPr id="5" name="Group 4">
            <a:extLst>
              <a:ext uri="{FF2B5EF4-FFF2-40B4-BE49-F238E27FC236}">
                <a16:creationId xmlns:a16="http://schemas.microsoft.com/office/drawing/2014/main" id="{D04E7D56-D7DC-D986-D9A1-470B7DA521F1}"/>
              </a:ext>
            </a:extLst>
          </p:cNvPr>
          <p:cNvGrpSpPr/>
          <p:nvPr/>
        </p:nvGrpSpPr>
        <p:grpSpPr>
          <a:xfrm>
            <a:off x="9345398" y="2850435"/>
            <a:ext cx="1788767" cy="3083888"/>
            <a:chOff x="9277162" y="2195066"/>
            <a:chExt cx="1788767" cy="3083888"/>
          </a:xfrm>
        </p:grpSpPr>
        <p:cxnSp>
          <p:nvCxnSpPr>
            <p:cNvPr id="17" name="Straight Connector 16">
              <a:extLst>
                <a:ext uri="{FF2B5EF4-FFF2-40B4-BE49-F238E27FC236}">
                  <a16:creationId xmlns:a16="http://schemas.microsoft.com/office/drawing/2014/main" id="{02E07F9A-9D02-E83C-086A-8916DD6F2077}"/>
                </a:ext>
              </a:extLst>
            </p:cNvPr>
            <p:cNvCxnSpPr>
              <a:cxnSpLocks/>
            </p:cNvCxnSpPr>
            <p:nvPr/>
          </p:nvCxnSpPr>
          <p:spPr>
            <a:xfrm flipV="1">
              <a:off x="9448800" y="2381719"/>
              <a:ext cx="437733" cy="76486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D577FF-E53D-A7A7-704C-3DE3FDA5216D}"/>
                </a:ext>
              </a:extLst>
            </p:cNvPr>
            <p:cNvCxnSpPr>
              <a:cxnSpLocks/>
            </p:cNvCxnSpPr>
            <p:nvPr/>
          </p:nvCxnSpPr>
          <p:spPr>
            <a:xfrm flipH="1" flipV="1">
              <a:off x="9886533" y="2366705"/>
              <a:ext cx="747976" cy="102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6C4C05B-3880-ADA0-1BF3-E19C2277DE8E}"/>
                </a:ext>
              </a:extLst>
            </p:cNvPr>
            <p:cNvCxnSpPr>
              <a:cxnSpLocks/>
            </p:cNvCxnSpPr>
            <p:nvPr/>
          </p:nvCxnSpPr>
          <p:spPr>
            <a:xfrm>
              <a:off x="9886533" y="2366704"/>
              <a:ext cx="664482" cy="163716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A87E0-5842-3415-4E45-A441EDE25105}"/>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98EA261-0A59-4630-7B1C-1C976E069371}"/>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val 9">
              <a:extLst>
                <a:ext uri="{FF2B5EF4-FFF2-40B4-BE49-F238E27FC236}">
                  <a16:creationId xmlns:a16="http://schemas.microsoft.com/office/drawing/2014/main" id="{39FE2637-7293-1957-87D6-E509BD9D103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3CF9B874-540A-20AD-9689-04ED1F20E11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AFB42A6C-03C0-AA1C-C62E-6B3AED84CFAD}"/>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3A4AC467-F844-0494-082A-A4C5C75C114E}"/>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4743466-095D-86D0-ECB2-B0ED7F2A8526}"/>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2BE72F75-7959-2807-40C0-5F21E37DC179}"/>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4FEF180D-47E8-E492-FB40-BDFC48FF9A91}"/>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1847A-EB3F-0BAA-2A56-C4F3C810D348}"/>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FBB206-775E-14C5-7023-2C20316D545F}"/>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3E0D5EB-BD57-2364-E8BA-3DD4C462DC57}"/>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51D9F64-8830-0E81-F709-977ED9281141}"/>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56F1845-AF26-F5BA-19D2-A679867E5E11}"/>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1EB851C-3E7D-099B-32B3-7B33F1128871}"/>
                </a:ext>
              </a:extLst>
            </p:cNvPr>
            <p:cNvSpPr/>
            <p:nvPr/>
          </p:nvSpPr>
          <p:spPr>
            <a:xfrm>
              <a:off x="9714895" y="2196423"/>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7" name="TextBox 26">
            <a:extLst>
              <a:ext uri="{FF2B5EF4-FFF2-40B4-BE49-F238E27FC236}">
                <a16:creationId xmlns:a16="http://schemas.microsoft.com/office/drawing/2014/main" id="{BB906313-B0DA-81ED-D786-BD870FE0BF5C}"/>
              </a:ext>
            </a:extLst>
          </p:cNvPr>
          <p:cNvSpPr txBox="1"/>
          <p:nvPr/>
        </p:nvSpPr>
        <p:spPr>
          <a:xfrm>
            <a:off x="1398495" y="3632635"/>
            <a:ext cx="6562164" cy="369332"/>
          </a:xfrm>
          <a:prstGeom prst="rect">
            <a:avLst/>
          </a:prstGeom>
          <a:solidFill>
            <a:schemeClr val="bg1">
              <a:lumMod val="95000"/>
            </a:schemeClr>
          </a:solidFill>
        </p:spPr>
        <p:txBody>
          <a:bodyPr wrap="square" rtlCol="0">
            <a:spAutoFit/>
          </a:bodyPr>
          <a:lstStyle/>
          <a:p>
            <a:r>
              <a:rPr lang="en-US" b="1" dirty="0">
                <a:latin typeface="Courier New" panose="02070309020205020404" pitchFamily="49" charset="0"/>
                <a:cs typeface="Courier New" panose="02070309020205020404" pitchFamily="49" charset="0"/>
              </a:rPr>
              <a:t>igraph::degree(network)</a:t>
            </a:r>
            <a:endParaRPr lang="en-CA" b="1" dirty="0">
              <a:latin typeface="Courier New" panose="02070309020205020404" pitchFamily="49" charset="0"/>
              <a:cs typeface="Courier New" panose="02070309020205020404" pitchFamily="49" charset="0"/>
            </a:endParaRPr>
          </a:p>
        </p:txBody>
      </p:sp>
      <p:sp>
        <p:nvSpPr>
          <p:cNvPr id="28" name="TextBox 27">
            <a:extLst>
              <a:ext uri="{FF2B5EF4-FFF2-40B4-BE49-F238E27FC236}">
                <a16:creationId xmlns:a16="http://schemas.microsoft.com/office/drawing/2014/main" id="{51352B72-DC23-4D03-C7E5-D6EB0430F299}"/>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
        <p:nvSpPr>
          <p:cNvPr id="26" name="TextBox 25">
            <a:extLst>
              <a:ext uri="{FF2B5EF4-FFF2-40B4-BE49-F238E27FC236}">
                <a16:creationId xmlns:a16="http://schemas.microsoft.com/office/drawing/2014/main" id="{8EABD5FF-4500-4F5A-AEE6-01912B0A041E}"/>
              </a:ext>
            </a:extLst>
          </p:cNvPr>
          <p:cNvSpPr txBox="1"/>
          <p:nvPr/>
        </p:nvSpPr>
        <p:spPr>
          <a:xfrm>
            <a:off x="1272988" y="4323046"/>
            <a:ext cx="7566211" cy="707886"/>
          </a:xfrm>
          <a:prstGeom prst="rect">
            <a:avLst/>
          </a:prstGeom>
          <a:noFill/>
        </p:spPr>
        <p:txBody>
          <a:bodyPr wrap="square" rtlCol="0">
            <a:spAutoFit/>
          </a:bodyPr>
          <a:lstStyle/>
          <a:p>
            <a:r>
              <a:rPr lang="en-US" sz="2000" dirty="0"/>
              <a:t>Degree can be standardized by dividing by the number of nodes minus one</a:t>
            </a:r>
          </a:p>
        </p:txBody>
      </p:sp>
    </p:spTree>
    <p:extLst>
      <p:ext uri="{BB962C8B-B14F-4D97-AF65-F5344CB8AC3E}">
        <p14:creationId xmlns:p14="http://schemas.microsoft.com/office/powerpoint/2010/main" val="37091991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4" name="TextBox 3">
            <a:extLst>
              <a:ext uri="{FF2B5EF4-FFF2-40B4-BE49-F238E27FC236}">
                <a16:creationId xmlns:a16="http://schemas.microsoft.com/office/drawing/2014/main" id="{B3076EF0-4785-71A9-7EBD-974C71E74011}"/>
              </a:ext>
            </a:extLst>
          </p:cNvPr>
          <p:cNvSpPr txBox="1"/>
          <p:nvPr/>
        </p:nvSpPr>
        <p:spPr>
          <a:xfrm>
            <a:off x="1398495" y="2801129"/>
            <a:ext cx="6562164" cy="461665"/>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DEGREE is the number of connections a node has</a:t>
            </a:r>
            <a:endParaRPr lang="en-CA" sz="2400" dirty="0">
              <a:solidFill>
                <a:schemeClr val="accent5">
                  <a:lumMod val="20000"/>
                  <a:lumOff val="80000"/>
                </a:schemeClr>
              </a:solidFill>
            </a:endParaRPr>
          </a:p>
        </p:txBody>
      </p:sp>
      <p:grpSp>
        <p:nvGrpSpPr>
          <p:cNvPr id="5" name="Group 4">
            <a:extLst>
              <a:ext uri="{FF2B5EF4-FFF2-40B4-BE49-F238E27FC236}">
                <a16:creationId xmlns:a16="http://schemas.microsoft.com/office/drawing/2014/main" id="{D04E7D56-D7DC-D986-D9A1-470B7DA521F1}"/>
              </a:ext>
            </a:extLst>
          </p:cNvPr>
          <p:cNvGrpSpPr/>
          <p:nvPr/>
        </p:nvGrpSpPr>
        <p:grpSpPr>
          <a:xfrm>
            <a:off x="9345398" y="2850435"/>
            <a:ext cx="1788767" cy="3083888"/>
            <a:chOff x="9277162" y="2195066"/>
            <a:chExt cx="1788767" cy="3083888"/>
          </a:xfrm>
        </p:grpSpPr>
        <p:cxnSp>
          <p:nvCxnSpPr>
            <p:cNvPr id="17" name="Straight Connector 16">
              <a:extLst>
                <a:ext uri="{FF2B5EF4-FFF2-40B4-BE49-F238E27FC236}">
                  <a16:creationId xmlns:a16="http://schemas.microsoft.com/office/drawing/2014/main" id="{02E07F9A-9D02-E83C-086A-8916DD6F2077}"/>
                </a:ext>
              </a:extLst>
            </p:cNvPr>
            <p:cNvCxnSpPr>
              <a:cxnSpLocks/>
            </p:cNvCxnSpPr>
            <p:nvPr/>
          </p:nvCxnSpPr>
          <p:spPr>
            <a:xfrm flipV="1">
              <a:off x="9448800" y="2381719"/>
              <a:ext cx="437733" cy="7648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D577FF-E53D-A7A7-704C-3DE3FDA5216D}"/>
                </a:ext>
              </a:extLst>
            </p:cNvPr>
            <p:cNvCxnSpPr>
              <a:cxnSpLocks/>
            </p:cNvCxnSpPr>
            <p:nvPr/>
          </p:nvCxnSpPr>
          <p:spPr>
            <a:xfrm flipH="1" flipV="1">
              <a:off x="9886533" y="2366705"/>
              <a:ext cx="747976" cy="102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6C4C05B-3880-ADA0-1BF3-E19C2277DE8E}"/>
                </a:ext>
              </a:extLst>
            </p:cNvPr>
            <p:cNvCxnSpPr>
              <a:cxnSpLocks/>
            </p:cNvCxnSpPr>
            <p:nvPr/>
          </p:nvCxnSpPr>
          <p:spPr>
            <a:xfrm>
              <a:off x="9886533" y="2366704"/>
              <a:ext cx="664482" cy="163716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A87E0-5842-3415-4E45-A441EDE25105}"/>
                </a:ext>
              </a:extLst>
            </p:cNvPr>
            <p:cNvCxnSpPr>
              <a:cxnSpLocks/>
            </p:cNvCxnSpPr>
            <p:nvPr/>
          </p:nvCxnSpPr>
          <p:spPr>
            <a:xfrm>
              <a:off x="9448800" y="3146585"/>
              <a:ext cx="136262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98EA261-0A59-4630-7B1C-1C976E069371}"/>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val 9">
              <a:extLst>
                <a:ext uri="{FF2B5EF4-FFF2-40B4-BE49-F238E27FC236}">
                  <a16:creationId xmlns:a16="http://schemas.microsoft.com/office/drawing/2014/main" id="{39FE2637-7293-1957-87D6-E509BD9D103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3CF9B874-540A-20AD-9689-04ED1F20E11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AFB42A6C-03C0-AA1C-C62E-6B3AED84CFAD}"/>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3A4AC467-F844-0494-082A-A4C5C75C114E}"/>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4743466-095D-86D0-ECB2-B0ED7F2A8526}"/>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2BE72F75-7959-2807-40C0-5F21E37DC179}"/>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4FEF180D-47E8-E492-FB40-BDFC48FF9A91}"/>
                </a:ext>
              </a:extLst>
            </p:cNvPr>
            <p:cNvCxnSpPr>
              <a:cxnSpLocks/>
            </p:cNvCxnSpPr>
            <p:nvPr/>
          </p:nvCxnSpPr>
          <p:spPr>
            <a:xfrm>
              <a:off x="10634509" y="2381719"/>
              <a:ext cx="259782" cy="78315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1847A-EB3F-0BAA-2A56-C4F3C810D348}"/>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FBB206-775E-14C5-7023-2C20316D545F}"/>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3E0D5EB-BD57-2364-E8BA-3DD4C462DC57}"/>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51D9F64-8830-0E81-F709-977ED9281141}"/>
                </a:ext>
              </a:extLst>
            </p:cNvPr>
            <p:cNvCxnSpPr>
              <a:cxnSpLocks/>
            </p:cNvCxnSpPr>
            <p:nvPr/>
          </p:nvCxnSpPr>
          <p:spPr>
            <a:xfrm flipV="1">
              <a:off x="9969302" y="4003871"/>
              <a:ext cx="581713" cy="353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56F1845-AF26-F5BA-19D2-A679867E5E11}"/>
                </a:ext>
              </a:extLst>
            </p:cNvPr>
            <p:cNvCxnSpPr>
              <a:cxnSpLocks/>
            </p:cNvCxnSpPr>
            <p:nvPr/>
          </p:nvCxnSpPr>
          <p:spPr>
            <a:xfrm>
              <a:off x="9969302" y="4379070"/>
              <a:ext cx="427782" cy="72824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1EB851C-3E7D-099B-32B3-7B33F1128871}"/>
                </a:ext>
              </a:extLst>
            </p:cNvPr>
            <p:cNvSpPr/>
            <p:nvPr/>
          </p:nvSpPr>
          <p:spPr>
            <a:xfrm>
              <a:off x="9714895" y="2196423"/>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7" name="TextBox 26">
            <a:extLst>
              <a:ext uri="{FF2B5EF4-FFF2-40B4-BE49-F238E27FC236}">
                <a16:creationId xmlns:a16="http://schemas.microsoft.com/office/drawing/2014/main" id="{BB906313-B0DA-81ED-D786-BD870FE0BF5C}"/>
              </a:ext>
            </a:extLst>
          </p:cNvPr>
          <p:cNvSpPr txBox="1"/>
          <p:nvPr/>
        </p:nvSpPr>
        <p:spPr>
          <a:xfrm>
            <a:off x="1398495" y="3632635"/>
            <a:ext cx="6562164" cy="369332"/>
          </a:xfrm>
          <a:prstGeom prst="rect">
            <a:avLst/>
          </a:prstGeom>
          <a:solidFill>
            <a:schemeClr val="bg1">
              <a:lumMod val="95000"/>
            </a:schemeClr>
          </a:solidFill>
        </p:spPr>
        <p:txBody>
          <a:bodyPr wrap="square" rtlCol="0">
            <a:spAutoFit/>
          </a:bodyPr>
          <a:lstStyle/>
          <a:p>
            <a:r>
              <a:rPr lang="en-US" b="1" dirty="0">
                <a:latin typeface="Courier New" panose="02070309020205020404" pitchFamily="49" charset="0"/>
                <a:cs typeface="Courier New" panose="02070309020205020404" pitchFamily="49" charset="0"/>
              </a:rPr>
              <a:t>igraph::degree(network)</a:t>
            </a:r>
            <a:endParaRPr lang="en-CA"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E018C4CF-F187-52E5-4C9A-627DAB781FB0}"/>
              </a:ext>
            </a:extLst>
          </p:cNvPr>
          <p:cNvSpPr txBox="1"/>
          <p:nvPr/>
        </p:nvSpPr>
        <p:spPr>
          <a:xfrm>
            <a:off x="1398495" y="4371808"/>
            <a:ext cx="6562164"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STRENGTH (WEIGHTED DEGREE) takes into account the weight of each edge</a:t>
            </a:r>
            <a:endParaRPr lang="en-CA" sz="2400" dirty="0">
              <a:solidFill>
                <a:schemeClr val="accent5">
                  <a:lumMod val="20000"/>
                  <a:lumOff val="80000"/>
                </a:schemeClr>
              </a:solidFill>
            </a:endParaRPr>
          </a:p>
        </p:txBody>
      </p:sp>
      <p:sp>
        <p:nvSpPr>
          <p:cNvPr id="26" name="TextBox 25">
            <a:extLst>
              <a:ext uri="{FF2B5EF4-FFF2-40B4-BE49-F238E27FC236}">
                <a16:creationId xmlns:a16="http://schemas.microsoft.com/office/drawing/2014/main" id="{0189CC13-9A60-915C-5786-B0593BF29546}"/>
              </a:ext>
            </a:extLst>
          </p:cNvPr>
          <p:cNvSpPr txBox="1"/>
          <p:nvPr/>
        </p:nvSpPr>
        <p:spPr>
          <a:xfrm>
            <a:off x="1398495" y="5591047"/>
            <a:ext cx="6562164" cy="369332"/>
          </a:xfrm>
          <a:prstGeom prst="rect">
            <a:avLst/>
          </a:prstGeom>
          <a:solidFill>
            <a:schemeClr val="bg1">
              <a:lumMod val="95000"/>
            </a:schemeClr>
          </a:solidFill>
        </p:spPr>
        <p:txBody>
          <a:bodyPr wrap="square" rtlCol="0">
            <a:spAutoFit/>
          </a:bodyPr>
          <a:lstStyle/>
          <a:p>
            <a:r>
              <a:rPr lang="en-US" b="1" dirty="0">
                <a:latin typeface="Courier New" panose="02070309020205020404" pitchFamily="49" charset="0"/>
                <a:cs typeface="Courier New" panose="02070309020205020404" pitchFamily="49" charset="0"/>
              </a:rPr>
              <a:t>igraph::strength(network)</a:t>
            </a:r>
            <a:endParaRPr lang="en-CA" b="1" dirty="0">
              <a:latin typeface="Courier New" panose="02070309020205020404" pitchFamily="49" charset="0"/>
              <a:cs typeface="Courier New" panose="02070309020205020404" pitchFamily="49" charset="0"/>
            </a:endParaRPr>
          </a:p>
        </p:txBody>
      </p:sp>
      <p:sp>
        <p:nvSpPr>
          <p:cNvPr id="28" name="TextBox 27">
            <a:extLst>
              <a:ext uri="{FF2B5EF4-FFF2-40B4-BE49-F238E27FC236}">
                <a16:creationId xmlns:a16="http://schemas.microsoft.com/office/drawing/2014/main" id="{7DF8B642-5C00-3FFF-CD8A-1A261B3C174A}"/>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2985173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4" name="TextBox 3">
            <a:extLst>
              <a:ext uri="{FF2B5EF4-FFF2-40B4-BE49-F238E27FC236}">
                <a16:creationId xmlns:a16="http://schemas.microsoft.com/office/drawing/2014/main" id="{B3076EF0-4785-71A9-7EBD-974C71E74011}"/>
              </a:ext>
            </a:extLst>
          </p:cNvPr>
          <p:cNvSpPr txBox="1"/>
          <p:nvPr/>
        </p:nvSpPr>
        <p:spPr>
          <a:xfrm>
            <a:off x="1398495" y="2801129"/>
            <a:ext cx="6562164" cy="461665"/>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DEGREE is the number of connections a node has</a:t>
            </a:r>
            <a:endParaRPr lang="en-CA" sz="2400" dirty="0">
              <a:solidFill>
                <a:schemeClr val="accent5">
                  <a:lumMod val="20000"/>
                  <a:lumOff val="80000"/>
                </a:schemeClr>
              </a:solidFill>
            </a:endParaRPr>
          </a:p>
        </p:txBody>
      </p:sp>
      <p:grpSp>
        <p:nvGrpSpPr>
          <p:cNvPr id="5" name="Group 4">
            <a:extLst>
              <a:ext uri="{FF2B5EF4-FFF2-40B4-BE49-F238E27FC236}">
                <a16:creationId xmlns:a16="http://schemas.microsoft.com/office/drawing/2014/main" id="{D04E7D56-D7DC-D986-D9A1-470B7DA521F1}"/>
              </a:ext>
            </a:extLst>
          </p:cNvPr>
          <p:cNvGrpSpPr/>
          <p:nvPr/>
        </p:nvGrpSpPr>
        <p:grpSpPr>
          <a:xfrm>
            <a:off x="9345398" y="2850435"/>
            <a:ext cx="1788767" cy="3083888"/>
            <a:chOff x="9277162" y="2195066"/>
            <a:chExt cx="1788767" cy="3083888"/>
          </a:xfrm>
        </p:grpSpPr>
        <p:cxnSp>
          <p:nvCxnSpPr>
            <p:cNvPr id="17" name="Straight Connector 16">
              <a:extLst>
                <a:ext uri="{FF2B5EF4-FFF2-40B4-BE49-F238E27FC236}">
                  <a16:creationId xmlns:a16="http://schemas.microsoft.com/office/drawing/2014/main" id="{02E07F9A-9D02-E83C-086A-8916DD6F2077}"/>
                </a:ext>
              </a:extLst>
            </p:cNvPr>
            <p:cNvCxnSpPr>
              <a:cxnSpLocks/>
            </p:cNvCxnSpPr>
            <p:nvPr/>
          </p:nvCxnSpPr>
          <p:spPr>
            <a:xfrm flipV="1">
              <a:off x="9448800" y="2381719"/>
              <a:ext cx="437733" cy="7648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D577FF-E53D-A7A7-704C-3DE3FDA5216D}"/>
                </a:ext>
              </a:extLst>
            </p:cNvPr>
            <p:cNvCxnSpPr>
              <a:cxnSpLocks/>
            </p:cNvCxnSpPr>
            <p:nvPr/>
          </p:nvCxnSpPr>
          <p:spPr>
            <a:xfrm flipH="1" flipV="1">
              <a:off x="9886533" y="2366705"/>
              <a:ext cx="747976" cy="102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6C4C05B-3880-ADA0-1BF3-E19C2277DE8E}"/>
                </a:ext>
              </a:extLst>
            </p:cNvPr>
            <p:cNvCxnSpPr>
              <a:cxnSpLocks/>
            </p:cNvCxnSpPr>
            <p:nvPr/>
          </p:nvCxnSpPr>
          <p:spPr>
            <a:xfrm>
              <a:off x="9886533" y="2366704"/>
              <a:ext cx="664482" cy="163716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A87E0-5842-3415-4E45-A441EDE25105}"/>
                </a:ext>
              </a:extLst>
            </p:cNvPr>
            <p:cNvCxnSpPr>
              <a:cxnSpLocks/>
            </p:cNvCxnSpPr>
            <p:nvPr/>
          </p:nvCxnSpPr>
          <p:spPr>
            <a:xfrm>
              <a:off x="9448800" y="3146585"/>
              <a:ext cx="136262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98EA261-0A59-4630-7B1C-1C976E069371}"/>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val 9">
              <a:extLst>
                <a:ext uri="{FF2B5EF4-FFF2-40B4-BE49-F238E27FC236}">
                  <a16:creationId xmlns:a16="http://schemas.microsoft.com/office/drawing/2014/main" id="{39FE2637-7293-1957-87D6-E509BD9D103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3CF9B874-540A-20AD-9689-04ED1F20E11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AFB42A6C-03C0-AA1C-C62E-6B3AED84CFAD}"/>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3A4AC467-F844-0494-082A-A4C5C75C114E}"/>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4743466-095D-86D0-ECB2-B0ED7F2A8526}"/>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2BE72F75-7959-2807-40C0-5F21E37DC179}"/>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4FEF180D-47E8-E492-FB40-BDFC48FF9A91}"/>
                </a:ext>
              </a:extLst>
            </p:cNvPr>
            <p:cNvCxnSpPr>
              <a:cxnSpLocks/>
            </p:cNvCxnSpPr>
            <p:nvPr/>
          </p:nvCxnSpPr>
          <p:spPr>
            <a:xfrm>
              <a:off x="10634509" y="2381719"/>
              <a:ext cx="259782" cy="78315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1847A-EB3F-0BAA-2A56-C4F3C810D348}"/>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FBB206-775E-14C5-7023-2C20316D545F}"/>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3E0D5EB-BD57-2364-E8BA-3DD4C462DC57}"/>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51D9F64-8830-0E81-F709-977ED9281141}"/>
                </a:ext>
              </a:extLst>
            </p:cNvPr>
            <p:cNvCxnSpPr>
              <a:cxnSpLocks/>
            </p:cNvCxnSpPr>
            <p:nvPr/>
          </p:nvCxnSpPr>
          <p:spPr>
            <a:xfrm flipV="1">
              <a:off x="9969302" y="4003871"/>
              <a:ext cx="581713" cy="353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56F1845-AF26-F5BA-19D2-A679867E5E11}"/>
                </a:ext>
              </a:extLst>
            </p:cNvPr>
            <p:cNvCxnSpPr>
              <a:cxnSpLocks/>
            </p:cNvCxnSpPr>
            <p:nvPr/>
          </p:nvCxnSpPr>
          <p:spPr>
            <a:xfrm>
              <a:off x="9969302" y="4379070"/>
              <a:ext cx="427782" cy="72824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1EB851C-3E7D-099B-32B3-7B33F1128871}"/>
                </a:ext>
              </a:extLst>
            </p:cNvPr>
            <p:cNvSpPr/>
            <p:nvPr/>
          </p:nvSpPr>
          <p:spPr>
            <a:xfrm>
              <a:off x="9714895" y="2196423"/>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 name="TextBox 2">
            <a:extLst>
              <a:ext uri="{FF2B5EF4-FFF2-40B4-BE49-F238E27FC236}">
                <a16:creationId xmlns:a16="http://schemas.microsoft.com/office/drawing/2014/main" id="{E018C4CF-F187-52E5-4C9A-627DAB781FB0}"/>
              </a:ext>
            </a:extLst>
          </p:cNvPr>
          <p:cNvSpPr txBox="1"/>
          <p:nvPr/>
        </p:nvSpPr>
        <p:spPr>
          <a:xfrm>
            <a:off x="1398495" y="3520159"/>
            <a:ext cx="6562164"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STRENGTH (WEIGHTED DEGREE) takes into account the weight of each edge</a:t>
            </a:r>
            <a:endParaRPr lang="en-CA" sz="2400" dirty="0">
              <a:solidFill>
                <a:schemeClr val="accent5">
                  <a:lumMod val="20000"/>
                  <a:lumOff val="80000"/>
                </a:schemeClr>
              </a:solidFill>
            </a:endParaRPr>
          </a:p>
        </p:txBody>
      </p:sp>
      <p:sp>
        <p:nvSpPr>
          <p:cNvPr id="28" name="TextBox 27">
            <a:extLst>
              <a:ext uri="{FF2B5EF4-FFF2-40B4-BE49-F238E27FC236}">
                <a16:creationId xmlns:a16="http://schemas.microsoft.com/office/drawing/2014/main" id="{223F19CC-0561-4E40-A782-934CCE60419C}"/>
              </a:ext>
            </a:extLst>
          </p:cNvPr>
          <p:cNvSpPr txBox="1"/>
          <p:nvPr/>
        </p:nvSpPr>
        <p:spPr>
          <a:xfrm>
            <a:off x="1272988" y="4621400"/>
            <a:ext cx="7566211" cy="1015663"/>
          </a:xfrm>
          <a:prstGeom prst="rect">
            <a:avLst/>
          </a:prstGeom>
          <a:noFill/>
        </p:spPr>
        <p:txBody>
          <a:bodyPr wrap="square" rtlCol="0">
            <a:spAutoFit/>
          </a:bodyPr>
          <a:lstStyle/>
          <a:p>
            <a:r>
              <a:rPr lang="en-US" sz="2000" dirty="0"/>
              <a:t>Degree and strength are </a:t>
            </a:r>
            <a:r>
              <a:rPr lang="en-US" sz="2000" b="1" dirty="0"/>
              <a:t>LOCAL</a:t>
            </a:r>
            <a:r>
              <a:rPr lang="en-US" sz="2000" dirty="0"/>
              <a:t> measures of centrality that take into account only immediate </a:t>
            </a:r>
            <a:r>
              <a:rPr lang="en-US" sz="2000" dirty="0" err="1"/>
              <a:t>neighbours</a:t>
            </a:r>
            <a:endParaRPr lang="en-US" sz="2000" i="1" dirty="0"/>
          </a:p>
          <a:p>
            <a:endParaRPr lang="en-US" sz="2000" b="1" dirty="0"/>
          </a:p>
        </p:txBody>
      </p:sp>
      <p:sp>
        <p:nvSpPr>
          <p:cNvPr id="29" name="TextBox 28">
            <a:extLst>
              <a:ext uri="{FF2B5EF4-FFF2-40B4-BE49-F238E27FC236}">
                <a16:creationId xmlns:a16="http://schemas.microsoft.com/office/drawing/2014/main" id="{D137F0B9-9A12-E619-4C56-261476461F26}"/>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30842015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4" name="TextBox 3">
            <a:extLst>
              <a:ext uri="{FF2B5EF4-FFF2-40B4-BE49-F238E27FC236}">
                <a16:creationId xmlns:a16="http://schemas.microsoft.com/office/drawing/2014/main" id="{B3076EF0-4785-71A9-7EBD-974C71E74011}"/>
              </a:ext>
            </a:extLst>
          </p:cNvPr>
          <p:cNvSpPr txBox="1"/>
          <p:nvPr/>
        </p:nvSpPr>
        <p:spPr>
          <a:xfrm>
            <a:off x="1398495" y="2801129"/>
            <a:ext cx="6562164" cy="461665"/>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DEGREE is the number of connections a node has</a:t>
            </a:r>
            <a:endParaRPr lang="en-CA" sz="2400" dirty="0">
              <a:solidFill>
                <a:schemeClr val="accent5">
                  <a:lumMod val="20000"/>
                  <a:lumOff val="80000"/>
                </a:schemeClr>
              </a:solidFill>
            </a:endParaRPr>
          </a:p>
        </p:txBody>
      </p:sp>
      <p:grpSp>
        <p:nvGrpSpPr>
          <p:cNvPr id="5" name="Group 4">
            <a:extLst>
              <a:ext uri="{FF2B5EF4-FFF2-40B4-BE49-F238E27FC236}">
                <a16:creationId xmlns:a16="http://schemas.microsoft.com/office/drawing/2014/main" id="{D04E7D56-D7DC-D986-D9A1-470B7DA521F1}"/>
              </a:ext>
            </a:extLst>
          </p:cNvPr>
          <p:cNvGrpSpPr/>
          <p:nvPr/>
        </p:nvGrpSpPr>
        <p:grpSpPr>
          <a:xfrm>
            <a:off x="9345398" y="2850435"/>
            <a:ext cx="1788767" cy="3083888"/>
            <a:chOff x="9277162" y="2195066"/>
            <a:chExt cx="1788767" cy="3083888"/>
          </a:xfrm>
        </p:grpSpPr>
        <p:cxnSp>
          <p:nvCxnSpPr>
            <p:cNvPr id="17" name="Straight Connector 16">
              <a:extLst>
                <a:ext uri="{FF2B5EF4-FFF2-40B4-BE49-F238E27FC236}">
                  <a16:creationId xmlns:a16="http://schemas.microsoft.com/office/drawing/2014/main" id="{02E07F9A-9D02-E83C-086A-8916DD6F2077}"/>
                </a:ext>
              </a:extLst>
            </p:cNvPr>
            <p:cNvCxnSpPr>
              <a:cxnSpLocks/>
            </p:cNvCxnSpPr>
            <p:nvPr/>
          </p:nvCxnSpPr>
          <p:spPr>
            <a:xfrm flipV="1">
              <a:off x="9448800" y="2381719"/>
              <a:ext cx="437733" cy="7648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D577FF-E53D-A7A7-704C-3DE3FDA5216D}"/>
                </a:ext>
              </a:extLst>
            </p:cNvPr>
            <p:cNvCxnSpPr>
              <a:cxnSpLocks/>
            </p:cNvCxnSpPr>
            <p:nvPr/>
          </p:nvCxnSpPr>
          <p:spPr>
            <a:xfrm flipH="1" flipV="1">
              <a:off x="9886533" y="2366705"/>
              <a:ext cx="747976" cy="102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6C4C05B-3880-ADA0-1BF3-E19C2277DE8E}"/>
                </a:ext>
              </a:extLst>
            </p:cNvPr>
            <p:cNvCxnSpPr>
              <a:cxnSpLocks/>
            </p:cNvCxnSpPr>
            <p:nvPr/>
          </p:nvCxnSpPr>
          <p:spPr>
            <a:xfrm>
              <a:off x="9886533" y="2366704"/>
              <a:ext cx="664482" cy="163716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A87E0-5842-3415-4E45-A441EDE25105}"/>
                </a:ext>
              </a:extLst>
            </p:cNvPr>
            <p:cNvCxnSpPr>
              <a:cxnSpLocks/>
            </p:cNvCxnSpPr>
            <p:nvPr/>
          </p:nvCxnSpPr>
          <p:spPr>
            <a:xfrm>
              <a:off x="9448800" y="3146585"/>
              <a:ext cx="136262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98EA261-0A59-4630-7B1C-1C976E069371}"/>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val 9">
              <a:extLst>
                <a:ext uri="{FF2B5EF4-FFF2-40B4-BE49-F238E27FC236}">
                  <a16:creationId xmlns:a16="http://schemas.microsoft.com/office/drawing/2014/main" id="{39FE2637-7293-1957-87D6-E509BD9D103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3CF9B874-540A-20AD-9689-04ED1F20E11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AFB42A6C-03C0-AA1C-C62E-6B3AED84CFAD}"/>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3A4AC467-F844-0494-082A-A4C5C75C114E}"/>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4743466-095D-86D0-ECB2-B0ED7F2A8526}"/>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2BE72F75-7959-2807-40C0-5F21E37DC179}"/>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4FEF180D-47E8-E492-FB40-BDFC48FF9A91}"/>
                </a:ext>
              </a:extLst>
            </p:cNvPr>
            <p:cNvCxnSpPr>
              <a:cxnSpLocks/>
            </p:cNvCxnSpPr>
            <p:nvPr/>
          </p:nvCxnSpPr>
          <p:spPr>
            <a:xfrm>
              <a:off x="10634509" y="2381719"/>
              <a:ext cx="259782" cy="78315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1847A-EB3F-0BAA-2A56-C4F3C810D348}"/>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FBB206-775E-14C5-7023-2C20316D545F}"/>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3E0D5EB-BD57-2364-E8BA-3DD4C462DC57}"/>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51D9F64-8830-0E81-F709-977ED9281141}"/>
                </a:ext>
              </a:extLst>
            </p:cNvPr>
            <p:cNvCxnSpPr>
              <a:cxnSpLocks/>
            </p:cNvCxnSpPr>
            <p:nvPr/>
          </p:nvCxnSpPr>
          <p:spPr>
            <a:xfrm flipV="1">
              <a:off x="9969302" y="4003871"/>
              <a:ext cx="581713" cy="353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56F1845-AF26-F5BA-19D2-A679867E5E11}"/>
                </a:ext>
              </a:extLst>
            </p:cNvPr>
            <p:cNvCxnSpPr>
              <a:cxnSpLocks/>
            </p:cNvCxnSpPr>
            <p:nvPr/>
          </p:nvCxnSpPr>
          <p:spPr>
            <a:xfrm>
              <a:off x="9969302" y="4379070"/>
              <a:ext cx="427782" cy="72824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1EB851C-3E7D-099B-32B3-7B33F1128871}"/>
                </a:ext>
              </a:extLst>
            </p:cNvPr>
            <p:cNvSpPr/>
            <p:nvPr/>
          </p:nvSpPr>
          <p:spPr>
            <a:xfrm>
              <a:off x="9714895" y="2196423"/>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 name="TextBox 2">
            <a:extLst>
              <a:ext uri="{FF2B5EF4-FFF2-40B4-BE49-F238E27FC236}">
                <a16:creationId xmlns:a16="http://schemas.microsoft.com/office/drawing/2014/main" id="{E018C4CF-F187-52E5-4C9A-627DAB781FB0}"/>
              </a:ext>
            </a:extLst>
          </p:cNvPr>
          <p:cNvSpPr txBox="1"/>
          <p:nvPr/>
        </p:nvSpPr>
        <p:spPr>
          <a:xfrm>
            <a:off x="1398495" y="3520159"/>
            <a:ext cx="6562164"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STRENGTH (WEIGHTED DEGREE) takes into account the weight of each edge</a:t>
            </a:r>
            <a:endParaRPr lang="en-CA" sz="2400" dirty="0">
              <a:solidFill>
                <a:schemeClr val="accent5">
                  <a:lumMod val="20000"/>
                  <a:lumOff val="80000"/>
                </a:schemeClr>
              </a:solidFill>
            </a:endParaRPr>
          </a:p>
        </p:txBody>
      </p:sp>
      <p:sp>
        <p:nvSpPr>
          <p:cNvPr id="28" name="TextBox 27">
            <a:extLst>
              <a:ext uri="{FF2B5EF4-FFF2-40B4-BE49-F238E27FC236}">
                <a16:creationId xmlns:a16="http://schemas.microsoft.com/office/drawing/2014/main" id="{223F19CC-0561-4E40-A782-934CCE60419C}"/>
              </a:ext>
            </a:extLst>
          </p:cNvPr>
          <p:cNvSpPr txBox="1"/>
          <p:nvPr/>
        </p:nvSpPr>
        <p:spPr>
          <a:xfrm>
            <a:off x="1272988" y="4621400"/>
            <a:ext cx="7566211" cy="1631216"/>
          </a:xfrm>
          <a:prstGeom prst="rect">
            <a:avLst/>
          </a:prstGeom>
          <a:noFill/>
        </p:spPr>
        <p:txBody>
          <a:bodyPr wrap="square" rtlCol="0">
            <a:spAutoFit/>
          </a:bodyPr>
          <a:lstStyle/>
          <a:p>
            <a:r>
              <a:rPr lang="en-US" sz="2000" dirty="0"/>
              <a:t>Degree and strength are </a:t>
            </a:r>
            <a:r>
              <a:rPr lang="en-US" sz="2000" b="1" dirty="0"/>
              <a:t>LOCAL</a:t>
            </a:r>
            <a:r>
              <a:rPr lang="en-US" sz="2000" dirty="0"/>
              <a:t> measures of centrality that take into account only immediate </a:t>
            </a:r>
            <a:r>
              <a:rPr lang="en-US" sz="2000" dirty="0" err="1"/>
              <a:t>neighbours</a:t>
            </a:r>
            <a:endParaRPr lang="en-US" sz="2000" i="1" dirty="0"/>
          </a:p>
          <a:p>
            <a:endParaRPr lang="en-US" sz="2000" b="1" dirty="0"/>
          </a:p>
          <a:p>
            <a:r>
              <a:rPr lang="en-US" sz="2000" dirty="0"/>
              <a:t>In directed networks you can calculate separate “in-” and “out-” versions of the measures</a:t>
            </a:r>
          </a:p>
        </p:txBody>
      </p:sp>
      <p:sp>
        <p:nvSpPr>
          <p:cNvPr id="29" name="TextBox 28">
            <a:extLst>
              <a:ext uri="{FF2B5EF4-FFF2-40B4-BE49-F238E27FC236}">
                <a16:creationId xmlns:a16="http://schemas.microsoft.com/office/drawing/2014/main" id="{D137F0B9-9A12-E619-4C56-261476461F26}"/>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1514560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4" name="TextBox 3">
            <a:extLst>
              <a:ext uri="{FF2B5EF4-FFF2-40B4-BE49-F238E27FC236}">
                <a16:creationId xmlns:a16="http://schemas.microsoft.com/office/drawing/2014/main" id="{B3076EF0-4785-71A9-7EBD-974C71E74011}"/>
              </a:ext>
            </a:extLst>
          </p:cNvPr>
          <p:cNvSpPr txBox="1"/>
          <p:nvPr/>
        </p:nvSpPr>
        <p:spPr>
          <a:xfrm>
            <a:off x="1398495" y="2801129"/>
            <a:ext cx="6562164" cy="461665"/>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EIGENVECTOR CENTRALITY</a:t>
            </a:r>
            <a:endParaRPr lang="en-CA" sz="2400" dirty="0">
              <a:solidFill>
                <a:schemeClr val="accent5">
                  <a:lumMod val="20000"/>
                  <a:lumOff val="80000"/>
                </a:schemeClr>
              </a:solidFill>
            </a:endParaRPr>
          </a:p>
        </p:txBody>
      </p:sp>
      <p:grpSp>
        <p:nvGrpSpPr>
          <p:cNvPr id="5" name="Group 4">
            <a:extLst>
              <a:ext uri="{FF2B5EF4-FFF2-40B4-BE49-F238E27FC236}">
                <a16:creationId xmlns:a16="http://schemas.microsoft.com/office/drawing/2014/main" id="{D04E7D56-D7DC-D986-D9A1-470B7DA521F1}"/>
              </a:ext>
            </a:extLst>
          </p:cNvPr>
          <p:cNvGrpSpPr/>
          <p:nvPr/>
        </p:nvGrpSpPr>
        <p:grpSpPr>
          <a:xfrm>
            <a:off x="9345398" y="2850435"/>
            <a:ext cx="1788767" cy="3083888"/>
            <a:chOff x="9277162" y="2195066"/>
            <a:chExt cx="1788767" cy="3083888"/>
          </a:xfrm>
        </p:grpSpPr>
        <p:cxnSp>
          <p:nvCxnSpPr>
            <p:cNvPr id="17" name="Straight Connector 16">
              <a:extLst>
                <a:ext uri="{FF2B5EF4-FFF2-40B4-BE49-F238E27FC236}">
                  <a16:creationId xmlns:a16="http://schemas.microsoft.com/office/drawing/2014/main" id="{02E07F9A-9D02-E83C-086A-8916DD6F2077}"/>
                </a:ext>
              </a:extLst>
            </p:cNvPr>
            <p:cNvCxnSpPr>
              <a:cxnSpLocks/>
            </p:cNvCxnSpPr>
            <p:nvPr/>
          </p:nvCxnSpPr>
          <p:spPr>
            <a:xfrm flipV="1">
              <a:off x="9448800" y="2381719"/>
              <a:ext cx="437733" cy="76486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D577FF-E53D-A7A7-704C-3DE3FDA5216D}"/>
                </a:ext>
              </a:extLst>
            </p:cNvPr>
            <p:cNvCxnSpPr>
              <a:cxnSpLocks/>
            </p:cNvCxnSpPr>
            <p:nvPr/>
          </p:nvCxnSpPr>
          <p:spPr>
            <a:xfrm flipH="1" flipV="1">
              <a:off x="9886533" y="2366705"/>
              <a:ext cx="747976" cy="102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6C4C05B-3880-ADA0-1BF3-E19C2277DE8E}"/>
                </a:ext>
              </a:extLst>
            </p:cNvPr>
            <p:cNvCxnSpPr>
              <a:cxnSpLocks/>
            </p:cNvCxnSpPr>
            <p:nvPr/>
          </p:nvCxnSpPr>
          <p:spPr>
            <a:xfrm>
              <a:off x="9886533" y="2366704"/>
              <a:ext cx="664482" cy="163716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A87E0-5842-3415-4E45-A441EDE25105}"/>
                </a:ext>
              </a:extLst>
            </p:cNvPr>
            <p:cNvCxnSpPr>
              <a:cxnSpLocks/>
            </p:cNvCxnSpPr>
            <p:nvPr/>
          </p:nvCxnSpPr>
          <p:spPr>
            <a:xfrm>
              <a:off x="9448800" y="3146585"/>
              <a:ext cx="136262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FEF180D-47E8-E492-FB40-BDFC48FF9A91}"/>
                </a:ext>
              </a:extLst>
            </p:cNvPr>
            <p:cNvCxnSpPr>
              <a:cxnSpLocks/>
            </p:cNvCxnSpPr>
            <p:nvPr/>
          </p:nvCxnSpPr>
          <p:spPr>
            <a:xfrm>
              <a:off x="10634509" y="2381719"/>
              <a:ext cx="259782" cy="78315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1847A-EB3F-0BAA-2A56-C4F3C810D348}"/>
                </a:ext>
              </a:extLst>
            </p:cNvPr>
            <p:cNvCxnSpPr>
              <a:cxnSpLocks/>
            </p:cNvCxnSpPr>
            <p:nvPr/>
          </p:nvCxnSpPr>
          <p:spPr>
            <a:xfrm>
              <a:off x="9448800" y="3164870"/>
              <a:ext cx="491968" cy="60688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FBB206-775E-14C5-7023-2C20316D545F}"/>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3E0D5EB-BD57-2364-E8BA-3DD4C462DC57}"/>
                </a:ext>
              </a:extLst>
            </p:cNvPr>
            <p:cNvCxnSpPr>
              <a:cxnSpLocks/>
            </p:cNvCxnSpPr>
            <p:nvPr/>
          </p:nvCxnSpPr>
          <p:spPr>
            <a:xfrm>
              <a:off x="9958475" y="3748551"/>
              <a:ext cx="592540" cy="25532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51D9F64-8830-0E81-F709-977ED9281141}"/>
                </a:ext>
              </a:extLst>
            </p:cNvPr>
            <p:cNvCxnSpPr>
              <a:cxnSpLocks/>
            </p:cNvCxnSpPr>
            <p:nvPr/>
          </p:nvCxnSpPr>
          <p:spPr>
            <a:xfrm flipV="1">
              <a:off x="9969302" y="4003871"/>
              <a:ext cx="581713" cy="35304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56F1845-AF26-F5BA-19D2-A679867E5E11}"/>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1EB851C-3E7D-099B-32B3-7B33F1128871}"/>
                </a:ext>
              </a:extLst>
            </p:cNvPr>
            <p:cNvSpPr/>
            <p:nvPr/>
          </p:nvSpPr>
          <p:spPr>
            <a:xfrm>
              <a:off x="9714895" y="2196423"/>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val 8">
              <a:extLst>
                <a:ext uri="{FF2B5EF4-FFF2-40B4-BE49-F238E27FC236}">
                  <a16:creationId xmlns:a16="http://schemas.microsoft.com/office/drawing/2014/main" id="{498EA261-0A59-4630-7B1C-1C976E069371}"/>
                </a:ext>
              </a:extLst>
            </p:cNvPr>
            <p:cNvSpPr/>
            <p:nvPr/>
          </p:nvSpPr>
          <p:spPr>
            <a:xfrm>
              <a:off x="9277162" y="2977266"/>
              <a:ext cx="343276" cy="34327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AFB42A6C-03C0-AA1C-C62E-6B3AED84CFAD}"/>
                </a:ext>
              </a:extLst>
            </p:cNvPr>
            <p:cNvSpPr/>
            <p:nvPr/>
          </p:nvSpPr>
          <p:spPr>
            <a:xfrm>
              <a:off x="10379377" y="3832233"/>
              <a:ext cx="343276" cy="34327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2BE72F75-7959-2807-40C0-5F21E37DC179}"/>
                </a:ext>
              </a:extLst>
            </p:cNvPr>
            <p:cNvSpPr/>
            <p:nvPr/>
          </p:nvSpPr>
          <p:spPr>
            <a:xfrm>
              <a:off x="10462871" y="2195066"/>
              <a:ext cx="343276" cy="34327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val 9">
              <a:extLst>
                <a:ext uri="{FF2B5EF4-FFF2-40B4-BE49-F238E27FC236}">
                  <a16:creationId xmlns:a16="http://schemas.microsoft.com/office/drawing/2014/main" id="{39FE2637-7293-1957-87D6-E509BD9D103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3CF9B874-540A-20AD-9689-04ED1F20E11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3A4AC467-F844-0494-082A-A4C5C75C114E}"/>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4743466-095D-86D0-ECB2-B0ED7F2A8526}"/>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7" name="TextBox 26">
            <a:extLst>
              <a:ext uri="{FF2B5EF4-FFF2-40B4-BE49-F238E27FC236}">
                <a16:creationId xmlns:a16="http://schemas.microsoft.com/office/drawing/2014/main" id="{BB906313-B0DA-81ED-D786-BD870FE0BF5C}"/>
              </a:ext>
            </a:extLst>
          </p:cNvPr>
          <p:cNvSpPr txBox="1"/>
          <p:nvPr/>
        </p:nvSpPr>
        <p:spPr>
          <a:xfrm>
            <a:off x="1398495" y="3632635"/>
            <a:ext cx="6562164" cy="369332"/>
          </a:xfrm>
          <a:prstGeom prst="rect">
            <a:avLst/>
          </a:prstGeom>
          <a:solidFill>
            <a:schemeClr val="bg1">
              <a:lumMod val="95000"/>
            </a:schemeClr>
          </a:solidFill>
        </p:spPr>
        <p:txBody>
          <a:bodyPr wrap="square" rtlCol="0">
            <a:spAutoFit/>
          </a:bodyPr>
          <a:lstStyle/>
          <a:p>
            <a:r>
              <a:rPr lang="en-US" b="1" dirty="0">
                <a:latin typeface="Courier New" panose="02070309020205020404" pitchFamily="49" charset="0"/>
                <a:cs typeface="Courier New" panose="02070309020205020404" pitchFamily="49" charset="0"/>
              </a:rPr>
              <a:t>igraph::</a:t>
            </a:r>
            <a:r>
              <a:rPr lang="en-US" b="1" dirty="0" err="1">
                <a:latin typeface="Courier New" panose="02070309020205020404" pitchFamily="49" charset="0"/>
                <a:cs typeface="Courier New" panose="02070309020205020404" pitchFamily="49" charset="0"/>
              </a:rPr>
              <a:t>eigen_centrality</a:t>
            </a:r>
            <a:r>
              <a:rPr lang="en-US" b="1" dirty="0">
                <a:latin typeface="Courier New" panose="02070309020205020404" pitchFamily="49" charset="0"/>
                <a:cs typeface="Courier New" panose="02070309020205020404" pitchFamily="49" charset="0"/>
              </a:rPr>
              <a:t>(network)</a:t>
            </a:r>
            <a:endParaRPr lang="en-CA" b="1" dirty="0">
              <a:latin typeface="Courier New" panose="02070309020205020404" pitchFamily="49" charset="0"/>
              <a:cs typeface="Courier New" panose="02070309020205020404" pitchFamily="49" charset="0"/>
            </a:endParaRPr>
          </a:p>
        </p:txBody>
      </p:sp>
      <p:sp>
        <p:nvSpPr>
          <p:cNvPr id="29" name="TextBox 28">
            <a:extLst>
              <a:ext uri="{FF2B5EF4-FFF2-40B4-BE49-F238E27FC236}">
                <a16:creationId xmlns:a16="http://schemas.microsoft.com/office/drawing/2014/main" id="{36569BC6-B4E3-04F6-95AF-7627E3CF926F}"/>
              </a:ext>
            </a:extLst>
          </p:cNvPr>
          <p:cNvSpPr txBox="1"/>
          <p:nvPr/>
        </p:nvSpPr>
        <p:spPr>
          <a:xfrm>
            <a:off x="1272988" y="4323046"/>
            <a:ext cx="7566211" cy="707886"/>
          </a:xfrm>
          <a:prstGeom prst="rect">
            <a:avLst/>
          </a:prstGeom>
          <a:noFill/>
        </p:spPr>
        <p:txBody>
          <a:bodyPr wrap="square" rtlCol="0">
            <a:spAutoFit/>
          </a:bodyPr>
          <a:lstStyle/>
          <a:p>
            <a:r>
              <a:rPr lang="en-US" sz="2000" dirty="0"/>
              <a:t>Eigenvector centrality take into account a wider </a:t>
            </a:r>
            <a:r>
              <a:rPr lang="en-US" sz="2000" dirty="0" err="1"/>
              <a:t>neighbourhood</a:t>
            </a:r>
            <a:r>
              <a:rPr lang="en-US" sz="2000" dirty="0"/>
              <a:t> when measuring an individual’s centrality</a:t>
            </a:r>
          </a:p>
        </p:txBody>
      </p:sp>
      <p:sp>
        <p:nvSpPr>
          <p:cNvPr id="30" name="TextBox 29">
            <a:extLst>
              <a:ext uri="{FF2B5EF4-FFF2-40B4-BE49-F238E27FC236}">
                <a16:creationId xmlns:a16="http://schemas.microsoft.com/office/drawing/2014/main" id="{9F510F71-56A9-5F6F-912D-F34BEC6861E8}"/>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41379579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4" name="TextBox 3">
            <a:extLst>
              <a:ext uri="{FF2B5EF4-FFF2-40B4-BE49-F238E27FC236}">
                <a16:creationId xmlns:a16="http://schemas.microsoft.com/office/drawing/2014/main" id="{B3076EF0-4785-71A9-7EBD-974C71E74011}"/>
              </a:ext>
            </a:extLst>
          </p:cNvPr>
          <p:cNvSpPr txBox="1"/>
          <p:nvPr/>
        </p:nvSpPr>
        <p:spPr>
          <a:xfrm>
            <a:off x="1398495" y="2801129"/>
            <a:ext cx="6562164" cy="461665"/>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EIGENVECTOR CENTRALITY</a:t>
            </a:r>
            <a:endParaRPr lang="en-CA" sz="2400" dirty="0">
              <a:solidFill>
                <a:schemeClr val="accent5">
                  <a:lumMod val="20000"/>
                  <a:lumOff val="80000"/>
                </a:schemeClr>
              </a:solidFill>
            </a:endParaRPr>
          </a:p>
        </p:txBody>
      </p:sp>
      <p:grpSp>
        <p:nvGrpSpPr>
          <p:cNvPr id="5" name="Group 4">
            <a:extLst>
              <a:ext uri="{FF2B5EF4-FFF2-40B4-BE49-F238E27FC236}">
                <a16:creationId xmlns:a16="http://schemas.microsoft.com/office/drawing/2014/main" id="{D04E7D56-D7DC-D986-D9A1-470B7DA521F1}"/>
              </a:ext>
            </a:extLst>
          </p:cNvPr>
          <p:cNvGrpSpPr/>
          <p:nvPr/>
        </p:nvGrpSpPr>
        <p:grpSpPr>
          <a:xfrm>
            <a:off x="9345398" y="2850435"/>
            <a:ext cx="1788767" cy="3083888"/>
            <a:chOff x="9277162" y="2195066"/>
            <a:chExt cx="1788767" cy="3083888"/>
          </a:xfrm>
        </p:grpSpPr>
        <p:cxnSp>
          <p:nvCxnSpPr>
            <p:cNvPr id="17" name="Straight Connector 16">
              <a:extLst>
                <a:ext uri="{FF2B5EF4-FFF2-40B4-BE49-F238E27FC236}">
                  <a16:creationId xmlns:a16="http://schemas.microsoft.com/office/drawing/2014/main" id="{02E07F9A-9D02-E83C-086A-8916DD6F2077}"/>
                </a:ext>
              </a:extLst>
            </p:cNvPr>
            <p:cNvCxnSpPr>
              <a:cxnSpLocks/>
            </p:cNvCxnSpPr>
            <p:nvPr/>
          </p:nvCxnSpPr>
          <p:spPr>
            <a:xfrm flipV="1">
              <a:off x="9448800" y="2381719"/>
              <a:ext cx="437733" cy="76486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D577FF-E53D-A7A7-704C-3DE3FDA5216D}"/>
                </a:ext>
              </a:extLst>
            </p:cNvPr>
            <p:cNvCxnSpPr>
              <a:cxnSpLocks/>
            </p:cNvCxnSpPr>
            <p:nvPr/>
          </p:nvCxnSpPr>
          <p:spPr>
            <a:xfrm flipH="1" flipV="1">
              <a:off x="9886533" y="2366705"/>
              <a:ext cx="747976" cy="102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6C4C05B-3880-ADA0-1BF3-E19C2277DE8E}"/>
                </a:ext>
              </a:extLst>
            </p:cNvPr>
            <p:cNvCxnSpPr>
              <a:cxnSpLocks/>
            </p:cNvCxnSpPr>
            <p:nvPr/>
          </p:nvCxnSpPr>
          <p:spPr>
            <a:xfrm>
              <a:off x="9886533" y="2366704"/>
              <a:ext cx="664482" cy="163716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A87E0-5842-3415-4E45-A441EDE25105}"/>
                </a:ext>
              </a:extLst>
            </p:cNvPr>
            <p:cNvCxnSpPr>
              <a:cxnSpLocks/>
            </p:cNvCxnSpPr>
            <p:nvPr/>
          </p:nvCxnSpPr>
          <p:spPr>
            <a:xfrm>
              <a:off x="9448800" y="3146585"/>
              <a:ext cx="136262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FEF180D-47E8-E492-FB40-BDFC48FF9A91}"/>
                </a:ext>
              </a:extLst>
            </p:cNvPr>
            <p:cNvCxnSpPr>
              <a:cxnSpLocks/>
            </p:cNvCxnSpPr>
            <p:nvPr/>
          </p:nvCxnSpPr>
          <p:spPr>
            <a:xfrm>
              <a:off x="10634509" y="2381719"/>
              <a:ext cx="259782" cy="78315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1847A-EB3F-0BAA-2A56-C4F3C810D348}"/>
                </a:ext>
              </a:extLst>
            </p:cNvPr>
            <p:cNvCxnSpPr>
              <a:cxnSpLocks/>
            </p:cNvCxnSpPr>
            <p:nvPr/>
          </p:nvCxnSpPr>
          <p:spPr>
            <a:xfrm>
              <a:off x="9448800" y="3164870"/>
              <a:ext cx="491968" cy="60688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FBB206-775E-14C5-7023-2C20316D545F}"/>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3E0D5EB-BD57-2364-E8BA-3DD4C462DC57}"/>
                </a:ext>
              </a:extLst>
            </p:cNvPr>
            <p:cNvCxnSpPr>
              <a:cxnSpLocks/>
            </p:cNvCxnSpPr>
            <p:nvPr/>
          </p:nvCxnSpPr>
          <p:spPr>
            <a:xfrm>
              <a:off x="9958475" y="3748551"/>
              <a:ext cx="592540" cy="25532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51D9F64-8830-0E81-F709-977ED9281141}"/>
                </a:ext>
              </a:extLst>
            </p:cNvPr>
            <p:cNvCxnSpPr>
              <a:cxnSpLocks/>
            </p:cNvCxnSpPr>
            <p:nvPr/>
          </p:nvCxnSpPr>
          <p:spPr>
            <a:xfrm flipV="1">
              <a:off x="9969302" y="4003871"/>
              <a:ext cx="581713" cy="35304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56F1845-AF26-F5BA-19D2-A679867E5E11}"/>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1EB851C-3E7D-099B-32B3-7B33F1128871}"/>
                </a:ext>
              </a:extLst>
            </p:cNvPr>
            <p:cNvSpPr/>
            <p:nvPr/>
          </p:nvSpPr>
          <p:spPr>
            <a:xfrm>
              <a:off x="9714895" y="2196423"/>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Oval 8">
              <a:extLst>
                <a:ext uri="{FF2B5EF4-FFF2-40B4-BE49-F238E27FC236}">
                  <a16:creationId xmlns:a16="http://schemas.microsoft.com/office/drawing/2014/main" id="{498EA261-0A59-4630-7B1C-1C976E069371}"/>
                </a:ext>
              </a:extLst>
            </p:cNvPr>
            <p:cNvSpPr/>
            <p:nvPr/>
          </p:nvSpPr>
          <p:spPr>
            <a:xfrm>
              <a:off x="9277162" y="2977266"/>
              <a:ext cx="343276" cy="34327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AFB42A6C-03C0-AA1C-C62E-6B3AED84CFAD}"/>
                </a:ext>
              </a:extLst>
            </p:cNvPr>
            <p:cNvSpPr/>
            <p:nvPr/>
          </p:nvSpPr>
          <p:spPr>
            <a:xfrm>
              <a:off x="10379377" y="3832233"/>
              <a:ext cx="343276" cy="34327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2BE72F75-7959-2807-40C0-5F21E37DC179}"/>
                </a:ext>
              </a:extLst>
            </p:cNvPr>
            <p:cNvSpPr/>
            <p:nvPr/>
          </p:nvSpPr>
          <p:spPr>
            <a:xfrm>
              <a:off x="10462871" y="2195066"/>
              <a:ext cx="343276" cy="34327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val 9">
              <a:extLst>
                <a:ext uri="{FF2B5EF4-FFF2-40B4-BE49-F238E27FC236}">
                  <a16:creationId xmlns:a16="http://schemas.microsoft.com/office/drawing/2014/main" id="{39FE2637-7293-1957-87D6-E509BD9D1038}"/>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3CF9B874-540A-20AD-9689-04ED1F20E11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3A4AC467-F844-0494-082A-A4C5C75C114E}"/>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4743466-095D-86D0-ECB2-B0ED7F2A8526}"/>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7" name="TextBox 26">
            <a:extLst>
              <a:ext uri="{FF2B5EF4-FFF2-40B4-BE49-F238E27FC236}">
                <a16:creationId xmlns:a16="http://schemas.microsoft.com/office/drawing/2014/main" id="{BB906313-B0DA-81ED-D786-BD870FE0BF5C}"/>
              </a:ext>
            </a:extLst>
          </p:cNvPr>
          <p:cNvSpPr txBox="1"/>
          <p:nvPr/>
        </p:nvSpPr>
        <p:spPr>
          <a:xfrm>
            <a:off x="1398495" y="3632635"/>
            <a:ext cx="6562164" cy="369332"/>
          </a:xfrm>
          <a:prstGeom prst="rect">
            <a:avLst/>
          </a:prstGeom>
          <a:solidFill>
            <a:schemeClr val="bg1">
              <a:lumMod val="95000"/>
            </a:schemeClr>
          </a:solidFill>
        </p:spPr>
        <p:txBody>
          <a:bodyPr wrap="square" rtlCol="0">
            <a:spAutoFit/>
          </a:bodyPr>
          <a:lstStyle/>
          <a:p>
            <a:r>
              <a:rPr lang="en-US" b="1" dirty="0">
                <a:latin typeface="Courier New" panose="02070309020205020404" pitchFamily="49" charset="0"/>
                <a:cs typeface="Courier New" panose="02070309020205020404" pitchFamily="49" charset="0"/>
              </a:rPr>
              <a:t>igraph::</a:t>
            </a:r>
            <a:r>
              <a:rPr lang="en-US" b="1" dirty="0" err="1">
                <a:latin typeface="Courier New" panose="02070309020205020404" pitchFamily="49" charset="0"/>
                <a:cs typeface="Courier New" panose="02070309020205020404" pitchFamily="49" charset="0"/>
              </a:rPr>
              <a:t>eigen_centrality</a:t>
            </a:r>
            <a:r>
              <a:rPr lang="en-US" b="1" dirty="0">
                <a:latin typeface="Courier New" panose="02070309020205020404" pitchFamily="49" charset="0"/>
                <a:cs typeface="Courier New" panose="02070309020205020404" pitchFamily="49" charset="0"/>
              </a:rPr>
              <a:t>(network)</a:t>
            </a:r>
            <a:endParaRPr lang="en-CA"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143723E7-27E3-5E06-14F4-C497C596D117}"/>
              </a:ext>
            </a:extLst>
          </p:cNvPr>
          <p:cNvSpPr txBox="1"/>
          <p:nvPr/>
        </p:nvSpPr>
        <p:spPr>
          <a:xfrm>
            <a:off x="1398495" y="6057174"/>
            <a:ext cx="6562164" cy="369332"/>
          </a:xfrm>
          <a:prstGeom prst="rect">
            <a:avLst/>
          </a:prstGeom>
          <a:solidFill>
            <a:schemeClr val="bg1">
              <a:lumMod val="95000"/>
            </a:schemeClr>
          </a:solidFill>
        </p:spPr>
        <p:txBody>
          <a:bodyPr wrap="square" rtlCol="0">
            <a:spAutoFit/>
          </a:bodyPr>
          <a:lstStyle/>
          <a:p>
            <a:r>
              <a:rPr lang="en-US" b="1" dirty="0">
                <a:latin typeface="Courier New" panose="02070309020205020404" pitchFamily="49" charset="0"/>
                <a:cs typeface="Courier New" panose="02070309020205020404" pitchFamily="49" charset="0"/>
              </a:rPr>
              <a:t>igraph::</a:t>
            </a:r>
            <a:r>
              <a:rPr lang="en-US" b="1" dirty="0" err="1">
                <a:latin typeface="Courier New" panose="02070309020205020404" pitchFamily="49" charset="0"/>
                <a:cs typeface="Courier New" panose="02070309020205020404" pitchFamily="49" charset="0"/>
              </a:rPr>
              <a:t>page_rank</a:t>
            </a:r>
            <a:r>
              <a:rPr lang="en-US" b="1" dirty="0">
                <a:latin typeface="Courier New" panose="02070309020205020404" pitchFamily="49" charset="0"/>
                <a:cs typeface="Courier New" panose="02070309020205020404" pitchFamily="49" charset="0"/>
              </a:rPr>
              <a:t>(network)</a:t>
            </a:r>
            <a:endParaRPr lang="en-CA" b="1" dirty="0">
              <a:latin typeface="Courier New" panose="02070309020205020404" pitchFamily="49" charset="0"/>
              <a:cs typeface="Courier New" panose="02070309020205020404" pitchFamily="49" charset="0"/>
            </a:endParaRPr>
          </a:p>
        </p:txBody>
      </p:sp>
      <p:sp>
        <p:nvSpPr>
          <p:cNvPr id="29" name="TextBox 28">
            <a:extLst>
              <a:ext uri="{FF2B5EF4-FFF2-40B4-BE49-F238E27FC236}">
                <a16:creationId xmlns:a16="http://schemas.microsoft.com/office/drawing/2014/main" id="{36569BC6-B4E3-04F6-95AF-7627E3CF926F}"/>
              </a:ext>
            </a:extLst>
          </p:cNvPr>
          <p:cNvSpPr txBox="1"/>
          <p:nvPr/>
        </p:nvSpPr>
        <p:spPr>
          <a:xfrm>
            <a:off x="1272988" y="4323046"/>
            <a:ext cx="7566211" cy="1631216"/>
          </a:xfrm>
          <a:prstGeom prst="rect">
            <a:avLst/>
          </a:prstGeom>
          <a:noFill/>
        </p:spPr>
        <p:txBody>
          <a:bodyPr wrap="square" rtlCol="0">
            <a:spAutoFit/>
          </a:bodyPr>
          <a:lstStyle/>
          <a:p>
            <a:r>
              <a:rPr lang="en-US" sz="2000" dirty="0"/>
              <a:t>Eigenvector centrality take into account a wider </a:t>
            </a:r>
            <a:r>
              <a:rPr lang="en-US" sz="2000" dirty="0" err="1"/>
              <a:t>neighbourhood</a:t>
            </a:r>
            <a:r>
              <a:rPr lang="en-US" sz="2000" dirty="0"/>
              <a:t> when measuring an individual’s centrality</a:t>
            </a:r>
          </a:p>
          <a:p>
            <a:endParaRPr lang="en-US" sz="2000" dirty="0"/>
          </a:p>
          <a:p>
            <a:r>
              <a:rPr lang="en-US" sz="2000" dirty="0"/>
              <a:t>There are additional, slightly modified variations of eigenvector centrality</a:t>
            </a:r>
          </a:p>
        </p:txBody>
      </p:sp>
      <p:sp>
        <p:nvSpPr>
          <p:cNvPr id="26" name="TextBox 25">
            <a:extLst>
              <a:ext uri="{FF2B5EF4-FFF2-40B4-BE49-F238E27FC236}">
                <a16:creationId xmlns:a16="http://schemas.microsoft.com/office/drawing/2014/main" id="{E6FDBF7D-8942-DF93-2A98-3738B0961B16}"/>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11018670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3" name="TextBox 2">
            <a:extLst>
              <a:ext uri="{FF2B5EF4-FFF2-40B4-BE49-F238E27FC236}">
                <a16:creationId xmlns:a16="http://schemas.microsoft.com/office/drawing/2014/main" id="{9CCC1B41-FCBE-A6CC-6895-A43659176782}"/>
              </a:ext>
            </a:extLst>
          </p:cNvPr>
          <p:cNvSpPr txBox="1"/>
          <p:nvPr/>
        </p:nvSpPr>
        <p:spPr>
          <a:xfrm>
            <a:off x="1398494" y="2801129"/>
            <a:ext cx="7216587"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BETWEENNESS measures how many shortest paths an individual lies on</a:t>
            </a:r>
            <a:endParaRPr lang="en-CA" sz="2400" dirty="0">
              <a:solidFill>
                <a:schemeClr val="accent5">
                  <a:lumMod val="20000"/>
                  <a:lumOff val="80000"/>
                </a:schemeClr>
              </a:solidFill>
            </a:endParaRPr>
          </a:p>
        </p:txBody>
      </p:sp>
      <p:sp>
        <p:nvSpPr>
          <p:cNvPr id="4" name="TextBox 3">
            <a:extLst>
              <a:ext uri="{FF2B5EF4-FFF2-40B4-BE49-F238E27FC236}">
                <a16:creationId xmlns:a16="http://schemas.microsoft.com/office/drawing/2014/main" id="{2E2DBCF9-CA16-CBF5-8EFF-02B291549078}"/>
              </a:ext>
            </a:extLst>
          </p:cNvPr>
          <p:cNvSpPr txBox="1"/>
          <p:nvPr/>
        </p:nvSpPr>
        <p:spPr>
          <a:xfrm>
            <a:off x="1398495" y="3982259"/>
            <a:ext cx="6562164" cy="369332"/>
          </a:xfrm>
          <a:prstGeom prst="rect">
            <a:avLst/>
          </a:prstGeom>
          <a:solidFill>
            <a:schemeClr val="bg1">
              <a:lumMod val="95000"/>
            </a:schemeClr>
          </a:solidFill>
        </p:spPr>
        <p:txBody>
          <a:bodyPr wrap="square" rtlCol="0">
            <a:spAutoFit/>
          </a:bodyPr>
          <a:lstStyle/>
          <a:p>
            <a:r>
              <a:rPr lang="en-US" b="1" dirty="0">
                <a:latin typeface="Courier New" panose="02070309020205020404" pitchFamily="49" charset="0"/>
                <a:cs typeface="Courier New" panose="02070309020205020404" pitchFamily="49" charset="0"/>
              </a:rPr>
              <a:t>igraph::betweenness(network)</a:t>
            </a:r>
            <a:endParaRPr lang="en-CA" b="1" dirty="0">
              <a:latin typeface="Courier New" panose="02070309020205020404" pitchFamily="49" charset="0"/>
              <a:cs typeface="Courier New" panose="02070309020205020404" pitchFamily="49" charset="0"/>
            </a:endParaRPr>
          </a:p>
        </p:txBody>
      </p:sp>
      <p:grpSp>
        <p:nvGrpSpPr>
          <p:cNvPr id="5" name="Group 4">
            <a:extLst>
              <a:ext uri="{FF2B5EF4-FFF2-40B4-BE49-F238E27FC236}">
                <a16:creationId xmlns:a16="http://schemas.microsoft.com/office/drawing/2014/main" id="{B04FAA8B-249F-D495-A1A4-7F0FA77DE1CC}"/>
              </a:ext>
            </a:extLst>
          </p:cNvPr>
          <p:cNvGrpSpPr/>
          <p:nvPr/>
        </p:nvGrpSpPr>
        <p:grpSpPr>
          <a:xfrm>
            <a:off x="9345398" y="2850435"/>
            <a:ext cx="1788767" cy="3083888"/>
            <a:chOff x="9277162" y="2195066"/>
            <a:chExt cx="1788767" cy="3083888"/>
          </a:xfrm>
        </p:grpSpPr>
        <p:cxnSp>
          <p:nvCxnSpPr>
            <p:cNvPr id="8" name="Straight Connector 7">
              <a:extLst>
                <a:ext uri="{FF2B5EF4-FFF2-40B4-BE49-F238E27FC236}">
                  <a16:creationId xmlns:a16="http://schemas.microsoft.com/office/drawing/2014/main" id="{B66F172B-CE5E-3E32-707A-F564919BD2EE}"/>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F39127-213F-99EC-A9E5-477512D8596A}"/>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B38EA1B-47F5-2A3A-61C9-F47BEA50C570}"/>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CB0C4A4-2414-41AE-0ECE-1B7EC37F71F8}"/>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4642E9BE-4805-43A4-F610-BCBAA124D2FB}"/>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19370CDB-BF16-C59D-8523-A1815E12B9F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A4324161-301F-B4F5-DDDE-E6F5E6B3A774}"/>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E6F2C334-73B3-25EC-7899-4D893C3634A6}"/>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7432663E-2E9A-1C00-8073-4A1BEBF4E5B8}"/>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CAC9DE-3459-753A-916D-F5002F2F5911}"/>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E08FAD9-12BA-08F3-F213-621C12059205}"/>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97EDD2E-A08B-8BFD-01BC-7394428141F4}"/>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4690399-FA38-CD20-D1AE-59668878C99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8C2C69B-7969-441D-752C-3B4CBABF0572}"/>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730414F-63B7-289A-384C-6C4E90F88FF3}"/>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BC0100E5-5A45-2E1A-185F-55E5B182D9CB}"/>
                </a:ext>
              </a:extLst>
            </p:cNvPr>
            <p:cNvSpPr/>
            <p:nvPr/>
          </p:nvSpPr>
          <p:spPr>
            <a:xfrm>
              <a:off x="9277162" y="2977266"/>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D458B1B9-6750-C7D9-5AA3-434557804EC5}"/>
                </a:ext>
              </a:extLst>
            </p:cNvPr>
            <p:cNvSpPr/>
            <p:nvPr/>
          </p:nvSpPr>
          <p:spPr>
            <a:xfrm>
              <a:off x="10207739" y="4935678"/>
              <a:ext cx="343276" cy="343276"/>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EBE9FA7D-23D1-C040-897B-34029E7992A4}"/>
                </a:ext>
              </a:extLst>
            </p:cNvPr>
            <p:cNvSpPr/>
            <p:nvPr/>
          </p:nvSpPr>
          <p:spPr>
            <a:xfrm>
              <a:off x="10462871" y="2195066"/>
              <a:ext cx="343276" cy="343276"/>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6" name="TextBox 25">
            <a:extLst>
              <a:ext uri="{FF2B5EF4-FFF2-40B4-BE49-F238E27FC236}">
                <a16:creationId xmlns:a16="http://schemas.microsoft.com/office/drawing/2014/main" id="{CA2DB06A-0FC3-DEAC-15D3-1029294225BB}"/>
              </a:ext>
            </a:extLst>
          </p:cNvPr>
          <p:cNvSpPr txBox="1"/>
          <p:nvPr/>
        </p:nvSpPr>
        <p:spPr>
          <a:xfrm>
            <a:off x="11029326" y="4830878"/>
            <a:ext cx="1066605" cy="923330"/>
          </a:xfrm>
          <a:prstGeom prst="rect">
            <a:avLst/>
          </a:prstGeom>
          <a:noFill/>
        </p:spPr>
        <p:txBody>
          <a:bodyPr wrap="square" rtlCol="0">
            <a:spAutoFit/>
          </a:bodyPr>
          <a:lstStyle/>
          <a:p>
            <a:r>
              <a:rPr lang="en-US" b="1" dirty="0">
                <a:solidFill>
                  <a:srgbClr val="FF0000"/>
                </a:solidFill>
              </a:rPr>
              <a:t>High</a:t>
            </a:r>
          </a:p>
          <a:p>
            <a:r>
              <a:rPr lang="en-US" b="1" dirty="0">
                <a:solidFill>
                  <a:srgbClr val="FFC000"/>
                </a:solidFill>
              </a:rPr>
              <a:t>Medium</a:t>
            </a:r>
          </a:p>
          <a:p>
            <a:r>
              <a:rPr lang="en-US" b="1" dirty="0">
                <a:solidFill>
                  <a:srgbClr val="FFFF00"/>
                </a:solidFill>
              </a:rPr>
              <a:t>Low</a:t>
            </a:r>
            <a:endParaRPr lang="en-CA" b="1" dirty="0">
              <a:solidFill>
                <a:srgbClr val="FFFF00"/>
              </a:solidFill>
            </a:endParaRPr>
          </a:p>
        </p:txBody>
      </p:sp>
      <p:sp>
        <p:nvSpPr>
          <p:cNvPr id="27" name="TextBox 26">
            <a:extLst>
              <a:ext uri="{FF2B5EF4-FFF2-40B4-BE49-F238E27FC236}">
                <a16:creationId xmlns:a16="http://schemas.microsoft.com/office/drawing/2014/main" id="{A7E35676-CE98-5D11-9623-34ED89E823AF}"/>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38172018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3" name="TextBox 2">
            <a:extLst>
              <a:ext uri="{FF2B5EF4-FFF2-40B4-BE49-F238E27FC236}">
                <a16:creationId xmlns:a16="http://schemas.microsoft.com/office/drawing/2014/main" id="{9CCC1B41-FCBE-A6CC-6895-A43659176782}"/>
              </a:ext>
            </a:extLst>
          </p:cNvPr>
          <p:cNvSpPr txBox="1"/>
          <p:nvPr/>
        </p:nvSpPr>
        <p:spPr>
          <a:xfrm>
            <a:off x="1398494" y="2801129"/>
            <a:ext cx="7216587"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BETWEENNESS measures how many shortest paths an individual lies on</a:t>
            </a:r>
            <a:endParaRPr lang="en-CA" sz="2400" dirty="0">
              <a:solidFill>
                <a:schemeClr val="accent5">
                  <a:lumMod val="20000"/>
                  <a:lumOff val="80000"/>
                </a:schemeClr>
              </a:solidFill>
            </a:endParaRPr>
          </a:p>
        </p:txBody>
      </p:sp>
      <p:sp>
        <p:nvSpPr>
          <p:cNvPr id="4" name="TextBox 3">
            <a:extLst>
              <a:ext uri="{FF2B5EF4-FFF2-40B4-BE49-F238E27FC236}">
                <a16:creationId xmlns:a16="http://schemas.microsoft.com/office/drawing/2014/main" id="{2E2DBCF9-CA16-CBF5-8EFF-02B291549078}"/>
              </a:ext>
            </a:extLst>
          </p:cNvPr>
          <p:cNvSpPr txBox="1"/>
          <p:nvPr/>
        </p:nvSpPr>
        <p:spPr>
          <a:xfrm>
            <a:off x="1398495" y="3982259"/>
            <a:ext cx="6562164" cy="369332"/>
          </a:xfrm>
          <a:prstGeom prst="rect">
            <a:avLst/>
          </a:prstGeom>
          <a:solidFill>
            <a:schemeClr val="bg1">
              <a:lumMod val="95000"/>
            </a:schemeClr>
          </a:solidFill>
        </p:spPr>
        <p:txBody>
          <a:bodyPr wrap="square" rtlCol="0">
            <a:spAutoFit/>
          </a:bodyPr>
          <a:lstStyle/>
          <a:p>
            <a:r>
              <a:rPr lang="en-US" b="1" dirty="0">
                <a:latin typeface="Courier New" panose="02070309020205020404" pitchFamily="49" charset="0"/>
                <a:cs typeface="Courier New" panose="02070309020205020404" pitchFamily="49" charset="0"/>
              </a:rPr>
              <a:t>igraph::betweenness(network)</a:t>
            </a:r>
            <a:endParaRPr lang="en-CA" b="1" dirty="0">
              <a:latin typeface="Courier New" panose="02070309020205020404" pitchFamily="49" charset="0"/>
              <a:cs typeface="Courier New" panose="02070309020205020404" pitchFamily="49" charset="0"/>
            </a:endParaRPr>
          </a:p>
        </p:txBody>
      </p:sp>
      <p:grpSp>
        <p:nvGrpSpPr>
          <p:cNvPr id="5" name="Group 4">
            <a:extLst>
              <a:ext uri="{FF2B5EF4-FFF2-40B4-BE49-F238E27FC236}">
                <a16:creationId xmlns:a16="http://schemas.microsoft.com/office/drawing/2014/main" id="{B04FAA8B-249F-D495-A1A4-7F0FA77DE1CC}"/>
              </a:ext>
            </a:extLst>
          </p:cNvPr>
          <p:cNvGrpSpPr/>
          <p:nvPr/>
        </p:nvGrpSpPr>
        <p:grpSpPr>
          <a:xfrm>
            <a:off x="9345398" y="2850435"/>
            <a:ext cx="1788767" cy="3083888"/>
            <a:chOff x="9277162" y="2195066"/>
            <a:chExt cx="1788767" cy="3083888"/>
          </a:xfrm>
        </p:grpSpPr>
        <p:cxnSp>
          <p:nvCxnSpPr>
            <p:cNvPr id="8" name="Straight Connector 7">
              <a:extLst>
                <a:ext uri="{FF2B5EF4-FFF2-40B4-BE49-F238E27FC236}">
                  <a16:creationId xmlns:a16="http://schemas.microsoft.com/office/drawing/2014/main" id="{B66F172B-CE5E-3E32-707A-F564919BD2EE}"/>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F39127-213F-99EC-A9E5-477512D8596A}"/>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B38EA1B-47F5-2A3A-61C9-F47BEA50C570}"/>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CB0C4A4-2414-41AE-0ECE-1B7EC37F71F8}"/>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4642E9BE-4805-43A4-F610-BCBAA124D2FB}"/>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19370CDB-BF16-C59D-8523-A1815E12B9F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A4324161-301F-B4F5-DDDE-E6F5E6B3A774}"/>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E6F2C334-73B3-25EC-7899-4D893C3634A6}"/>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7432663E-2E9A-1C00-8073-4A1BEBF4E5B8}"/>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CAC9DE-3459-753A-916D-F5002F2F5911}"/>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E08FAD9-12BA-08F3-F213-621C12059205}"/>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97EDD2E-A08B-8BFD-01BC-7394428141F4}"/>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4690399-FA38-CD20-D1AE-59668878C99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8C2C69B-7969-441D-752C-3B4CBABF0572}"/>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730414F-63B7-289A-384C-6C4E90F88FF3}"/>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BC0100E5-5A45-2E1A-185F-55E5B182D9CB}"/>
                </a:ext>
              </a:extLst>
            </p:cNvPr>
            <p:cNvSpPr/>
            <p:nvPr/>
          </p:nvSpPr>
          <p:spPr>
            <a:xfrm>
              <a:off x="9277162" y="2977266"/>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D458B1B9-6750-C7D9-5AA3-434557804EC5}"/>
                </a:ext>
              </a:extLst>
            </p:cNvPr>
            <p:cNvSpPr/>
            <p:nvPr/>
          </p:nvSpPr>
          <p:spPr>
            <a:xfrm>
              <a:off x="10207739" y="4935678"/>
              <a:ext cx="343276" cy="343276"/>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EBE9FA7D-23D1-C040-897B-34029E7992A4}"/>
                </a:ext>
              </a:extLst>
            </p:cNvPr>
            <p:cNvSpPr/>
            <p:nvPr/>
          </p:nvSpPr>
          <p:spPr>
            <a:xfrm>
              <a:off x="10462871" y="2195066"/>
              <a:ext cx="343276" cy="343276"/>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6" name="TextBox 25">
            <a:extLst>
              <a:ext uri="{FF2B5EF4-FFF2-40B4-BE49-F238E27FC236}">
                <a16:creationId xmlns:a16="http://schemas.microsoft.com/office/drawing/2014/main" id="{CA2DB06A-0FC3-DEAC-15D3-1029294225BB}"/>
              </a:ext>
            </a:extLst>
          </p:cNvPr>
          <p:cNvSpPr txBox="1"/>
          <p:nvPr/>
        </p:nvSpPr>
        <p:spPr>
          <a:xfrm>
            <a:off x="11029326" y="4830878"/>
            <a:ext cx="1066605" cy="923330"/>
          </a:xfrm>
          <a:prstGeom prst="rect">
            <a:avLst/>
          </a:prstGeom>
          <a:noFill/>
        </p:spPr>
        <p:txBody>
          <a:bodyPr wrap="square" rtlCol="0">
            <a:spAutoFit/>
          </a:bodyPr>
          <a:lstStyle/>
          <a:p>
            <a:r>
              <a:rPr lang="en-US" b="1" dirty="0">
                <a:solidFill>
                  <a:srgbClr val="FF0000"/>
                </a:solidFill>
              </a:rPr>
              <a:t>High</a:t>
            </a:r>
          </a:p>
          <a:p>
            <a:r>
              <a:rPr lang="en-US" b="1" dirty="0">
                <a:solidFill>
                  <a:srgbClr val="FFC000"/>
                </a:solidFill>
              </a:rPr>
              <a:t>Medium</a:t>
            </a:r>
          </a:p>
          <a:p>
            <a:r>
              <a:rPr lang="en-US" b="1" dirty="0">
                <a:solidFill>
                  <a:srgbClr val="FFFF00"/>
                </a:solidFill>
              </a:rPr>
              <a:t>Low</a:t>
            </a:r>
            <a:endParaRPr lang="en-CA" b="1" dirty="0">
              <a:solidFill>
                <a:srgbClr val="FFFF00"/>
              </a:solidFill>
            </a:endParaRPr>
          </a:p>
        </p:txBody>
      </p:sp>
      <p:sp>
        <p:nvSpPr>
          <p:cNvPr id="28" name="Speech Bubble: Oval 27">
            <a:extLst>
              <a:ext uri="{FF2B5EF4-FFF2-40B4-BE49-F238E27FC236}">
                <a16:creationId xmlns:a16="http://schemas.microsoft.com/office/drawing/2014/main" id="{E23158A1-395C-BFDD-F8FE-1F01A4E5CE20}"/>
              </a:ext>
            </a:extLst>
          </p:cNvPr>
          <p:cNvSpPr/>
          <p:nvPr/>
        </p:nvSpPr>
        <p:spPr>
          <a:xfrm>
            <a:off x="7914526" y="692242"/>
            <a:ext cx="4074274" cy="1766086"/>
          </a:xfrm>
          <a:prstGeom prst="wedgeEllipseCallout">
            <a:avLst>
              <a:gd name="adj1" fmla="val -46193"/>
              <a:gd name="adj2" fmla="val 58839"/>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TextBox 28">
            <a:extLst>
              <a:ext uri="{FF2B5EF4-FFF2-40B4-BE49-F238E27FC236}">
                <a16:creationId xmlns:a16="http://schemas.microsoft.com/office/drawing/2014/main" id="{939CEE59-160C-78BA-5999-EA0297A736CE}"/>
              </a:ext>
            </a:extLst>
          </p:cNvPr>
          <p:cNvSpPr txBox="1"/>
          <p:nvPr/>
        </p:nvSpPr>
        <p:spPr>
          <a:xfrm>
            <a:off x="8478711" y="1238412"/>
            <a:ext cx="3140363" cy="646331"/>
          </a:xfrm>
          <a:prstGeom prst="rect">
            <a:avLst/>
          </a:prstGeom>
          <a:noFill/>
        </p:spPr>
        <p:txBody>
          <a:bodyPr wrap="square" rtlCol="0">
            <a:spAutoFit/>
          </a:bodyPr>
          <a:lstStyle/>
          <a:p>
            <a:r>
              <a:rPr lang="en-US" b="1" dirty="0"/>
              <a:t>Edges can have betweenness centrality scores too!</a:t>
            </a:r>
            <a:endParaRPr lang="en-CA" b="1" dirty="0"/>
          </a:p>
        </p:txBody>
      </p:sp>
      <p:sp>
        <p:nvSpPr>
          <p:cNvPr id="30" name="TextBox 29">
            <a:extLst>
              <a:ext uri="{FF2B5EF4-FFF2-40B4-BE49-F238E27FC236}">
                <a16:creationId xmlns:a16="http://schemas.microsoft.com/office/drawing/2014/main" id="{F6DF94C8-D080-5397-0158-4B0525A2F589}"/>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ABB8659-2C43-4877-9A21-B430C78598EF}"/>
                  </a:ext>
                </a:extLst>
              </p:cNvPr>
              <p:cNvSpPr txBox="1"/>
              <p:nvPr/>
            </p:nvSpPr>
            <p:spPr>
              <a:xfrm>
                <a:off x="1272988" y="4658344"/>
                <a:ext cx="7566211" cy="1358705"/>
              </a:xfrm>
              <a:prstGeom prst="rect">
                <a:avLst/>
              </a:prstGeom>
              <a:noFill/>
            </p:spPr>
            <p:txBody>
              <a:bodyPr wrap="square" rtlCol="0">
                <a:spAutoFit/>
              </a:bodyPr>
              <a:lstStyle/>
              <a:p>
                <a:r>
                  <a:rPr lang="en-US" sz="2000" dirty="0"/>
                  <a:t>Betweenness can be standardized by using the correction factor:</a:t>
                </a:r>
              </a:p>
              <a:p>
                <a:endParaRPr lang="en-US" sz="2000" dirty="0"/>
              </a:p>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𝑁𝑢𝑚𝑏𝑒𝑟</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𝑛𝑜𝑑𝑒𝑠</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b="0" i="1" smtClean="0">
                              <a:latin typeface="Cambria Math" panose="02040503050406030204" pitchFamily="18" charset="0"/>
                            </a:rPr>
                            <m:t>𝑁𝑢𝑚𝑏𝑒𝑟</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𝑛𝑜𝑑𝑒𝑠</m:t>
                          </m:r>
                        </m:den>
                      </m:f>
                    </m:oMath>
                  </m:oMathPara>
                </a14:m>
                <a:endParaRPr lang="en-US" sz="2000" dirty="0"/>
              </a:p>
            </p:txBody>
          </p:sp>
        </mc:Choice>
        <mc:Fallback xmlns="">
          <p:sp>
            <p:nvSpPr>
              <p:cNvPr id="31" name="TextBox 30">
                <a:extLst>
                  <a:ext uri="{FF2B5EF4-FFF2-40B4-BE49-F238E27FC236}">
                    <a16:creationId xmlns:a16="http://schemas.microsoft.com/office/drawing/2014/main" id="{CABB8659-2C43-4877-9A21-B430C78598EF}"/>
                  </a:ext>
                </a:extLst>
              </p:cNvPr>
              <p:cNvSpPr txBox="1">
                <a:spLocks noRot="1" noChangeAspect="1" noMove="1" noResize="1" noEditPoints="1" noAdjustHandles="1" noChangeArrowheads="1" noChangeShapeType="1" noTextEdit="1"/>
              </p:cNvSpPr>
              <p:nvPr/>
            </p:nvSpPr>
            <p:spPr>
              <a:xfrm>
                <a:off x="1272988" y="4658344"/>
                <a:ext cx="7566211" cy="1358705"/>
              </a:xfrm>
              <a:prstGeom prst="rect">
                <a:avLst/>
              </a:prstGeom>
              <a:blipFill>
                <a:blip r:embed="rId2"/>
                <a:stretch>
                  <a:fillRect l="-886" t="-2242"/>
                </a:stretch>
              </a:blipFill>
            </p:spPr>
            <p:txBody>
              <a:bodyPr/>
              <a:lstStyle/>
              <a:p>
                <a:r>
                  <a:rPr lang="fr-FR">
                    <a:noFill/>
                  </a:rPr>
                  <a:t> </a:t>
                </a:r>
              </a:p>
            </p:txBody>
          </p:sp>
        </mc:Fallback>
      </mc:AlternateContent>
    </p:spTree>
    <p:extLst>
      <p:ext uri="{BB962C8B-B14F-4D97-AF65-F5344CB8AC3E}">
        <p14:creationId xmlns:p14="http://schemas.microsoft.com/office/powerpoint/2010/main" val="5725074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3" name="TextBox 2">
            <a:extLst>
              <a:ext uri="{FF2B5EF4-FFF2-40B4-BE49-F238E27FC236}">
                <a16:creationId xmlns:a16="http://schemas.microsoft.com/office/drawing/2014/main" id="{9CCC1B41-FCBE-A6CC-6895-A43659176782}"/>
              </a:ext>
            </a:extLst>
          </p:cNvPr>
          <p:cNvSpPr txBox="1"/>
          <p:nvPr/>
        </p:nvSpPr>
        <p:spPr>
          <a:xfrm>
            <a:off x="1398494" y="2801129"/>
            <a:ext cx="7216587"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BETWEENNESS measures how many shortest paths an individual lies on</a:t>
            </a:r>
            <a:endParaRPr lang="en-CA" sz="2400" dirty="0">
              <a:solidFill>
                <a:schemeClr val="accent5">
                  <a:lumMod val="20000"/>
                  <a:lumOff val="80000"/>
                </a:schemeClr>
              </a:solidFill>
            </a:endParaRPr>
          </a:p>
        </p:txBody>
      </p:sp>
      <p:sp>
        <p:nvSpPr>
          <p:cNvPr id="4" name="TextBox 3">
            <a:extLst>
              <a:ext uri="{FF2B5EF4-FFF2-40B4-BE49-F238E27FC236}">
                <a16:creationId xmlns:a16="http://schemas.microsoft.com/office/drawing/2014/main" id="{2E2DBCF9-CA16-CBF5-8EFF-02B291549078}"/>
              </a:ext>
            </a:extLst>
          </p:cNvPr>
          <p:cNvSpPr txBox="1"/>
          <p:nvPr/>
        </p:nvSpPr>
        <p:spPr>
          <a:xfrm>
            <a:off x="1506072" y="5004236"/>
            <a:ext cx="6562164" cy="369332"/>
          </a:xfrm>
          <a:prstGeom prst="rect">
            <a:avLst/>
          </a:prstGeom>
          <a:solidFill>
            <a:schemeClr val="bg1">
              <a:lumMod val="95000"/>
            </a:schemeClr>
          </a:solidFill>
        </p:spPr>
        <p:txBody>
          <a:bodyPr wrap="square" rtlCol="0">
            <a:spAutoFit/>
          </a:bodyPr>
          <a:lstStyle/>
          <a:p>
            <a:r>
              <a:rPr lang="en-US" b="1" dirty="0">
                <a:latin typeface="Courier New" panose="02070309020205020404" pitchFamily="49" charset="0"/>
                <a:cs typeface="Courier New" panose="02070309020205020404" pitchFamily="49" charset="0"/>
              </a:rPr>
              <a:t>igraph::closeness(network)</a:t>
            </a:r>
            <a:endParaRPr lang="en-CA" b="1" dirty="0">
              <a:latin typeface="Courier New" panose="02070309020205020404" pitchFamily="49" charset="0"/>
              <a:cs typeface="Courier New" panose="02070309020205020404" pitchFamily="49" charset="0"/>
            </a:endParaRPr>
          </a:p>
        </p:txBody>
      </p:sp>
      <p:grpSp>
        <p:nvGrpSpPr>
          <p:cNvPr id="5" name="Group 4">
            <a:extLst>
              <a:ext uri="{FF2B5EF4-FFF2-40B4-BE49-F238E27FC236}">
                <a16:creationId xmlns:a16="http://schemas.microsoft.com/office/drawing/2014/main" id="{B04FAA8B-249F-D495-A1A4-7F0FA77DE1CC}"/>
              </a:ext>
            </a:extLst>
          </p:cNvPr>
          <p:cNvGrpSpPr/>
          <p:nvPr/>
        </p:nvGrpSpPr>
        <p:grpSpPr>
          <a:xfrm>
            <a:off x="9345398" y="2850435"/>
            <a:ext cx="1788767" cy="3083888"/>
            <a:chOff x="9277162" y="2195066"/>
            <a:chExt cx="1788767" cy="3083888"/>
          </a:xfrm>
        </p:grpSpPr>
        <p:cxnSp>
          <p:nvCxnSpPr>
            <p:cNvPr id="8" name="Straight Connector 7">
              <a:extLst>
                <a:ext uri="{FF2B5EF4-FFF2-40B4-BE49-F238E27FC236}">
                  <a16:creationId xmlns:a16="http://schemas.microsoft.com/office/drawing/2014/main" id="{B66F172B-CE5E-3E32-707A-F564919BD2EE}"/>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F39127-213F-99EC-A9E5-477512D8596A}"/>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B38EA1B-47F5-2A3A-61C9-F47BEA50C570}"/>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CB0C4A4-2414-41AE-0ECE-1B7EC37F71F8}"/>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4642E9BE-4805-43A4-F610-BCBAA124D2FB}"/>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19370CDB-BF16-C59D-8523-A1815E12B9F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A4324161-301F-B4F5-DDDE-E6F5E6B3A774}"/>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E6F2C334-73B3-25EC-7899-4D893C3634A6}"/>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7432663E-2E9A-1C00-8073-4A1BEBF4E5B8}"/>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CAC9DE-3459-753A-916D-F5002F2F5911}"/>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E08FAD9-12BA-08F3-F213-621C12059205}"/>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97EDD2E-A08B-8BFD-01BC-7394428141F4}"/>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4690399-FA38-CD20-D1AE-59668878C99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8C2C69B-7969-441D-752C-3B4CBABF0572}"/>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730414F-63B7-289A-384C-6C4E90F88FF3}"/>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BC0100E5-5A45-2E1A-185F-55E5B182D9CB}"/>
                </a:ext>
              </a:extLst>
            </p:cNvPr>
            <p:cNvSpPr/>
            <p:nvPr/>
          </p:nvSpPr>
          <p:spPr>
            <a:xfrm>
              <a:off x="9277162" y="2977266"/>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D458B1B9-6750-C7D9-5AA3-434557804EC5}"/>
                </a:ext>
              </a:extLst>
            </p:cNvPr>
            <p:cNvSpPr/>
            <p:nvPr/>
          </p:nvSpPr>
          <p:spPr>
            <a:xfrm>
              <a:off x="10207739" y="4935678"/>
              <a:ext cx="343276" cy="343276"/>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EBE9FA7D-23D1-C040-897B-34029E7992A4}"/>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6" name="TextBox 25">
            <a:extLst>
              <a:ext uri="{FF2B5EF4-FFF2-40B4-BE49-F238E27FC236}">
                <a16:creationId xmlns:a16="http://schemas.microsoft.com/office/drawing/2014/main" id="{CA2DB06A-0FC3-DEAC-15D3-1029294225BB}"/>
              </a:ext>
            </a:extLst>
          </p:cNvPr>
          <p:cNvSpPr txBox="1"/>
          <p:nvPr/>
        </p:nvSpPr>
        <p:spPr>
          <a:xfrm>
            <a:off x="11029326" y="4830878"/>
            <a:ext cx="1066605" cy="923330"/>
          </a:xfrm>
          <a:prstGeom prst="rect">
            <a:avLst/>
          </a:prstGeom>
          <a:noFill/>
        </p:spPr>
        <p:txBody>
          <a:bodyPr wrap="square" rtlCol="0">
            <a:spAutoFit/>
          </a:bodyPr>
          <a:lstStyle/>
          <a:p>
            <a:r>
              <a:rPr lang="en-US" b="1" dirty="0">
                <a:solidFill>
                  <a:srgbClr val="FF0000"/>
                </a:solidFill>
              </a:rPr>
              <a:t>High</a:t>
            </a:r>
          </a:p>
          <a:p>
            <a:r>
              <a:rPr lang="en-US" b="1" dirty="0">
                <a:solidFill>
                  <a:srgbClr val="FFC000"/>
                </a:solidFill>
              </a:rPr>
              <a:t>Medium</a:t>
            </a:r>
          </a:p>
          <a:p>
            <a:r>
              <a:rPr lang="en-US" b="1" dirty="0">
                <a:solidFill>
                  <a:srgbClr val="FFFF00"/>
                </a:solidFill>
              </a:rPr>
              <a:t>Low</a:t>
            </a:r>
            <a:endParaRPr lang="en-CA" b="1" dirty="0">
              <a:solidFill>
                <a:srgbClr val="FFFF00"/>
              </a:solidFill>
            </a:endParaRPr>
          </a:p>
        </p:txBody>
      </p:sp>
      <p:sp>
        <p:nvSpPr>
          <p:cNvPr id="27" name="TextBox 26">
            <a:extLst>
              <a:ext uri="{FF2B5EF4-FFF2-40B4-BE49-F238E27FC236}">
                <a16:creationId xmlns:a16="http://schemas.microsoft.com/office/drawing/2014/main" id="{35F208E7-397D-F0E5-9242-CAE6D1736D28}"/>
              </a:ext>
            </a:extLst>
          </p:cNvPr>
          <p:cNvSpPr txBox="1"/>
          <p:nvPr/>
        </p:nvSpPr>
        <p:spPr>
          <a:xfrm>
            <a:off x="1398493" y="3888709"/>
            <a:ext cx="7216587"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CLOSENESS measures who has the shortest paths on average to other nodes</a:t>
            </a:r>
            <a:endParaRPr lang="en-CA" sz="2400" dirty="0">
              <a:solidFill>
                <a:schemeClr val="accent5">
                  <a:lumMod val="20000"/>
                  <a:lumOff val="80000"/>
                </a:schemeClr>
              </a:solidFill>
            </a:endParaRPr>
          </a:p>
        </p:txBody>
      </p:sp>
      <p:sp>
        <p:nvSpPr>
          <p:cNvPr id="28" name="TextBox 27">
            <a:extLst>
              <a:ext uri="{FF2B5EF4-FFF2-40B4-BE49-F238E27FC236}">
                <a16:creationId xmlns:a16="http://schemas.microsoft.com/office/drawing/2014/main" id="{FFF76D18-FF95-05AE-8C57-9297D52E091F}"/>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851979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3" name="TextBox 2">
            <a:extLst>
              <a:ext uri="{FF2B5EF4-FFF2-40B4-BE49-F238E27FC236}">
                <a16:creationId xmlns:a16="http://schemas.microsoft.com/office/drawing/2014/main" id="{9CCC1B41-FCBE-A6CC-6895-A43659176782}"/>
              </a:ext>
            </a:extLst>
          </p:cNvPr>
          <p:cNvSpPr txBox="1"/>
          <p:nvPr/>
        </p:nvSpPr>
        <p:spPr>
          <a:xfrm>
            <a:off x="1398494" y="2801129"/>
            <a:ext cx="7216587"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BETWEENNESS measures how many shortest paths an individual lies on</a:t>
            </a:r>
            <a:endParaRPr lang="en-CA" sz="2400" dirty="0">
              <a:solidFill>
                <a:schemeClr val="accent5">
                  <a:lumMod val="20000"/>
                  <a:lumOff val="80000"/>
                </a:schemeClr>
              </a:solidFill>
            </a:endParaRPr>
          </a:p>
        </p:txBody>
      </p:sp>
      <p:grpSp>
        <p:nvGrpSpPr>
          <p:cNvPr id="5" name="Group 4">
            <a:extLst>
              <a:ext uri="{FF2B5EF4-FFF2-40B4-BE49-F238E27FC236}">
                <a16:creationId xmlns:a16="http://schemas.microsoft.com/office/drawing/2014/main" id="{B04FAA8B-249F-D495-A1A4-7F0FA77DE1CC}"/>
              </a:ext>
            </a:extLst>
          </p:cNvPr>
          <p:cNvGrpSpPr/>
          <p:nvPr/>
        </p:nvGrpSpPr>
        <p:grpSpPr>
          <a:xfrm>
            <a:off x="9345398" y="2850435"/>
            <a:ext cx="1788767" cy="3083888"/>
            <a:chOff x="9277162" y="2195066"/>
            <a:chExt cx="1788767" cy="3083888"/>
          </a:xfrm>
        </p:grpSpPr>
        <p:cxnSp>
          <p:nvCxnSpPr>
            <p:cNvPr id="8" name="Straight Connector 7">
              <a:extLst>
                <a:ext uri="{FF2B5EF4-FFF2-40B4-BE49-F238E27FC236}">
                  <a16:creationId xmlns:a16="http://schemas.microsoft.com/office/drawing/2014/main" id="{B66F172B-CE5E-3E32-707A-F564919BD2EE}"/>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F39127-213F-99EC-A9E5-477512D8596A}"/>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B38EA1B-47F5-2A3A-61C9-F47BEA50C570}"/>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CB0C4A4-2414-41AE-0ECE-1B7EC37F71F8}"/>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4642E9BE-4805-43A4-F610-BCBAA124D2FB}"/>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19370CDB-BF16-C59D-8523-A1815E12B9F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A4324161-301F-B4F5-DDDE-E6F5E6B3A774}"/>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E6F2C334-73B3-25EC-7899-4D893C3634A6}"/>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7432663E-2E9A-1C00-8073-4A1BEBF4E5B8}"/>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CAC9DE-3459-753A-916D-F5002F2F5911}"/>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E08FAD9-12BA-08F3-F213-621C12059205}"/>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97EDD2E-A08B-8BFD-01BC-7394428141F4}"/>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4690399-FA38-CD20-D1AE-59668878C99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8C2C69B-7969-441D-752C-3B4CBABF0572}"/>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730414F-63B7-289A-384C-6C4E90F88FF3}"/>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BC0100E5-5A45-2E1A-185F-55E5B182D9CB}"/>
                </a:ext>
              </a:extLst>
            </p:cNvPr>
            <p:cNvSpPr/>
            <p:nvPr/>
          </p:nvSpPr>
          <p:spPr>
            <a:xfrm>
              <a:off x="9277162" y="2977266"/>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D458B1B9-6750-C7D9-5AA3-434557804EC5}"/>
                </a:ext>
              </a:extLst>
            </p:cNvPr>
            <p:cNvSpPr/>
            <p:nvPr/>
          </p:nvSpPr>
          <p:spPr>
            <a:xfrm>
              <a:off x="10207739" y="4935678"/>
              <a:ext cx="343276" cy="343276"/>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EBE9FA7D-23D1-C040-897B-34029E7992A4}"/>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6" name="TextBox 25">
            <a:extLst>
              <a:ext uri="{FF2B5EF4-FFF2-40B4-BE49-F238E27FC236}">
                <a16:creationId xmlns:a16="http://schemas.microsoft.com/office/drawing/2014/main" id="{CA2DB06A-0FC3-DEAC-15D3-1029294225BB}"/>
              </a:ext>
            </a:extLst>
          </p:cNvPr>
          <p:cNvSpPr txBox="1"/>
          <p:nvPr/>
        </p:nvSpPr>
        <p:spPr>
          <a:xfrm>
            <a:off x="11029326" y="4830878"/>
            <a:ext cx="1066605" cy="923330"/>
          </a:xfrm>
          <a:prstGeom prst="rect">
            <a:avLst/>
          </a:prstGeom>
          <a:noFill/>
        </p:spPr>
        <p:txBody>
          <a:bodyPr wrap="square" rtlCol="0">
            <a:spAutoFit/>
          </a:bodyPr>
          <a:lstStyle/>
          <a:p>
            <a:r>
              <a:rPr lang="en-US" b="1" dirty="0">
                <a:solidFill>
                  <a:srgbClr val="FF0000"/>
                </a:solidFill>
              </a:rPr>
              <a:t>High</a:t>
            </a:r>
          </a:p>
          <a:p>
            <a:r>
              <a:rPr lang="en-US" b="1" dirty="0">
                <a:solidFill>
                  <a:srgbClr val="FFC000"/>
                </a:solidFill>
              </a:rPr>
              <a:t>Medium</a:t>
            </a:r>
          </a:p>
          <a:p>
            <a:r>
              <a:rPr lang="en-US" b="1" dirty="0">
                <a:solidFill>
                  <a:srgbClr val="FFFF00"/>
                </a:solidFill>
              </a:rPr>
              <a:t>Low</a:t>
            </a:r>
            <a:endParaRPr lang="en-CA" b="1" dirty="0">
              <a:solidFill>
                <a:srgbClr val="FFFF00"/>
              </a:solidFill>
            </a:endParaRPr>
          </a:p>
        </p:txBody>
      </p:sp>
      <p:sp>
        <p:nvSpPr>
          <p:cNvPr id="27" name="TextBox 26">
            <a:extLst>
              <a:ext uri="{FF2B5EF4-FFF2-40B4-BE49-F238E27FC236}">
                <a16:creationId xmlns:a16="http://schemas.microsoft.com/office/drawing/2014/main" id="{35F208E7-397D-F0E5-9242-CAE6D1736D28}"/>
              </a:ext>
            </a:extLst>
          </p:cNvPr>
          <p:cNvSpPr txBox="1"/>
          <p:nvPr/>
        </p:nvSpPr>
        <p:spPr>
          <a:xfrm>
            <a:off x="1398493" y="3888709"/>
            <a:ext cx="7216587"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CLOSENESS measures who has the shortest paths on average to other nodes</a:t>
            </a:r>
            <a:endParaRPr lang="en-CA" sz="2400" dirty="0">
              <a:solidFill>
                <a:schemeClr val="accent5">
                  <a:lumMod val="20000"/>
                  <a:lumOff val="80000"/>
                </a:schemeClr>
              </a:solidFill>
            </a:endParaRPr>
          </a:p>
        </p:txBody>
      </p:sp>
      <p:sp>
        <p:nvSpPr>
          <p:cNvPr id="30" name="TextBox 29">
            <a:extLst>
              <a:ext uri="{FF2B5EF4-FFF2-40B4-BE49-F238E27FC236}">
                <a16:creationId xmlns:a16="http://schemas.microsoft.com/office/drawing/2014/main" id="{F2B9ACB7-D74D-669B-4B14-F1C571DA11EF}"/>
              </a:ext>
            </a:extLst>
          </p:cNvPr>
          <p:cNvSpPr txBox="1"/>
          <p:nvPr/>
        </p:nvSpPr>
        <p:spPr>
          <a:xfrm>
            <a:off x="1272988" y="5083215"/>
            <a:ext cx="7566211" cy="1015663"/>
          </a:xfrm>
          <a:prstGeom prst="rect">
            <a:avLst/>
          </a:prstGeom>
          <a:noFill/>
        </p:spPr>
        <p:txBody>
          <a:bodyPr wrap="square" rtlCol="0">
            <a:spAutoFit/>
          </a:bodyPr>
          <a:lstStyle/>
          <a:p>
            <a:r>
              <a:rPr lang="en-US" sz="2000" dirty="0"/>
              <a:t>Betweenness and closeness are </a:t>
            </a:r>
            <a:r>
              <a:rPr lang="en-US" sz="2000" b="1" dirty="0"/>
              <a:t>GLOBAL</a:t>
            </a:r>
            <a:r>
              <a:rPr lang="en-US" sz="2000" dirty="0"/>
              <a:t> measures of centrality that take into account only immediate </a:t>
            </a:r>
            <a:r>
              <a:rPr lang="en-US" sz="2000" dirty="0" err="1"/>
              <a:t>neighbours</a:t>
            </a:r>
            <a:endParaRPr lang="en-US" sz="2000" i="1" dirty="0"/>
          </a:p>
          <a:p>
            <a:endParaRPr lang="en-US" sz="2000" b="1" dirty="0"/>
          </a:p>
        </p:txBody>
      </p:sp>
      <p:sp>
        <p:nvSpPr>
          <p:cNvPr id="31" name="TextBox 30">
            <a:extLst>
              <a:ext uri="{FF2B5EF4-FFF2-40B4-BE49-F238E27FC236}">
                <a16:creationId xmlns:a16="http://schemas.microsoft.com/office/drawing/2014/main" id="{94FB090D-BD66-3AE4-C1A6-DC507DC6E8EB}"/>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41383008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015663"/>
          </a:xfrm>
          <a:prstGeom prst="rect">
            <a:avLst/>
          </a:prstGeom>
          <a:noFill/>
        </p:spPr>
        <p:txBody>
          <a:bodyPr wrap="square" rtlCol="0">
            <a:spAutoFit/>
          </a:bodyPr>
          <a:lstStyle/>
          <a:p>
            <a:r>
              <a:rPr lang="en-US" sz="2000" i="1" dirty="0"/>
              <a:t>An important note on calculating betweenness and closeness in igraph</a:t>
            </a:r>
          </a:p>
          <a:p>
            <a:endParaRPr lang="en-US" sz="2000" i="1" dirty="0"/>
          </a:p>
          <a:p>
            <a:r>
              <a:rPr lang="en-US" sz="2000" dirty="0">
                <a:hlinkClick r:id="rId2"/>
              </a:rPr>
              <a:t>https://twitter.com/mattjsilk/status/997029135548669957</a:t>
            </a:r>
            <a:endParaRPr lang="en-US" sz="2000" dirty="0"/>
          </a:p>
        </p:txBody>
      </p:sp>
      <p:pic>
        <p:nvPicPr>
          <p:cNvPr id="5" name="Picture 4" descr="A picture containing accessory&#10;&#10;Description automatically generated">
            <a:extLst>
              <a:ext uri="{FF2B5EF4-FFF2-40B4-BE49-F238E27FC236}">
                <a16:creationId xmlns:a16="http://schemas.microsoft.com/office/drawing/2014/main" id="{731BEBD2-C181-F859-80A1-F7969700DE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456484" y="3000524"/>
            <a:ext cx="3873315" cy="2306581"/>
          </a:xfrm>
          <a:prstGeom prst="rect">
            <a:avLst/>
          </a:prstGeom>
        </p:spPr>
      </p:pic>
      <p:pic>
        <p:nvPicPr>
          <p:cNvPr id="9" name="Picture 8">
            <a:extLst>
              <a:ext uri="{FF2B5EF4-FFF2-40B4-BE49-F238E27FC236}">
                <a16:creationId xmlns:a16="http://schemas.microsoft.com/office/drawing/2014/main" id="{003C67BD-0905-326C-71A5-8F5910B41145}"/>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909917" y="5443108"/>
            <a:ext cx="6234954" cy="376681"/>
          </a:xfrm>
          <a:prstGeom prst="rect">
            <a:avLst/>
          </a:prstGeom>
        </p:spPr>
      </p:pic>
      <p:sp>
        <p:nvSpPr>
          <p:cNvPr id="10" name="TextBox 9">
            <a:extLst>
              <a:ext uri="{FF2B5EF4-FFF2-40B4-BE49-F238E27FC236}">
                <a16:creationId xmlns:a16="http://schemas.microsoft.com/office/drawing/2014/main" id="{EF992C2A-7D41-DE30-E62F-2EC0F9FF7CBA}"/>
              </a:ext>
            </a:extLst>
          </p:cNvPr>
          <p:cNvSpPr txBox="1"/>
          <p:nvPr/>
        </p:nvSpPr>
        <p:spPr>
          <a:xfrm>
            <a:off x="3025590" y="5131404"/>
            <a:ext cx="439270" cy="369332"/>
          </a:xfrm>
          <a:prstGeom prst="rect">
            <a:avLst/>
          </a:prstGeom>
          <a:noFill/>
        </p:spPr>
        <p:txBody>
          <a:bodyPr wrap="square" rtlCol="0">
            <a:spAutoFit/>
          </a:bodyPr>
          <a:lstStyle/>
          <a:p>
            <a:r>
              <a:rPr lang="en-US" b="1" dirty="0">
                <a:solidFill>
                  <a:srgbClr val="FF0000"/>
                </a:solidFill>
              </a:rPr>
              <a:t>7</a:t>
            </a:r>
            <a:endParaRPr lang="en-CA" b="1" dirty="0">
              <a:solidFill>
                <a:srgbClr val="FF0000"/>
              </a:solidFill>
            </a:endParaRPr>
          </a:p>
        </p:txBody>
      </p:sp>
      <p:sp>
        <p:nvSpPr>
          <p:cNvPr id="11" name="TextBox 10">
            <a:extLst>
              <a:ext uri="{FF2B5EF4-FFF2-40B4-BE49-F238E27FC236}">
                <a16:creationId xmlns:a16="http://schemas.microsoft.com/office/drawing/2014/main" id="{A64DCF96-2646-9E69-2E9E-2EC386C7E023}"/>
              </a:ext>
            </a:extLst>
          </p:cNvPr>
          <p:cNvSpPr txBox="1"/>
          <p:nvPr/>
        </p:nvSpPr>
        <p:spPr>
          <a:xfrm>
            <a:off x="3348320" y="5140369"/>
            <a:ext cx="439270" cy="369332"/>
          </a:xfrm>
          <a:prstGeom prst="rect">
            <a:avLst/>
          </a:prstGeom>
          <a:noFill/>
        </p:spPr>
        <p:txBody>
          <a:bodyPr wrap="square" rtlCol="0">
            <a:spAutoFit/>
          </a:bodyPr>
          <a:lstStyle/>
          <a:p>
            <a:r>
              <a:rPr lang="en-US" b="1" dirty="0">
                <a:solidFill>
                  <a:srgbClr val="FF0000"/>
                </a:solidFill>
              </a:rPr>
              <a:t>8</a:t>
            </a:r>
            <a:endParaRPr lang="en-CA" b="1" dirty="0">
              <a:solidFill>
                <a:srgbClr val="FF0000"/>
              </a:solidFill>
            </a:endParaRPr>
          </a:p>
        </p:txBody>
      </p:sp>
      <p:sp>
        <p:nvSpPr>
          <p:cNvPr id="12" name="TextBox 11">
            <a:extLst>
              <a:ext uri="{FF2B5EF4-FFF2-40B4-BE49-F238E27FC236}">
                <a16:creationId xmlns:a16="http://schemas.microsoft.com/office/drawing/2014/main" id="{7D1416DE-03E7-CE8E-9692-EA288E29E282}"/>
              </a:ext>
            </a:extLst>
          </p:cNvPr>
          <p:cNvSpPr txBox="1"/>
          <p:nvPr/>
        </p:nvSpPr>
        <p:spPr>
          <a:xfrm>
            <a:off x="7539318" y="2905349"/>
            <a:ext cx="4258235" cy="3139321"/>
          </a:xfrm>
          <a:prstGeom prst="rect">
            <a:avLst/>
          </a:prstGeom>
          <a:noFill/>
        </p:spPr>
        <p:txBody>
          <a:bodyPr wrap="square" rtlCol="0">
            <a:spAutoFit/>
          </a:bodyPr>
          <a:lstStyle/>
          <a:p>
            <a:r>
              <a:rPr lang="en-US" dirty="0"/>
              <a:t>By default in shortest paths calculations igraph treats edge weights as costs</a:t>
            </a:r>
          </a:p>
          <a:p>
            <a:endParaRPr lang="en-US" dirty="0"/>
          </a:p>
          <a:p>
            <a:endParaRPr lang="en-US" dirty="0"/>
          </a:p>
          <a:p>
            <a:r>
              <a:rPr lang="en-US" dirty="0"/>
              <a:t>This is not a sensible option for most social networks</a:t>
            </a:r>
          </a:p>
          <a:p>
            <a:endParaRPr lang="en-US" dirty="0"/>
          </a:p>
          <a:p>
            <a:endParaRPr lang="en-US" dirty="0"/>
          </a:p>
          <a:p>
            <a:r>
              <a:rPr lang="en-US" dirty="0"/>
              <a:t>So we </a:t>
            </a:r>
            <a:r>
              <a:rPr lang="en-US" b="1" dirty="0"/>
              <a:t>MUST</a:t>
            </a:r>
            <a:r>
              <a:rPr lang="en-US" dirty="0"/>
              <a:t> manually specify edge weights in the calculation or use </a:t>
            </a:r>
            <a:r>
              <a:rPr lang="en-US" b="1" i="1" dirty="0" err="1"/>
              <a:t>tnet</a:t>
            </a:r>
            <a:r>
              <a:rPr lang="en-US" dirty="0"/>
              <a:t> (where this is done automatically)</a:t>
            </a:r>
            <a:endParaRPr lang="en-CA" dirty="0"/>
          </a:p>
        </p:txBody>
      </p:sp>
      <p:sp>
        <p:nvSpPr>
          <p:cNvPr id="13" name="TextBox 12">
            <a:extLst>
              <a:ext uri="{FF2B5EF4-FFF2-40B4-BE49-F238E27FC236}">
                <a16:creationId xmlns:a16="http://schemas.microsoft.com/office/drawing/2014/main" id="{2460A891-95D0-5702-157A-CD459FF42FFD}"/>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31535487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169551"/>
          </a:xfrm>
          <a:prstGeom prst="rect">
            <a:avLst/>
          </a:prstGeom>
          <a:noFill/>
        </p:spPr>
        <p:txBody>
          <a:bodyPr wrap="square" rtlCol="0">
            <a:spAutoFit/>
          </a:bodyPr>
          <a:lstStyle/>
          <a:p>
            <a:r>
              <a:rPr lang="en-US" sz="2000" dirty="0"/>
              <a:t>There are </a:t>
            </a:r>
            <a:r>
              <a:rPr lang="en-US" sz="3000" dirty="0"/>
              <a:t>MANY</a:t>
            </a:r>
            <a:r>
              <a:rPr lang="en-US" sz="2000" dirty="0"/>
              <a:t> </a:t>
            </a:r>
            <a:r>
              <a:rPr lang="en-US" sz="2400" b="1" dirty="0"/>
              <a:t>CENTRALITY measures</a:t>
            </a:r>
          </a:p>
          <a:p>
            <a:r>
              <a:rPr lang="en-US" sz="2000" i="1" dirty="0"/>
              <a:t>We will introduce some here but it is not an exhaustive list</a:t>
            </a:r>
          </a:p>
          <a:p>
            <a:endParaRPr lang="en-US" sz="2000" b="1" dirty="0"/>
          </a:p>
        </p:txBody>
      </p:sp>
      <p:sp>
        <p:nvSpPr>
          <p:cNvPr id="3" name="TextBox 2">
            <a:extLst>
              <a:ext uri="{FF2B5EF4-FFF2-40B4-BE49-F238E27FC236}">
                <a16:creationId xmlns:a16="http://schemas.microsoft.com/office/drawing/2014/main" id="{9CCC1B41-FCBE-A6CC-6895-A43659176782}"/>
              </a:ext>
            </a:extLst>
          </p:cNvPr>
          <p:cNvSpPr txBox="1"/>
          <p:nvPr/>
        </p:nvSpPr>
        <p:spPr>
          <a:xfrm>
            <a:off x="1398494" y="2801129"/>
            <a:ext cx="7216587"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BETWEENNESS measures how many shortest paths an individual lies on</a:t>
            </a:r>
            <a:endParaRPr lang="en-CA" sz="2400" dirty="0">
              <a:solidFill>
                <a:schemeClr val="accent5">
                  <a:lumMod val="20000"/>
                  <a:lumOff val="80000"/>
                </a:schemeClr>
              </a:solidFill>
            </a:endParaRPr>
          </a:p>
        </p:txBody>
      </p:sp>
      <p:grpSp>
        <p:nvGrpSpPr>
          <p:cNvPr id="5" name="Group 4">
            <a:extLst>
              <a:ext uri="{FF2B5EF4-FFF2-40B4-BE49-F238E27FC236}">
                <a16:creationId xmlns:a16="http://schemas.microsoft.com/office/drawing/2014/main" id="{B04FAA8B-249F-D495-A1A4-7F0FA77DE1CC}"/>
              </a:ext>
            </a:extLst>
          </p:cNvPr>
          <p:cNvGrpSpPr/>
          <p:nvPr/>
        </p:nvGrpSpPr>
        <p:grpSpPr>
          <a:xfrm>
            <a:off x="9345398" y="2850435"/>
            <a:ext cx="1788767" cy="3083888"/>
            <a:chOff x="9277162" y="2195066"/>
            <a:chExt cx="1788767" cy="3083888"/>
          </a:xfrm>
        </p:grpSpPr>
        <p:cxnSp>
          <p:nvCxnSpPr>
            <p:cNvPr id="8" name="Straight Connector 7">
              <a:extLst>
                <a:ext uri="{FF2B5EF4-FFF2-40B4-BE49-F238E27FC236}">
                  <a16:creationId xmlns:a16="http://schemas.microsoft.com/office/drawing/2014/main" id="{B66F172B-CE5E-3E32-707A-F564919BD2EE}"/>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F39127-213F-99EC-A9E5-477512D8596A}"/>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B38EA1B-47F5-2A3A-61C9-F47BEA50C570}"/>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CB0C4A4-2414-41AE-0ECE-1B7EC37F71F8}"/>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4642E9BE-4805-43A4-F610-BCBAA124D2FB}"/>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19370CDB-BF16-C59D-8523-A1815E12B9F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A4324161-301F-B4F5-DDDE-E6F5E6B3A774}"/>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E6F2C334-73B3-25EC-7899-4D893C3634A6}"/>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Straight Connector 18">
              <a:extLst>
                <a:ext uri="{FF2B5EF4-FFF2-40B4-BE49-F238E27FC236}">
                  <a16:creationId xmlns:a16="http://schemas.microsoft.com/office/drawing/2014/main" id="{7432663E-2E9A-1C00-8073-4A1BEBF4E5B8}"/>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CAC9DE-3459-753A-916D-F5002F2F5911}"/>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E08FAD9-12BA-08F3-F213-621C12059205}"/>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97EDD2E-A08B-8BFD-01BC-7394428141F4}"/>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4690399-FA38-CD20-D1AE-59668878C99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8C2C69B-7969-441D-752C-3B4CBABF0572}"/>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730414F-63B7-289A-384C-6C4E90F88FF3}"/>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BC0100E5-5A45-2E1A-185F-55E5B182D9CB}"/>
                </a:ext>
              </a:extLst>
            </p:cNvPr>
            <p:cNvSpPr/>
            <p:nvPr/>
          </p:nvSpPr>
          <p:spPr>
            <a:xfrm>
              <a:off x="9277162" y="2977266"/>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D458B1B9-6750-C7D9-5AA3-434557804EC5}"/>
                </a:ext>
              </a:extLst>
            </p:cNvPr>
            <p:cNvSpPr/>
            <p:nvPr/>
          </p:nvSpPr>
          <p:spPr>
            <a:xfrm>
              <a:off x="10207739" y="4935678"/>
              <a:ext cx="343276" cy="343276"/>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EBE9FA7D-23D1-C040-897B-34029E7992A4}"/>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6" name="TextBox 25">
            <a:extLst>
              <a:ext uri="{FF2B5EF4-FFF2-40B4-BE49-F238E27FC236}">
                <a16:creationId xmlns:a16="http://schemas.microsoft.com/office/drawing/2014/main" id="{CA2DB06A-0FC3-DEAC-15D3-1029294225BB}"/>
              </a:ext>
            </a:extLst>
          </p:cNvPr>
          <p:cNvSpPr txBox="1"/>
          <p:nvPr/>
        </p:nvSpPr>
        <p:spPr>
          <a:xfrm>
            <a:off x="11029326" y="4830878"/>
            <a:ext cx="1066605" cy="923330"/>
          </a:xfrm>
          <a:prstGeom prst="rect">
            <a:avLst/>
          </a:prstGeom>
          <a:noFill/>
        </p:spPr>
        <p:txBody>
          <a:bodyPr wrap="square" rtlCol="0">
            <a:spAutoFit/>
          </a:bodyPr>
          <a:lstStyle/>
          <a:p>
            <a:r>
              <a:rPr lang="en-US" b="1" dirty="0">
                <a:solidFill>
                  <a:srgbClr val="FF0000"/>
                </a:solidFill>
              </a:rPr>
              <a:t>High</a:t>
            </a:r>
          </a:p>
          <a:p>
            <a:r>
              <a:rPr lang="en-US" b="1" dirty="0">
                <a:solidFill>
                  <a:srgbClr val="FFC000"/>
                </a:solidFill>
              </a:rPr>
              <a:t>Medium</a:t>
            </a:r>
          </a:p>
          <a:p>
            <a:r>
              <a:rPr lang="en-US" b="1" dirty="0">
                <a:solidFill>
                  <a:srgbClr val="FFFF00"/>
                </a:solidFill>
              </a:rPr>
              <a:t>Low</a:t>
            </a:r>
            <a:endParaRPr lang="en-CA" b="1" dirty="0">
              <a:solidFill>
                <a:srgbClr val="FFFF00"/>
              </a:solidFill>
            </a:endParaRPr>
          </a:p>
        </p:txBody>
      </p:sp>
      <p:sp>
        <p:nvSpPr>
          <p:cNvPr id="27" name="TextBox 26">
            <a:extLst>
              <a:ext uri="{FF2B5EF4-FFF2-40B4-BE49-F238E27FC236}">
                <a16:creationId xmlns:a16="http://schemas.microsoft.com/office/drawing/2014/main" id="{35F208E7-397D-F0E5-9242-CAE6D1736D28}"/>
              </a:ext>
            </a:extLst>
          </p:cNvPr>
          <p:cNvSpPr txBox="1"/>
          <p:nvPr/>
        </p:nvSpPr>
        <p:spPr>
          <a:xfrm>
            <a:off x="1398493" y="3888709"/>
            <a:ext cx="7216587"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CLOSENESS measures who has the shortest paths on average to other nodes</a:t>
            </a:r>
            <a:endParaRPr lang="en-CA" sz="2400" dirty="0">
              <a:solidFill>
                <a:schemeClr val="accent5">
                  <a:lumMod val="20000"/>
                  <a:lumOff val="80000"/>
                </a:schemeClr>
              </a:solidFill>
            </a:endParaRPr>
          </a:p>
        </p:txBody>
      </p:sp>
      <p:sp>
        <p:nvSpPr>
          <p:cNvPr id="4" name="TextBox 3">
            <a:extLst>
              <a:ext uri="{FF2B5EF4-FFF2-40B4-BE49-F238E27FC236}">
                <a16:creationId xmlns:a16="http://schemas.microsoft.com/office/drawing/2014/main" id="{95C20606-6482-3332-0C82-6171C60C0738}"/>
              </a:ext>
            </a:extLst>
          </p:cNvPr>
          <p:cNvSpPr txBox="1"/>
          <p:nvPr/>
        </p:nvSpPr>
        <p:spPr>
          <a:xfrm>
            <a:off x="1398492" y="4975997"/>
            <a:ext cx="7216587"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FLOW BETWEENNESS is an alternative global measure that quantifies “information flow” through a node</a:t>
            </a:r>
            <a:endParaRPr lang="en-CA" sz="2400" dirty="0">
              <a:solidFill>
                <a:schemeClr val="accent5">
                  <a:lumMod val="20000"/>
                  <a:lumOff val="80000"/>
                </a:schemeClr>
              </a:solidFill>
            </a:endParaRPr>
          </a:p>
        </p:txBody>
      </p:sp>
      <p:sp>
        <p:nvSpPr>
          <p:cNvPr id="28" name="TextBox 27">
            <a:extLst>
              <a:ext uri="{FF2B5EF4-FFF2-40B4-BE49-F238E27FC236}">
                <a16:creationId xmlns:a16="http://schemas.microsoft.com/office/drawing/2014/main" id="{BA74B407-2B20-B744-F96D-E2A70FD52E3A}"/>
              </a:ext>
            </a:extLst>
          </p:cNvPr>
          <p:cNvSpPr txBox="1"/>
          <p:nvPr/>
        </p:nvSpPr>
        <p:spPr>
          <a:xfrm>
            <a:off x="1398492" y="6063285"/>
            <a:ext cx="6562164" cy="369332"/>
          </a:xfrm>
          <a:prstGeom prst="rect">
            <a:avLst/>
          </a:prstGeom>
          <a:solidFill>
            <a:schemeClr val="bg1">
              <a:lumMod val="95000"/>
            </a:schemeClr>
          </a:solidFill>
        </p:spPr>
        <p:txBody>
          <a:bodyPr wrap="square" rtlCol="0">
            <a:spAutoFit/>
          </a:bodyPr>
          <a:lstStyle/>
          <a:p>
            <a:r>
              <a:rPr lang="en-US" b="1" dirty="0" err="1">
                <a:latin typeface="Courier New" panose="02070309020205020404" pitchFamily="49" charset="0"/>
                <a:cs typeface="Courier New" panose="02070309020205020404" pitchFamily="49" charset="0"/>
              </a:rPr>
              <a:t>sna</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flowbet</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adjacency_matrix</a:t>
            </a:r>
            <a:r>
              <a:rPr lang="en-US" b="1" dirty="0">
                <a:latin typeface="Courier New" panose="02070309020205020404" pitchFamily="49" charset="0"/>
                <a:cs typeface="Courier New" panose="02070309020205020404" pitchFamily="49" charset="0"/>
              </a:rPr>
              <a:t>)</a:t>
            </a:r>
            <a:endParaRPr lang="en-CA" b="1" dirty="0">
              <a:latin typeface="Courier New" panose="02070309020205020404" pitchFamily="49" charset="0"/>
              <a:cs typeface="Courier New" panose="02070309020205020404" pitchFamily="49" charset="0"/>
            </a:endParaRPr>
          </a:p>
        </p:txBody>
      </p:sp>
      <p:sp>
        <p:nvSpPr>
          <p:cNvPr id="29" name="TextBox 28">
            <a:extLst>
              <a:ext uri="{FF2B5EF4-FFF2-40B4-BE49-F238E27FC236}">
                <a16:creationId xmlns:a16="http://schemas.microsoft.com/office/drawing/2014/main" id="{1E17EA14-5B1D-38C9-21C0-4F22788487DD}"/>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2894594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93C60-9E0F-FEF1-0AB7-5F2F0D4A215C}"/>
              </a:ext>
            </a:extLst>
          </p:cNvPr>
          <p:cNvSpPr txBox="1"/>
          <p:nvPr/>
        </p:nvSpPr>
        <p:spPr>
          <a:xfrm>
            <a:off x="1138517" y="2209459"/>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CLUSTERING COEFFICIENT measures if a focal node’s connections also tend to be connected with each other</a:t>
            </a:r>
            <a:endParaRPr lang="en-CA" sz="2400" dirty="0">
              <a:solidFill>
                <a:schemeClr val="accent5">
                  <a:lumMod val="20000"/>
                  <a:lumOff val="80000"/>
                </a:schemeClr>
              </a:solidFill>
            </a:endParaRPr>
          </a:p>
        </p:txBody>
      </p:sp>
      <p:sp>
        <p:nvSpPr>
          <p:cNvPr id="4" name="TextBox 3">
            <a:extLst>
              <a:ext uri="{FF2B5EF4-FFF2-40B4-BE49-F238E27FC236}">
                <a16:creationId xmlns:a16="http://schemas.microsoft.com/office/drawing/2014/main" id="{DE84F80B-4677-0967-2052-51111B7D41DA}"/>
              </a:ext>
            </a:extLst>
          </p:cNvPr>
          <p:cNvSpPr txBox="1"/>
          <p:nvPr/>
        </p:nvSpPr>
        <p:spPr>
          <a:xfrm>
            <a:off x="1272988" y="1631578"/>
            <a:ext cx="9861177" cy="707886"/>
          </a:xfrm>
          <a:prstGeom prst="rect">
            <a:avLst/>
          </a:prstGeom>
          <a:noFill/>
        </p:spPr>
        <p:txBody>
          <a:bodyPr wrap="square" rtlCol="0">
            <a:spAutoFit/>
          </a:bodyPr>
          <a:lstStyle/>
          <a:p>
            <a:r>
              <a:rPr lang="en-US" sz="2000" dirty="0"/>
              <a:t>A quick overview of the other measures…</a:t>
            </a:r>
            <a:endParaRPr lang="en-US" sz="2000" i="1" dirty="0"/>
          </a:p>
          <a:p>
            <a:endParaRPr lang="en-US" sz="2000" b="1" dirty="0"/>
          </a:p>
        </p:txBody>
      </p:sp>
      <p:pic>
        <p:nvPicPr>
          <p:cNvPr id="8" name="Picture 7" descr="Diagram&#10;&#10;Description automatically generated with medium confidence">
            <a:extLst>
              <a:ext uri="{FF2B5EF4-FFF2-40B4-BE49-F238E27FC236}">
                <a16:creationId xmlns:a16="http://schemas.microsoft.com/office/drawing/2014/main" id="{756C143D-138D-E9FA-A1AB-93AEC95C610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85900" y="3415455"/>
            <a:ext cx="8222877" cy="3124969"/>
          </a:xfrm>
          <a:prstGeom prst="rect">
            <a:avLst/>
          </a:prstGeom>
        </p:spPr>
      </p:pic>
      <p:sp>
        <p:nvSpPr>
          <p:cNvPr id="9" name="TextBox 8">
            <a:extLst>
              <a:ext uri="{FF2B5EF4-FFF2-40B4-BE49-F238E27FC236}">
                <a16:creationId xmlns:a16="http://schemas.microsoft.com/office/drawing/2014/main" id="{5F812061-8F6C-A1E9-AFB9-02B00C94A86F}"/>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24274790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93C60-9E0F-FEF1-0AB7-5F2F0D4A215C}"/>
              </a:ext>
            </a:extLst>
          </p:cNvPr>
          <p:cNvSpPr txBox="1"/>
          <p:nvPr/>
        </p:nvSpPr>
        <p:spPr>
          <a:xfrm>
            <a:off x="1138517" y="2209459"/>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CLUSTERING COEFFICIENT measures if a focal node’s connections also tend to be connected with each other</a:t>
            </a:r>
            <a:endParaRPr lang="en-CA" sz="2400" dirty="0">
              <a:solidFill>
                <a:schemeClr val="accent5">
                  <a:lumMod val="20000"/>
                  <a:lumOff val="80000"/>
                </a:schemeClr>
              </a:solidFill>
            </a:endParaRPr>
          </a:p>
        </p:txBody>
      </p:sp>
      <p:sp>
        <p:nvSpPr>
          <p:cNvPr id="4" name="TextBox 3">
            <a:extLst>
              <a:ext uri="{FF2B5EF4-FFF2-40B4-BE49-F238E27FC236}">
                <a16:creationId xmlns:a16="http://schemas.microsoft.com/office/drawing/2014/main" id="{DE84F80B-4677-0967-2052-51111B7D41DA}"/>
              </a:ext>
            </a:extLst>
          </p:cNvPr>
          <p:cNvSpPr txBox="1"/>
          <p:nvPr/>
        </p:nvSpPr>
        <p:spPr>
          <a:xfrm>
            <a:off x="1272988" y="1631578"/>
            <a:ext cx="9861177" cy="707886"/>
          </a:xfrm>
          <a:prstGeom prst="rect">
            <a:avLst/>
          </a:prstGeom>
          <a:noFill/>
        </p:spPr>
        <p:txBody>
          <a:bodyPr wrap="square" rtlCol="0">
            <a:spAutoFit/>
          </a:bodyPr>
          <a:lstStyle/>
          <a:p>
            <a:r>
              <a:rPr lang="en-US" sz="2000" dirty="0"/>
              <a:t>A quick overview of the other measures…</a:t>
            </a:r>
            <a:endParaRPr lang="en-US" sz="2000" i="1" dirty="0"/>
          </a:p>
          <a:p>
            <a:endParaRPr lang="en-US" sz="2000" b="1" dirty="0"/>
          </a:p>
        </p:txBody>
      </p:sp>
      <p:sp>
        <p:nvSpPr>
          <p:cNvPr id="5" name="TextBox 4">
            <a:extLst>
              <a:ext uri="{FF2B5EF4-FFF2-40B4-BE49-F238E27FC236}">
                <a16:creationId xmlns:a16="http://schemas.microsoft.com/office/drawing/2014/main" id="{626D352C-88AE-D899-9026-76513A54129B}"/>
              </a:ext>
            </a:extLst>
          </p:cNvPr>
          <p:cNvSpPr txBox="1"/>
          <p:nvPr/>
        </p:nvSpPr>
        <p:spPr>
          <a:xfrm>
            <a:off x="1138518" y="3339012"/>
            <a:ext cx="7055224"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EDGE WEIGHT VARIANCE measures how differentiated an individual’s social connections are</a:t>
            </a:r>
            <a:endParaRPr lang="en-CA" sz="2400" dirty="0">
              <a:solidFill>
                <a:schemeClr val="accent5">
                  <a:lumMod val="20000"/>
                  <a:lumOff val="80000"/>
                </a:schemeClr>
              </a:solidFill>
            </a:endParaRPr>
          </a:p>
        </p:txBody>
      </p:sp>
      <p:grpSp>
        <p:nvGrpSpPr>
          <p:cNvPr id="7" name="Group 6">
            <a:extLst>
              <a:ext uri="{FF2B5EF4-FFF2-40B4-BE49-F238E27FC236}">
                <a16:creationId xmlns:a16="http://schemas.microsoft.com/office/drawing/2014/main" id="{C690F718-5C25-D95E-5F67-DE83C7897D1A}"/>
              </a:ext>
            </a:extLst>
          </p:cNvPr>
          <p:cNvGrpSpPr/>
          <p:nvPr/>
        </p:nvGrpSpPr>
        <p:grpSpPr>
          <a:xfrm>
            <a:off x="9408151" y="3429000"/>
            <a:ext cx="1788767" cy="3083888"/>
            <a:chOff x="9277162" y="2195066"/>
            <a:chExt cx="1788767" cy="3083888"/>
          </a:xfrm>
        </p:grpSpPr>
        <p:cxnSp>
          <p:nvCxnSpPr>
            <p:cNvPr id="9" name="Straight Connector 8">
              <a:extLst>
                <a:ext uri="{FF2B5EF4-FFF2-40B4-BE49-F238E27FC236}">
                  <a16:creationId xmlns:a16="http://schemas.microsoft.com/office/drawing/2014/main" id="{24D5D121-A212-FCB7-FD0C-54C02E8993B1}"/>
                </a:ext>
              </a:extLst>
            </p:cNvPr>
            <p:cNvCxnSpPr>
              <a:cxnSpLocks/>
            </p:cNvCxnSpPr>
            <p:nvPr/>
          </p:nvCxnSpPr>
          <p:spPr>
            <a:xfrm flipV="1">
              <a:off x="9448800" y="2381719"/>
              <a:ext cx="437733" cy="7648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C40DA58-8F98-8013-5B50-D667745A67A7}"/>
                </a:ext>
              </a:extLst>
            </p:cNvPr>
            <p:cNvCxnSpPr>
              <a:cxnSpLocks/>
            </p:cNvCxnSpPr>
            <p:nvPr/>
          </p:nvCxnSpPr>
          <p:spPr>
            <a:xfrm flipH="1" flipV="1">
              <a:off x="9886533" y="2366705"/>
              <a:ext cx="747976" cy="1029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D055F83-1C36-624F-015D-7E7A97EB1CE1}"/>
                </a:ext>
              </a:extLst>
            </p:cNvPr>
            <p:cNvCxnSpPr>
              <a:cxnSpLocks/>
            </p:cNvCxnSpPr>
            <p:nvPr/>
          </p:nvCxnSpPr>
          <p:spPr>
            <a:xfrm>
              <a:off x="9886533" y="2366704"/>
              <a:ext cx="664482" cy="163716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A7D8F2-A418-9339-8996-E0F1587CD23E}"/>
                </a:ext>
              </a:extLst>
            </p:cNvPr>
            <p:cNvCxnSpPr>
              <a:cxnSpLocks/>
            </p:cNvCxnSpPr>
            <p:nvPr/>
          </p:nvCxnSpPr>
          <p:spPr>
            <a:xfrm>
              <a:off x="9448800" y="3146585"/>
              <a:ext cx="136262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FD235365-3596-B9CF-6905-26E67BEDD668}"/>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E4719AD-6F8E-227A-3E65-DABA899CAB86}"/>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9A99CB21-14F4-2AB1-7D88-A13E685D9700}"/>
                </a:ext>
              </a:extLst>
            </p:cNvPr>
            <p:cNvSpPr/>
            <p:nvPr/>
          </p:nvSpPr>
          <p:spPr>
            <a:xfrm>
              <a:off x="9786837" y="4185280"/>
              <a:ext cx="343276" cy="343276"/>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45906F3B-C7BC-A71F-A27A-EF1E4C157C71}"/>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A08E884C-69AD-A109-03C3-BB64D68A6686}"/>
                </a:ext>
              </a:extLst>
            </p:cNvPr>
            <p:cNvCxnSpPr>
              <a:cxnSpLocks/>
            </p:cNvCxnSpPr>
            <p:nvPr/>
          </p:nvCxnSpPr>
          <p:spPr>
            <a:xfrm>
              <a:off x="10634509" y="2381719"/>
              <a:ext cx="259782" cy="78315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6AFE5A9-27D5-FA94-30AE-197CA4B87000}"/>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84288D4-E38C-FF32-DEB1-4CF602DA7B66}"/>
                </a:ext>
              </a:extLst>
            </p:cNvPr>
            <p:cNvCxnSpPr>
              <a:cxnSpLocks/>
            </p:cNvCxnSpPr>
            <p:nvPr/>
          </p:nvCxnSpPr>
          <p:spPr>
            <a:xfrm>
              <a:off x="9940768" y="3771756"/>
              <a:ext cx="17707" cy="585162"/>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AF8B617-670C-BB27-4F05-74D9357FDCD9}"/>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487DEFE-DAF4-161A-FF89-CBAB770E1FEA}"/>
                </a:ext>
              </a:extLst>
            </p:cNvPr>
            <p:cNvCxnSpPr>
              <a:cxnSpLocks/>
            </p:cNvCxnSpPr>
            <p:nvPr/>
          </p:nvCxnSpPr>
          <p:spPr>
            <a:xfrm flipV="1">
              <a:off x="9969302" y="4003871"/>
              <a:ext cx="581713" cy="353047"/>
            </a:xfrm>
            <a:prstGeom prst="line">
              <a:avLst/>
            </a:prstGeom>
            <a:ln w="1270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5660345-5E68-F83E-85AC-F4CF39B63EF1}"/>
                </a:ext>
              </a:extLst>
            </p:cNvPr>
            <p:cNvCxnSpPr>
              <a:cxnSpLocks/>
            </p:cNvCxnSpPr>
            <p:nvPr/>
          </p:nvCxnSpPr>
          <p:spPr>
            <a:xfrm>
              <a:off x="9969302" y="4379070"/>
              <a:ext cx="427782" cy="728246"/>
            </a:xfrm>
            <a:prstGeom prst="line">
              <a:avLst/>
            </a:prstGeom>
            <a:ln w="3175">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753D337-AB2F-9321-D2C3-C8D06970837C}"/>
                </a:ext>
              </a:extLst>
            </p:cNvPr>
            <p:cNvSpPr/>
            <p:nvPr/>
          </p:nvSpPr>
          <p:spPr>
            <a:xfrm>
              <a:off x="9714895" y="2196423"/>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4515B2E1-FD06-87E8-43BB-A7AF5C6A7E38}"/>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D070929F-1D6B-E294-8034-AEFB36411953}"/>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5551AC6A-1D6E-DB7F-EA41-7DFAE220BCB1}"/>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8" name="TextBox 7">
            <a:extLst>
              <a:ext uri="{FF2B5EF4-FFF2-40B4-BE49-F238E27FC236}">
                <a16:creationId xmlns:a16="http://schemas.microsoft.com/office/drawing/2014/main" id="{E5EEE3AB-9697-3B73-0621-D511E1A12FFA}"/>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1428146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93C60-9E0F-FEF1-0AB7-5F2F0D4A215C}"/>
              </a:ext>
            </a:extLst>
          </p:cNvPr>
          <p:cNvSpPr txBox="1"/>
          <p:nvPr/>
        </p:nvSpPr>
        <p:spPr>
          <a:xfrm>
            <a:off x="1138517" y="2209459"/>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CLUSTERING COEFFICIENT measures if a focal node’s connections also tend to be connected with each other</a:t>
            </a:r>
            <a:endParaRPr lang="en-CA" sz="2400" dirty="0">
              <a:solidFill>
                <a:schemeClr val="accent5">
                  <a:lumMod val="20000"/>
                  <a:lumOff val="80000"/>
                </a:schemeClr>
              </a:solidFill>
            </a:endParaRPr>
          </a:p>
        </p:txBody>
      </p:sp>
      <p:sp>
        <p:nvSpPr>
          <p:cNvPr id="4" name="TextBox 3">
            <a:extLst>
              <a:ext uri="{FF2B5EF4-FFF2-40B4-BE49-F238E27FC236}">
                <a16:creationId xmlns:a16="http://schemas.microsoft.com/office/drawing/2014/main" id="{DE84F80B-4677-0967-2052-51111B7D41DA}"/>
              </a:ext>
            </a:extLst>
          </p:cNvPr>
          <p:cNvSpPr txBox="1"/>
          <p:nvPr/>
        </p:nvSpPr>
        <p:spPr>
          <a:xfrm>
            <a:off x="1272988" y="1631578"/>
            <a:ext cx="9861177" cy="707886"/>
          </a:xfrm>
          <a:prstGeom prst="rect">
            <a:avLst/>
          </a:prstGeom>
          <a:noFill/>
        </p:spPr>
        <p:txBody>
          <a:bodyPr wrap="square" rtlCol="0">
            <a:spAutoFit/>
          </a:bodyPr>
          <a:lstStyle/>
          <a:p>
            <a:r>
              <a:rPr lang="en-US" sz="2000" dirty="0"/>
              <a:t>A quick overview of the other measures…</a:t>
            </a:r>
            <a:endParaRPr lang="en-US" sz="2000" i="1" dirty="0"/>
          </a:p>
          <a:p>
            <a:endParaRPr lang="en-US" sz="2000" b="1" dirty="0"/>
          </a:p>
        </p:txBody>
      </p:sp>
      <p:sp>
        <p:nvSpPr>
          <p:cNvPr id="5" name="TextBox 4">
            <a:extLst>
              <a:ext uri="{FF2B5EF4-FFF2-40B4-BE49-F238E27FC236}">
                <a16:creationId xmlns:a16="http://schemas.microsoft.com/office/drawing/2014/main" id="{626D352C-88AE-D899-9026-76513A54129B}"/>
              </a:ext>
            </a:extLst>
          </p:cNvPr>
          <p:cNvSpPr txBox="1"/>
          <p:nvPr/>
        </p:nvSpPr>
        <p:spPr>
          <a:xfrm>
            <a:off x="1138518" y="3339012"/>
            <a:ext cx="7055224"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EDGE WEIGHT VARIANCE measures how differentiated an individual’s social connections are</a:t>
            </a:r>
            <a:endParaRPr lang="en-CA" sz="2400" dirty="0">
              <a:solidFill>
                <a:schemeClr val="accent5">
                  <a:lumMod val="20000"/>
                  <a:lumOff val="80000"/>
                </a:schemeClr>
              </a:solidFill>
            </a:endParaRPr>
          </a:p>
        </p:txBody>
      </p:sp>
      <p:grpSp>
        <p:nvGrpSpPr>
          <p:cNvPr id="7" name="Group 6">
            <a:extLst>
              <a:ext uri="{FF2B5EF4-FFF2-40B4-BE49-F238E27FC236}">
                <a16:creationId xmlns:a16="http://schemas.microsoft.com/office/drawing/2014/main" id="{C690F718-5C25-D95E-5F67-DE83C7897D1A}"/>
              </a:ext>
            </a:extLst>
          </p:cNvPr>
          <p:cNvGrpSpPr/>
          <p:nvPr/>
        </p:nvGrpSpPr>
        <p:grpSpPr>
          <a:xfrm>
            <a:off x="9408151" y="3429000"/>
            <a:ext cx="1788767" cy="3083888"/>
            <a:chOff x="9277162" y="2195066"/>
            <a:chExt cx="1788767" cy="3083888"/>
          </a:xfrm>
        </p:grpSpPr>
        <p:cxnSp>
          <p:nvCxnSpPr>
            <p:cNvPr id="9" name="Straight Connector 8">
              <a:extLst>
                <a:ext uri="{FF2B5EF4-FFF2-40B4-BE49-F238E27FC236}">
                  <a16:creationId xmlns:a16="http://schemas.microsoft.com/office/drawing/2014/main" id="{24D5D121-A212-FCB7-FD0C-54C02E8993B1}"/>
                </a:ext>
              </a:extLst>
            </p:cNvPr>
            <p:cNvCxnSpPr>
              <a:cxnSpLocks/>
            </p:cNvCxnSpPr>
            <p:nvPr/>
          </p:nvCxnSpPr>
          <p:spPr>
            <a:xfrm flipV="1">
              <a:off x="9448800" y="2381719"/>
              <a:ext cx="437733" cy="7648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C40DA58-8F98-8013-5B50-D667745A67A7}"/>
                </a:ext>
              </a:extLst>
            </p:cNvPr>
            <p:cNvCxnSpPr>
              <a:cxnSpLocks/>
            </p:cNvCxnSpPr>
            <p:nvPr/>
          </p:nvCxnSpPr>
          <p:spPr>
            <a:xfrm flipH="1" flipV="1">
              <a:off x="9886533" y="2366705"/>
              <a:ext cx="747976" cy="1029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D055F83-1C36-624F-015D-7E7A97EB1CE1}"/>
                </a:ext>
              </a:extLst>
            </p:cNvPr>
            <p:cNvCxnSpPr>
              <a:cxnSpLocks/>
            </p:cNvCxnSpPr>
            <p:nvPr/>
          </p:nvCxnSpPr>
          <p:spPr>
            <a:xfrm>
              <a:off x="9886533" y="2366704"/>
              <a:ext cx="664482" cy="163716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A7D8F2-A418-9339-8996-E0F1587CD23E}"/>
                </a:ext>
              </a:extLst>
            </p:cNvPr>
            <p:cNvCxnSpPr>
              <a:cxnSpLocks/>
            </p:cNvCxnSpPr>
            <p:nvPr/>
          </p:nvCxnSpPr>
          <p:spPr>
            <a:xfrm>
              <a:off x="9448800" y="3146585"/>
              <a:ext cx="136262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FD235365-3596-B9CF-6905-26E67BEDD668}"/>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E4719AD-6F8E-227A-3E65-DABA899CAB86}"/>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9A99CB21-14F4-2AB1-7D88-A13E685D9700}"/>
                </a:ext>
              </a:extLst>
            </p:cNvPr>
            <p:cNvSpPr/>
            <p:nvPr/>
          </p:nvSpPr>
          <p:spPr>
            <a:xfrm>
              <a:off x="9786837" y="4185280"/>
              <a:ext cx="343276" cy="343276"/>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45906F3B-C7BC-A71F-A27A-EF1E4C157C71}"/>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A08E884C-69AD-A109-03C3-BB64D68A6686}"/>
                </a:ext>
              </a:extLst>
            </p:cNvPr>
            <p:cNvCxnSpPr>
              <a:cxnSpLocks/>
            </p:cNvCxnSpPr>
            <p:nvPr/>
          </p:nvCxnSpPr>
          <p:spPr>
            <a:xfrm>
              <a:off x="10634509" y="2381719"/>
              <a:ext cx="259782" cy="78315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6AFE5A9-27D5-FA94-30AE-197CA4B87000}"/>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84288D4-E38C-FF32-DEB1-4CF602DA7B66}"/>
                </a:ext>
              </a:extLst>
            </p:cNvPr>
            <p:cNvCxnSpPr>
              <a:cxnSpLocks/>
            </p:cNvCxnSpPr>
            <p:nvPr/>
          </p:nvCxnSpPr>
          <p:spPr>
            <a:xfrm>
              <a:off x="9940768" y="3771756"/>
              <a:ext cx="17707" cy="585162"/>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AF8B617-670C-BB27-4F05-74D9357FDCD9}"/>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487DEFE-DAF4-161A-FF89-CBAB770E1FEA}"/>
                </a:ext>
              </a:extLst>
            </p:cNvPr>
            <p:cNvCxnSpPr>
              <a:cxnSpLocks/>
            </p:cNvCxnSpPr>
            <p:nvPr/>
          </p:nvCxnSpPr>
          <p:spPr>
            <a:xfrm flipV="1">
              <a:off x="9969302" y="4003871"/>
              <a:ext cx="581713" cy="353047"/>
            </a:xfrm>
            <a:prstGeom prst="line">
              <a:avLst/>
            </a:prstGeom>
            <a:ln w="1270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5660345-5E68-F83E-85AC-F4CF39B63EF1}"/>
                </a:ext>
              </a:extLst>
            </p:cNvPr>
            <p:cNvCxnSpPr>
              <a:cxnSpLocks/>
            </p:cNvCxnSpPr>
            <p:nvPr/>
          </p:nvCxnSpPr>
          <p:spPr>
            <a:xfrm>
              <a:off x="9969302" y="4379070"/>
              <a:ext cx="427782" cy="728246"/>
            </a:xfrm>
            <a:prstGeom prst="line">
              <a:avLst/>
            </a:prstGeom>
            <a:ln w="3175">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753D337-AB2F-9321-D2C3-C8D06970837C}"/>
                </a:ext>
              </a:extLst>
            </p:cNvPr>
            <p:cNvSpPr/>
            <p:nvPr/>
          </p:nvSpPr>
          <p:spPr>
            <a:xfrm>
              <a:off x="9714895" y="2196423"/>
              <a:ext cx="343276" cy="34327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4515B2E1-FD06-87E8-43BB-A7AF5C6A7E38}"/>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D070929F-1D6B-E294-8034-AEFB36411953}"/>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5551AC6A-1D6E-DB7F-EA41-7DFAE220BCB1}"/>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7" name="TextBox 26">
            <a:extLst>
              <a:ext uri="{FF2B5EF4-FFF2-40B4-BE49-F238E27FC236}">
                <a16:creationId xmlns:a16="http://schemas.microsoft.com/office/drawing/2014/main" id="{B285294E-C559-F2E0-00CD-4608B34150EC}"/>
              </a:ext>
            </a:extLst>
          </p:cNvPr>
          <p:cNvSpPr txBox="1"/>
          <p:nvPr/>
        </p:nvSpPr>
        <p:spPr>
          <a:xfrm>
            <a:off x="1205753" y="4963607"/>
            <a:ext cx="6920754" cy="646331"/>
          </a:xfrm>
          <a:prstGeom prst="rect">
            <a:avLst/>
          </a:prstGeom>
          <a:noFill/>
        </p:spPr>
        <p:txBody>
          <a:bodyPr wrap="square" rtlCol="0">
            <a:spAutoFit/>
          </a:bodyPr>
          <a:lstStyle/>
          <a:p>
            <a:r>
              <a:rPr lang="en-US" dirty="0"/>
              <a:t>These measures can tell us about how socially embedded an individual is, which may be important in assessing social integration in a group</a:t>
            </a:r>
            <a:endParaRPr lang="en-CA" dirty="0"/>
          </a:p>
        </p:txBody>
      </p:sp>
      <p:sp>
        <p:nvSpPr>
          <p:cNvPr id="28" name="TextBox 27">
            <a:extLst>
              <a:ext uri="{FF2B5EF4-FFF2-40B4-BE49-F238E27FC236}">
                <a16:creationId xmlns:a16="http://schemas.microsoft.com/office/drawing/2014/main" id="{AB8680D4-6657-E443-2E00-B8F612579991}"/>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7453518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B934B-A26F-9F0E-1024-629922E42AE1}"/>
              </a:ext>
            </a:extLst>
          </p:cNvPr>
          <p:cNvSpPr txBox="1"/>
          <p:nvPr/>
        </p:nvSpPr>
        <p:spPr>
          <a:xfrm>
            <a:off x="1272988" y="1631578"/>
            <a:ext cx="9861177" cy="1015663"/>
          </a:xfrm>
          <a:prstGeom prst="rect">
            <a:avLst/>
          </a:prstGeom>
          <a:noFill/>
        </p:spPr>
        <p:txBody>
          <a:bodyPr wrap="square" rtlCol="0">
            <a:spAutoFit/>
          </a:bodyPr>
          <a:lstStyle/>
          <a:p>
            <a:r>
              <a:rPr lang="en-US" sz="2000" dirty="0"/>
              <a:t>Using multiple social network measures can tell us more about an individual’s social network position than just picking one</a:t>
            </a:r>
          </a:p>
          <a:p>
            <a:endParaRPr lang="en-US" sz="2000" b="1" dirty="0"/>
          </a:p>
        </p:txBody>
      </p:sp>
      <p:pic>
        <p:nvPicPr>
          <p:cNvPr id="3" name="Picture 2">
            <a:extLst>
              <a:ext uri="{FF2B5EF4-FFF2-40B4-BE49-F238E27FC236}">
                <a16:creationId xmlns:a16="http://schemas.microsoft.com/office/drawing/2014/main" id="{CD69A11E-AB08-636A-B71A-1EF06D41DCD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946156" y="2647241"/>
            <a:ext cx="7888086" cy="3573099"/>
          </a:xfrm>
          <a:prstGeom prst="rect">
            <a:avLst/>
          </a:prstGeom>
        </p:spPr>
      </p:pic>
      <p:sp>
        <p:nvSpPr>
          <p:cNvPr id="4" name="TextBox 3">
            <a:extLst>
              <a:ext uri="{FF2B5EF4-FFF2-40B4-BE49-F238E27FC236}">
                <a16:creationId xmlns:a16="http://schemas.microsoft.com/office/drawing/2014/main" id="{1662BE93-4034-35CC-B49B-669DA2AEEDF4}"/>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36351929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0720C6-DDC4-A60F-C74F-8E79DC9F0B40}"/>
              </a:ext>
            </a:extLst>
          </p:cNvPr>
          <p:cNvSpPr txBox="1"/>
          <p:nvPr/>
        </p:nvSpPr>
        <p:spPr>
          <a:xfrm>
            <a:off x="1272988" y="1631578"/>
            <a:ext cx="9861177" cy="1631216"/>
          </a:xfrm>
          <a:prstGeom prst="rect">
            <a:avLst/>
          </a:prstGeom>
          <a:noFill/>
        </p:spPr>
        <p:txBody>
          <a:bodyPr wrap="square" rtlCol="0">
            <a:spAutoFit/>
          </a:bodyPr>
          <a:lstStyle/>
          <a:p>
            <a:r>
              <a:rPr lang="en-US" sz="2000" dirty="0"/>
              <a:t>Using multiple social network measures can tell us more about an individual’s social network position than just picking one</a:t>
            </a:r>
          </a:p>
          <a:p>
            <a:endParaRPr lang="en-US" sz="2000" dirty="0"/>
          </a:p>
          <a:p>
            <a:endParaRPr lang="en-US" sz="2000" dirty="0"/>
          </a:p>
          <a:p>
            <a:endParaRPr lang="en-US" sz="2000" b="1" dirty="0"/>
          </a:p>
        </p:txBody>
      </p:sp>
      <p:pic>
        <p:nvPicPr>
          <p:cNvPr id="5" name="Picture 4" descr="Chart&#10;&#10;Description automatically generated">
            <a:extLst>
              <a:ext uri="{FF2B5EF4-FFF2-40B4-BE49-F238E27FC236}">
                <a16:creationId xmlns:a16="http://schemas.microsoft.com/office/drawing/2014/main" id="{637BFFBF-DDEB-58A7-9516-00A2D13B21E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96000" y="2597643"/>
            <a:ext cx="5558100" cy="3950939"/>
          </a:xfrm>
          <a:prstGeom prst="rect">
            <a:avLst/>
          </a:prstGeom>
        </p:spPr>
      </p:pic>
      <p:sp>
        <p:nvSpPr>
          <p:cNvPr id="9" name="TextBox 8">
            <a:extLst>
              <a:ext uri="{FF2B5EF4-FFF2-40B4-BE49-F238E27FC236}">
                <a16:creationId xmlns:a16="http://schemas.microsoft.com/office/drawing/2014/main" id="{2CA0B0C7-CAEC-5A1D-A7F6-594E6738F962}"/>
              </a:ext>
            </a:extLst>
          </p:cNvPr>
          <p:cNvSpPr txBox="1"/>
          <p:nvPr/>
        </p:nvSpPr>
        <p:spPr>
          <a:xfrm>
            <a:off x="1272988" y="2957025"/>
            <a:ext cx="4193309" cy="1015663"/>
          </a:xfrm>
          <a:prstGeom prst="rect">
            <a:avLst/>
          </a:prstGeom>
          <a:noFill/>
        </p:spPr>
        <p:txBody>
          <a:bodyPr wrap="square">
            <a:spAutoFit/>
          </a:bodyPr>
          <a:lstStyle/>
          <a:p>
            <a:r>
              <a:rPr lang="en-US" sz="2000" i="1" u="sng" dirty="0"/>
              <a:t>BUT</a:t>
            </a:r>
            <a:r>
              <a:rPr lang="en-US" sz="2000" dirty="0"/>
              <a:t> the </a:t>
            </a:r>
            <a:r>
              <a:rPr lang="en-US" sz="2000" b="1" dirty="0"/>
              <a:t>correlation between different centrality measures can depend on the network structure</a:t>
            </a:r>
          </a:p>
        </p:txBody>
      </p:sp>
      <p:sp>
        <p:nvSpPr>
          <p:cNvPr id="10" name="TextBox 9">
            <a:extLst>
              <a:ext uri="{FF2B5EF4-FFF2-40B4-BE49-F238E27FC236}">
                <a16:creationId xmlns:a16="http://schemas.microsoft.com/office/drawing/2014/main" id="{6FB68906-B58F-2011-B725-5EF7CEF4B7C7}"/>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Tree>
    <p:extLst>
      <p:ext uri="{BB962C8B-B14F-4D97-AF65-F5344CB8AC3E}">
        <p14:creationId xmlns:p14="http://schemas.microsoft.com/office/powerpoint/2010/main" val="39043725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2.    Describing microscale structure of networks</a:t>
            </a:r>
            <a:endParaRPr lang="en-US" sz="2400" b="1" i="1" dirty="0"/>
          </a:p>
        </p:txBody>
      </p:sp>
      <p:sp>
        <p:nvSpPr>
          <p:cNvPr id="8" name="TextBox 7">
            <a:extLst>
              <a:ext uri="{FF2B5EF4-FFF2-40B4-BE49-F238E27FC236}">
                <a16:creationId xmlns:a16="http://schemas.microsoft.com/office/drawing/2014/main" id="{FBBB02B4-E33B-160A-D175-D40905ACB183}"/>
              </a:ext>
            </a:extLst>
          </p:cNvPr>
          <p:cNvSpPr txBox="1"/>
          <p:nvPr/>
        </p:nvSpPr>
        <p:spPr>
          <a:xfrm>
            <a:off x="1510344" y="1960678"/>
            <a:ext cx="8851554" cy="1015663"/>
          </a:xfrm>
          <a:prstGeom prst="rect">
            <a:avLst/>
          </a:prstGeom>
          <a:solidFill>
            <a:schemeClr val="accent1">
              <a:lumMod val="75000"/>
            </a:schemeClr>
          </a:solidFill>
        </p:spPr>
        <p:txBody>
          <a:bodyPr wrap="square" rtlCol="0">
            <a:spAutoFit/>
          </a:bodyPr>
          <a:lstStyle/>
          <a:p>
            <a:pPr algn="ctr"/>
            <a:r>
              <a:rPr lang="en-US" sz="3000" b="1" dirty="0">
                <a:solidFill>
                  <a:schemeClr val="bg1"/>
                </a:solidFill>
              </a:rPr>
              <a:t>1. Go to the R Markdown for Session 2 and work through the section SESSION 2: PART 2 </a:t>
            </a:r>
          </a:p>
        </p:txBody>
      </p:sp>
    </p:spTree>
    <p:extLst>
      <p:ext uri="{BB962C8B-B14F-4D97-AF65-F5344CB8AC3E}">
        <p14:creationId xmlns:p14="http://schemas.microsoft.com/office/powerpoint/2010/main" val="7986959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3.    Describing mesoscale structure of networks</a:t>
            </a:r>
            <a:endParaRPr lang="en-US" sz="2400" b="1" i="1" dirty="0"/>
          </a:p>
        </p:txBody>
      </p:sp>
      <p:sp>
        <p:nvSpPr>
          <p:cNvPr id="3" name="TextBox 2">
            <a:extLst>
              <a:ext uri="{FF2B5EF4-FFF2-40B4-BE49-F238E27FC236}">
                <a16:creationId xmlns:a16="http://schemas.microsoft.com/office/drawing/2014/main" id="{A4B32E33-2613-31DD-A1B8-9D92A687C9F3}"/>
              </a:ext>
            </a:extLst>
          </p:cNvPr>
          <p:cNvSpPr txBox="1"/>
          <p:nvPr/>
        </p:nvSpPr>
        <p:spPr>
          <a:xfrm>
            <a:off x="1272988" y="1631578"/>
            <a:ext cx="9861177" cy="2554545"/>
          </a:xfrm>
          <a:prstGeom prst="rect">
            <a:avLst/>
          </a:prstGeom>
          <a:noFill/>
        </p:spPr>
        <p:txBody>
          <a:bodyPr wrap="square" rtlCol="0">
            <a:spAutoFit/>
          </a:bodyPr>
          <a:lstStyle/>
          <a:p>
            <a:r>
              <a:rPr lang="en-US" sz="2000" dirty="0"/>
              <a:t>It might also be important to identify the structure of </a:t>
            </a:r>
            <a:r>
              <a:rPr lang="en-US" sz="2000" dirty="0" err="1"/>
              <a:t>neighbourhoods</a:t>
            </a:r>
            <a:r>
              <a:rPr lang="en-US" sz="2000" dirty="0"/>
              <a:t> within networks as they could have important ecological and evolutionary consequences</a:t>
            </a:r>
          </a:p>
          <a:p>
            <a:endParaRPr lang="en-US" sz="2000" dirty="0"/>
          </a:p>
          <a:p>
            <a:r>
              <a:rPr lang="en-US" sz="2000" dirty="0"/>
              <a:t>We are going to focus on </a:t>
            </a:r>
            <a:r>
              <a:rPr lang="en-US" sz="2000" b="1" dirty="0"/>
              <a:t>Community Structure </a:t>
            </a:r>
            <a:r>
              <a:rPr lang="en-US" sz="2000" dirty="0"/>
              <a:t>which is known to be important in animal networks</a:t>
            </a:r>
          </a:p>
          <a:p>
            <a:endParaRPr lang="en-US" sz="2000" dirty="0"/>
          </a:p>
          <a:p>
            <a:endParaRPr lang="en-US" sz="2000" dirty="0"/>
          </a:p>
          <a:p>
            <a:endParaRPr lang="en-US" sz="2000" b="1" dirty="0"/>
          </a:p>
        </p:txBody>
      </p:sp>
    </p:spTree>
    <p:extLst>
      <p:ext uri="{BB962C8B-B14F-4D97-AF65-F5344CB8AC3E}">
        <p14:creationId xmlns:p14="http://schemas.microsoft.com/office/powerpoint/2010/main" val="1521587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3.    Describing mesoscale structure of networks</a:t>
            </a:r>
            <a:endParaRPr lang="en-US" sz="2400" b="1" i="1" dirty="0"/>
          </a:p>
        </p:txBody>
      </p:sp>
      <p:sp>
        <p:nvSpPr>
          <p:cNvPr id="7" name="TextBox 6">
            <a:extLst>
              <a:ext uri="{FF2B5EF4-FFF2-40B4-BE49-F238E27FC236}">
                <a16:creationId xmlns:a16="http://schemas.microsoft.com/office/drawing/2014/main" id="{FFD9321C-83C7-41D6-9D81-99BA2EA238AF}"/>
              </a:ext>
            </a:extLst>
          </p:cNvPr>
          <p:cNvSpPr txBox="1"/>
          <p:nvPr/>
        </p:nvSpPr>
        <p:spPr>
          <a:xfrm>
            <a:off x="1272988" y="1631578"/>
            <a:ext cx="9861177" cy="400110"/>
          </a:xfrm>
          <a:prstGeom prst="rect">
            <a:avLst/>
          </a:prstGeom>
          <a:noFill/>
        </p:spPr>
        <p:txBody>
          <a:bodyPr wrap="square" rtlCol="0">
            <a:spAutoFit/>
          </a:bodyPr>
          <a:lstStyle/>
          <a:p>
            <a:r>
              <a:rPr lang="en-US" sz="2000" b="1" dirty="0"/>
              <a:t>COMMUNITY STRUCTURE</a:t>
            </a:r>
          </a:p>
        </p:txBody>
      </p:sp>
      <p:pic>
        <p:nvPicPr>
          <p:cNvPr id="8" name="Picture 7">
            <a:extLst>
              <a:ext uri="{FF2B5EF4-FFF2-40B4-BE49-F238E27FC236}">
                <a16:creationId xmlns:a16="http://schemas.microsoft.com/office/drawing/2014/main" id="{F5D7DDA2-FD76-4B96-9103-E8273B7BBE1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7056" t="12128" r="21140" b="17368"/>
          <a:stretch/>
        </p:blipFill>
        <p:spPr>
          <a:xfrm>
            <a:off x="1272988" y="2233751"/>
            <a:ext cx="4294459" cy="4174836"/>
          </a:xfrm>
          <a:prstGeom prst="rect">
            <a:avLst/>
          </a:prstGeom>
        </p:spPr>
      </p:pic>
      <p:sp>
        <p:nvSpPr>
          <p:cNvPr id="9" name="TextBox 8">
            <a:extLst>
              <a:ext uri="{FF2B5EF4-FFF2-40B4-BE49-F238E27FC236}">
                <a16:creationId xmlns:a16="http://schemas.microsoft.com/office/drawing/2014/main" id="{51B4C914-BE5C-408F-A17E-FEB8752077F4}"/>
              </a:ext>
            </a:extLst>
          </p:cNvPr>
          <p:cNvSpPr txBox="1"/>
          <p:nvPr/>
        </p:nvSpPr>
        <p:spPr>
          <a:xfrm>
            <a:off x="5798745" y="2638122"/>
            <a:ext cx="5820600" cy="2862322"/>
          </a:xfrm>
          <a:prstGeom prst="rect">
            <a:avLst/>
          </a:prstGeom>
          <a:noFill/>
        </p:spPr>
        <p:txBody>
          <a:bodyPr wrap="square">
            <a:spAutoFit/>
          </a:bodyPr>
          <a:lstStyle/>
          <a:p>
            <a:r>
              <a:rPr lang="en-US" sz="2000" dirty="0"/>
              <a:t>Some networks are divided into groups which have more edges within clusters than between them.</a:t>
            </a:r>
            <a:endParaRPr lang="en-US" sz="2000" i="1" dirty="0"/>
          </a:p>
          <a:p>
            <a:endParaRPr lang="en-US" sz="2000" i="1" dirty="0"/>
          </a:p>
          <a:p>
            <a:endParaRPr lang="en-US" sz="2000" dirty="0"/>
          </a:p>
          <a:p>
            <a:r>
              <a:rPr lang="en-US" sz="2000" dirty="0"/>
              <a:t>These are called modules or communities</a:t>
            </a:r>
          </a:p>
          <a:p>
            <a:endParaRPr lang="en-US" sz="2000" dirty="0"/>
          </a:p>
          <a:p>
            <a:endParaRPr lang="en-US" sz="2000" dirty="0"/>
          </a:p>
          <a:p>
            <a:r>
              <a:rPr lang="en-US" sz="2000" dirty="0"/>
              <a:t>Community structure can be important for ecological processes such as disease transmission</a:t>
            </a:r>
          </a:p>
        </p:txBody>
      </p:sp>
    </p:spTree>
    <p:extLst>
      <p:ext uri="{BB962C8B-B14F-4D97-AF65-F5344CB8AC3E}">
        <p14:creationId xmlns:p14="http://schemas.microsoft.com/office/powerpoint/2010/main" val="7498375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3.    Describing mesoscale structure of networks</a:t>
            </a:r>
            <a:endParaRPr lang="en-US" sz="2400" b="1" i="1" dirty="0"/>
          </a:p>
        </p:txBody>
      </p:sp>
      <p:sp>
        <p:nvSpPr>
          <p:cNvPr id="7" name="TextBox 6">
            <a:extLst>
              <a:ext uri="{FF2B5EF4-FFF2-40B4-BE49-F238E27FC236}">
                <a16:creationId xmlns:a16="http://schemas.microsoft.com/office/drawing/2014/main" id="{FFD9321C-83C7-41D6-9D81-99BA2EA238AF}"/>
              </a:ext>
            </a:extLst>
          </p:cNvPr>
          <p:cNvSpPr txBox="1"/>
          <p:nvPr/>
        </p:nvSpPr>
        <p:spPr>
          <a:xfrm>
            <a:off x="1272988" y="1631578"/>
            <a:ext cx="9861177" cy="400110"/>
          </a:xfrm>
          <a:prstGeom prst="rect">
            <a:avLst/>
          </a:prstGeom>
          <a:noFill/>
        </p:spPr>
        <p:txBody>
          <a:bodyPr wrap="square" rtlCol="0">
            <a:spAutoFit/>
          </a:bodyPr>
          <a:lstStyle/>
          <a:p>
            <a:r>
              <a:rPr lang="en-US" sz="2000" b="1" dirty="0"/>
              <a:t>COMMUNITY STRUCTURE</a:t>
            </a:r>
          </a:p>
        </p:txBody>
      </p:sp>
      <p:pic>
        <p:nvPicPr>
          <p:cNvPr id="3" name="Picture 2">
            <a:extLst>
              <a:ext uri="{FF2B5EF4-FFF2-40B4-BE49-F238E27FC236}">
                <a16:creationId xmlns:a16="http://schemas.microsoft.com/office/drawing/2014/main" id="{DAACF9AD-78F0-4880-835C-9B89C1CE62B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55136" y="2233751"/>
            <a:ext cx="8592792" cy="4242071"/>
          </a:xfrm>
          <a:prstGeom prst="rect">
            <a:avLst/>
          </a:prstGeom>
        </p:spPr>
      </p:pic>
    </p:spTree>
    <p:extLst>
      <p:ext uri="{BB962C8B-B14F-4D97-AF65-F5344CB8AC3E}">
        <p14:creationId xmlns:p14="http://schemas.microsoft.com/office/powerpoint/2010/main" val="25865995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3.    Describing mesoscale structure of networks</a:t>
            </a:r>
            <a:endParaRPr lang="en-US" sz="2400" b="1" i="1" dirty="0"/>
          </a:p>
        </p:txBody>
      </p:sp>
      <p:sp>
        <p:nvSpPr>
          <p:cNvPr id="7" name="TextBox 6">
            <a:extLst>
              <a:ext uri="{FF2B5EF4-FFF2-40B4-BE49-F238E27FC236}">
                <a16:creationId xmlns:a16="http://schemas.microsoft.com/office/drawing/2014/main" id="{FFD9321C-83C7-41D6-9D81-99BA2EA238AF}"/>
              </a:ext>
            </a:extLst>
          </p:cNvPr>
          <p:cNvSpPr txBox="1"/>
          <p:nvPr/>
        </p:nvSpPr>
        <p:spPr>
          <a:xfrm>
            <a:off x="1272988" y="1631578"/>
            <a:ext cx="9861177" cy="400110"/>
          </a:xfrm>
          <a:prstGeom prst="rect">
            <a:avLst/>
          </a:prstGeom>
          <a:noFill/>
        </p:spPr>
        <p:txBody>
          <a:bodyPr wrap="square" rtlCol="0">
            <a:spAutoFit/>
          </a:bodyPr>
          <a:lstStyle/>
          <a:p>
            <a:r>
              <a:rPr lang="en-US" sz="2000" b="1" dirty="0"/>
              <a:t>COMMUNITY STRUCTURE</a:t>
            </a:r>
          </a:p>
        </p:txBody>
      </p:sp>
      <p:pic>
        <p:nvPicPr>
          <p:cNvPr id="8" name="Picture 7">
            <a:extLst>
              <a:ext uri="{FF2B5EF4-FFF2-40B4-BE49-F238E27FC236}">
                <a16:creationId xmlns:a16="http://schemas.microsoft.com/office/drawing/2014/main" id="{F5D7DDA2-FD76-4B96-9103-E8273B7BBE1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7056" t="12128" r="21140" b="17368"/>
          <a:stretch/>
        </p:blipFill>
        <p:spPr>
          <a:xfrm>
            <a:off x="1272988" y="2233751"/>
            <a:ext cx="4294459" cy="4174836"/>
          </a:xfrm>
          <a:prstGeom prst="rect">
            <a:avLst/>
          </a:prstGeom>
        </p:spPr>
      </p:pic>
      <p:sp>
        <p:nvSpPr>
          <p:cNvPr id="9" name="TextBox 8">
            <a:extLst>
              <a:ext uri="{FF2B5EF4-FFF2-40B4-BE49-F238E27FC236}">
                <a16:creationId xmlns:a16="http://schemas.microsoft.com/office/drawing/2014/main" id="{51B4C914-BE5C-408F-A17E-FEB8752077F4}"/>
              </a:ext>
            </a:extLst>
          </p:cNvPr>
          <p:cNvSpPr txBox="1"/>
          <p:nvPr/>
        </p:nvSpPr>
        <p:spPr>
          <a:xfrm>
            <a:off x="5798745" y="2233751"/>
            <a:ext cx="5820600" cy="4093428"/>
          </a:xfrm>
          <a:prstGeom prst="rect">
            <a:avLst/>
          </a:prstGeom>
          <a:noFill/>
        </p:spPr>
        <p:txBody>
          <a:bodyPr wrap="square">
            <a:spAutoFit/>
          </a:bodyPr>
          <a:lstStyle/>
          <a:p>
            <a:r>
              <a:rPr lang="en-US" sz="2000" dirty="0"/>
              <a:t>There are two routes to finding community structure:</a:t>
            </a:r>
          </a:p>
          <a:p>
            <a:endParaRPr lang="en-US" sz="2000" dirty="0"/>
          </a:p>
          <a:p>
            <a:pPr marL="457200" indent="-457200">
              <a:buAutoNum type="arabicPeriod"/>
            </a:pPr>
            <a:r>
              <a:rPr lang="en-US" sz="2000" b="1" dirty="0"/>
              <a:t>Community detection algorithms</a:t>
            </a:r>
          </a:p>
          <a:p>
            <a:pPr marL="457200" indent="-457200">
              <a:buAutoNum type="arabicPeriod"/>
            </a:pPr>
            <a:endParaRPr lang="en-US" sz="2000" b="1" dirty="0"/>
          </a:p>
          <a:p>
            <a:pPr marL="457200" indent="-457200">
              <a:buAutoNum type="arabicPeriod"/>
            </a:pPr>
            <a:r>
              <a:rPr lang="en-US" sz="2000" b="1" dirty="0"/>
              <a:t>Statistical models </a:t>
            </a:r>
            <a:r>
              <a:rPr lang="en-US" sz="2000" dirty="0"/>
              <a:t>called stochastic block models</a:t>
            </a:r>
          </a:p>
          <a:p>
            <a:pPr marL="457200" indent="-457200">
              <a:buAutoNum type="arabicPeriod"/>
            </a:pPr>
            <a:endParaRPr lang="en-US" sz="2000" b="1" dirty="0"/>
          </a:p>
          <a:p>
            <a:pPr marL="457200" indent="-457200">
              <a:buAutoNum type="arabicPeriod"/>
            </a:pPr>
            <a:endParaRPr lang="en-US" sz="2000" b="1" dirty="0"/>
          </a:p>
          <a:p>
            <a:r>
              <a:rPr lang="en-US" sz="2000" dirty="0"/>
              <a:t>We will introduce community detection algorithms here as a descriptive tool but be warned that they need to be used carefully; using statistical models is better for formal analysis of communities</a:t>
            </a:r>
          </a:p>
          <a:p>
            <a:r>
              <a:rPr lang="en-US" sz="2000" dirty="0">
                <a:hlinkClick r:id="rId3"/>
              </a:rPr>
              <a:t>https://skewed.de/tiago/blog/descriptive-inferential</a:t>
            </a:r>
            <a:endParaRPr lang="en-US" sz="2000" dirty="0"/>
          </a:p>
          <a:p>
            <a:endParaRPr lang="en-US" sz="2000" dirty="0"/>
          </a:p>
        </p:txBody>
      </p:sp>
    </p:spTree>
    <p:extLst>
      <p:ext uri="{BB962C8B-B14F-4D97-AF65-F5344CB8AC3E}">
        <p14:creationId xmlns:p14="http://schemas.microsoft.com/office/powerpoint/2010/main" val="9425407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3.    Describing mesoscale structure of networks</a:t>
            </a:r>
            <a:endParaRPr lang="en-US" sz="2400" b="1" i="1" dirty="0"/>
          </a:p>
        </p:txBody>
      </p:sp>
      <p:sp>
        <p:nvSpPr>
          <p:cNvPr id="7" name="TextBox 6">
            <a:extLst>
              <a:ext uri="{FF2B5EF4-FFF2-40B4-BE49-F238E27FC236}">
                <a16:creationId xmlns:a16="http://schemas.microsoft.com/office/drawing/2014/main" id="{FFD9321C-83C7-41D6-9D81-99BA2EA238AF}"/>
              </a:ext>
            </a:extLst>
          </p:cNvPr>
          <p:cNvSpPr txBox="1"/>
          <p:nvPr/>
        </p:nvSpPr>
        <p:spPr>
          <a:xfrm>
            <a:off x="1272988" y="1631578"/>
            <a:ext cx="9861177" cy="400110"/>
          </a:xfrm>
          <a:prstGeom prst="rect">
            <a:avLst/>
          </a:prstGeom>
          <a:noFill/>
        </p:spPr>
        <p:txBody>
          <a:bodyPr wrap="square" rtlCol="0">
            <a:spAutoFit/>
          </a:bodyPr>
          <a:lstStyle/>
          <a:p>
            <a:r>
              <a:rPr lang="en-US" sz="2000" b="1" dirty="0"/>
              <a:t>COMMUNITY STRUCTURE</a:t>
            </a:r>
          </a:p>
        </p:txBody>
      </p:sp>
      <p:pic>
        <p:nvPicPr>
          <p:cNvPr id="8" name="Picture 7">
            <a:extLst>
              <a:ext uri="{FF2B5EF4-FFF2-40B4-BE49-F238E27FC236}">
                <a16:creationId xmlns:a16="http://schemas.microsoft.com/office/drawing/2014/main" id="{F5D7DDA2-FD76-4B96-9103-E8273B7BBE1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7056" t="12128" r="21140" b="17368"/>
          <a:stretch/>
        </p:blipFill>
        <p:spPr>
          <a:xfrm>
            <a:off x="1272988" y="2233751"/>
            <a:ext cx="4294459" cy="4174836"/>
          </a:xfrm>
          <a:prstGeom prst="rect">
            <a:avLst/>
          </a:prstGeom>
        </p:spPr>
      </p:pic>
      <p:sp>
        <p:nvSpPr>
          <p:cNvPr id="9" name="TextBox 8">
            <a:extLst>
              <a:ext uri="{FF2B5EF4-FFF2-40B4-BE49-F238E27FC236}">
                <a16:creationId xmlns:a16="http://schemas.microsoft.com/office/drawing/2014/main" id="{51B4C914-BE5C-408F-A17E-FEB8752077F4}"/>
              </a:ext>
            </a:extLst>
          </p:cNvPr>
          <p:cNvSpPr txBox="1"/>
          <p:nvPr/>
        </p:nvSpPr>
        <p:spPr>
          <a:xfrm>
            <a:off x="5798745" y="2233751"/>
            <a:ext cx="5820600" cy="3477875"/>
          </a:xfrm>
          <a:prstGeom prst="rect">
            <a:avLst/>
          </a:prstGeom>
          <a:noFill/>
        </p:spPr>
        <p:txBody>
          <a:bodyPr wrap="square">
            <a:spAutoFit/>
          </a:bodyPr>
          <a:lstStyle/>
          <a:p>
            <a:r>
              <a:rPr lang="en-US" sz="2000" dirty="0"/>
              <a:t>There are two routes to finding community structure:</a:t>
            </a:r>
          </a:p>
          <a:p>
            <a:endParaRPr lang="en-US" sz="2000" dirty="0"/>
          </a:p>
          <a:p>
            <a:pPr marL="457200" indent="-457200">
              <a:buAutoNum type="arabicPeriod"/>
            </a:pPr>
            <a:r>
              <a:rPr lang="en-US" sz="2000" b="1" dirty="0"/>
              <a:t>Community detection algorithms</a:t>
            </a:r>
          </a:p>
          <a:p>
            <a:endParaRPr lang="en-US" sz="2000" dirty="0"/>
          </a:p>
          <a:p>
            <a:r>
              <a:rPr lang="en-US" sz="2000" dirty="0"/>
              <a:t>There are MANY community detection algorithms:</a:t>
            </a:r>
          </a:p>
          <a:p>
            <a:r>
              <a:rPr lang="en-US" sz="2000" dirty="0">
                <a:hlinkClick r:id="rId3"/>
              </a:rPr>
              <a:t>https://igraph.org/c/doc/igraph-Community.html</a:t>
            </a:r>
            <a:endParaRPr lang="en-US" sz="2000" dirty="0"/>
          </a:p>
          <a:p>
            <a:endParaRPr lang="en-US" sz="2000" dirty="0"/>
          </a:p>
          <a:p>
            <a:r>
              <a:rPr lang="en-US" sz="2000" dirty="0"/>
              <a:t>They won’t always give the same results</a:t>
            </a:r>
          </a:p>
          <a:p>
            <a:endParaRPr lang="en-US" sz="2000" dirty="0"/>
          </a:p>
          <a:p>
            <a:r>
              <a:rPr lang="en-US" sz="2000" dirty="0"/>
              <a:t>It can be difficult to decide which is best – read the help pages carefully for clues</a:t>
            </a:r>
          </a:p>
        </p:txBody>
      </p:sp>
    </p:spTree>
    <p:extLst>
      <p:ext uri="{BB962C8B-B14F-4D97-AF65-F5344CB8AC3E}">
        <p14:creationId xmlns:p14="http://schemas.microsoft.com/office/powerpoint/2010/main" val="8204869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3.    Describing mesoscale structure of networks</a:t>
            </a:r>
            <a:endParaRPr lang="en-US" sz="2400" b="1" i="1" dirty="0"/>
          </a:p>
        </p:txBody>
      </p:sp>
      <p:sp>
        <p:nvSpPr>
          <p:cNvPr id="7" name="TextBox 6">
            <a:extLst>
              <a:ext uri="{FF2B5EF4-FFF2-40B4-BE49-F238E27FC236}">
                <a16:creationId xmlns:a16="http://schemas.microsoft.com/office/drawing/2014/main" id="{FFD9321C-83C7-41D6-9D81-99BA2EA238AF}"/>
              </a:ext>
            </a:extLst>
          </p:cNvPr>
          <p:cNvSpPr txBox="1"/>
          <p:nvPr/>
        </p:nvSpPr>
        <p:spPr>
          <a:xfrm>
            <a:off x="1272988" y="1631578"/>
            <a:ext cx="9861177" cy="400110"/>
          </a:xfrm>
          <a:prstGeom prst="rect">
            <a:avLst/>
          </a:prstGeom>
          <a:noFill/>
        </p:spPr>
        <p:txBody>
          <a:bodyPr wrap="square" rtlCol="0">
            <a:spAutoFit/>
          </a:bodyPr>
          <a:lstStyle/>
          <a:p>
            <a:r>
              <a:rPr lang="en-US" sz="2000" b="1" dirty="0"/>
              <a:t>COMMUNITY STRUCTURE</a:t>
            </a:r>
          </a:p>
        </p:txBody>
      </p:sp>
      <p:pic>
        <p:nvPicPr>
          <p:cNvPr id="8" name="Picture 7">
            <a:extLst>
              <a:ext uri="{FF2B5EF4-FFF2-40B4-BE49-F238E27FC236}">
                <a16:creationId xmlns:a16="http://schemas.microsoft.com/office/drawing/2014/main" id="{F5D7DDA2-FD76-4B96-9103-E8273B7BBE1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7056" t="12128" r="21140" b="17368"/>
          <a:stretch/>
        </p:blipFill>
        <p:spPr>
          <a:xfrm>
            <a:off x="1272988" y="2233751"/>
            <a:ext cx="4294459" cy="4174836"/>
          </a:xfrm>
          <a:prstGeom prst="rect">
            <a:avLst/>
          </a:prstGeom>
        </p:spPr>
      </p:pic>
      <p:sp>
        <p:nvSpPr>
          <p:cNvPr id="9" name="TextBox 8">
            <a:extLst>
              <a:ext uri="{FF2B5EF4-FFF2-40B4-BE49-F238E27FC236}">
                <a16:creationId xmlns:a16="http://schemas.microsoft.com/office/drawing/2014/main" id="{51B4C914-BE5C-408F-A17E-FEB8752077F4}"/>
              </a:ext>
            </a:extLst>
          </p:cNvPr>
          <p:cNvSpPr txBox="1"/>
          <p:nvPr/>
        </p:nvSpPr>
        <p:spPr>
          <a:xfrm>
            <a:off x="5798745" y="2233751"/>
            <a:ext cx="5820600" cy="4093428"/>
          </a:xfrm>
          <a:prstGeom prst="rect">
            <a:avLst/>
          </a:prstGeom>
          <a:noFill/>
        </p:spPr>
        <p:txBody>
          <a:bodyPr wrap="square">
            <a:spAutoFit/>
          </a:bodyPr>
          <a:lstStyle/>
          <a:p>
            <a:r>
              <a:rPr lang="en-US" sz="2000" dirty="0"/>
              <a:t>There are two routes to finding community structure:</a:t>
            </a:r>
          </a:p>
          <a:p>
            <a:endParaRPr lang="en-US" sz="2000" dirty="0"/>
          </a:p>
          <a:p>
            <a:pPr marL="457200" indent="-457200">
              <a:buAutoNum type="arabicPeriod"/>
            </a:pPr>
            <a:r>
              <a:rPr lang="en-US" sz="2000" b="1" dirty="0"/>
              <a:t>Community detection algorithms</a:t>
            </a:r>
          </a:p>
          <a:p>
            <a:endParaRPr lang="en-US" sz="2000" dirty="0"/>
          </a:p>
          <a:p>
            <a:r>
              <a:rPr lang="en-US" sz="2000" dirty="0"/>
              <a:t>There are MANY community detection algorithms:</a:t>
            </a:r>
          </a:p>
          <a:p>
            <a:r>
              <a:rPr lang="en-US" sz="2000" dirty="0">
                <a:hlinkClick r:id="rId3"/>
              </a:rPr>
              <a:t>https://igraph.org/c/doc/igraph-Community.html</a:t>
            </a:r>
            <a:endParaRPr lang="en-US" sz="2000" dirty="0"/>
          </a:p>
          <a:p>
            <a:endParaRPr lang="en-US" sz="2000" dirty="0"/>
          </a:p>
          <a:p>
            <a:r>
              <a:rPr lang="en-US" sz="2000" dirty="0"/>
              <a:t>They won’t always give the same results</a:t>
            </a:r>
          </a:p>
          <a:p>
            <a:endParaRPr lang="en-US" sz="2000" dirty="0"/>
          </a:p>
          <a:p>
            <a:r>
              <a:rPr lang="en-US" sz="2000" dirty="0"/>
              <a:t>It can be difficult to decide which is best – read the help pages carefully for clues</a:t>
            </a:r>
          </a:p>
          <a:p>
            <a:endParaRPr lang="en-US" sz="2000" dirty="0"/>
          </a:p>
          <a:p>
            <a:r>
              <a:rPr lang="en-US" sz="2000" dirty="0"/>
              <a:t>The </a:t>
            </a:r>
            <a:r>
              <a:rPr lang="en-US" sz="2000" b="1" dirty="0" err="1"/>
              <a:t>infomap</a:t>
            </a:r>
            <a:r>
              <a:rPr lang="en-US" sz="2000" dirty="0"/>
              <a:t> algorithm is often a good place to start</a:t>
            </a:r>
          </a:p>
        </p:txBody>
      </p:sp>
    </p:spTree>
    <p:extLst>
      <p:ext uri="{BB962C8B-B14F-4D97-AF65-F5344CB8AC3E}">
        <p14:creationId xmlns:p14="http://schemas.microsoft.com/office/powerpoint/2010/main" val="2258918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3.    Describing mesoscale structure of networks</a:t>
            </a:r>
            <a:endParaRPr lang="en-US" sz="2400" b="1" i="1" dirty="0"/>
          </a:p>
        </p:txBody>
      </p:sp>
      <p:sp>
        <p:nvSpPr>
          <p:cNvPr id="7" name="TextBox 6">
            <a:extLst>
              <a:ext uri="{FF2B5EF4-FFF2-40B4-BE49-F238E27FC236}">
                <a16:creationId xmlns:a16="http://schemas.microsoft.com/office/drawing/2014/main" id="{FFD9321C-83C7-41D6-9D81-99BA2EA238AF}"/>
              </a:ext>
            </a:extLst>
          </p:cNvPr>
          <p:cNvSpPr txBox="1"/>
          <p:nvPr/>
        </p:nvSpPr>
        <p:spPr>
          <a:xfrm>
            <a:off x="1272988" y="1631578"/>
            <a:ext cx="9861177" cy="400110"/>
          </a:xfrm>
          <a:prstGeom prst="rect">
            <a:avLst/>
          </a:prstGeom>
          <a:noFill/>
        </p:spPr>
        <p:txBody>
          <a:bodyPr wrap="square" rtlCol="0">
            <a:spAutoFit/>
          </a:bodyPr>
          <a:lstStyle/>
          <a:p>
            <a:r>
              <a:rPr lang="en-US" sz="2000" b="1" dirty="0"/>
              <a:t>COMMUNITY STRUCTURE</a:t>
            </a:r>
          </a:p>
        </p:txBody>
      </p:sp>
      <p:pic>
        <p:nvPicPr>
          <p:cNvPr id="8" name="Picture 7">
            <a:extLst>
              <a:ext uri="{FF2B5EF4-FFF2-40B4-BE49-F238E27FC236}">
                <a16:creationId xmlns:a16="http://schemas.microsoft.com/office/drawing/2014/main" id="{F5D7DDA2-FD76-4B96-9103-E8273B7BBE1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7056" t="12128" r="21140" b="17368"/>
          <a:stretch/>
        </p:blipFill>
        <p:spPr>
          <a:xfrm>
            <a:off x="1272988" y="2233751"/>
            <a:ext cx="4294459" cy="4174836"/>
          </a:xfrm>
          <a:prstGeom prst="rect">
            <a:avLst/>
          </a:prstGeom>
        </p:spPr>
      </p:pic>
      <p:sp>
        <p:nvSpPr>
          <p:cNvPr id="9" name="TextBox 8">
            <a:extLst>
              <a:ext uri="{FF2B5EF4-FFF2-40B4-BE49-F238E27FC236}">
                <a16:creationId xmlns:a16="http://schemas.microsoft.com/office/drawing/2014/main" id="{51B4C914-BE5C-408F-A17E-FEB8752077F4}"/>
              </a:ext>
            </a:extLst>
          </p:cNvPr>
          <p:cNvSpPr txBox="1"/>
          <p:nvPr/>
        </p:nvSpPr>
        <p:spPr>
          <a:xfrm>
            <a:off x="5798745" y="2233751"/>
            <a:ext cx="5820600" cy="3785652"/>
          </a:xfrm>
          <a:prstGeom prst="rect">
            <a:avLst/>
          </a:prstGeom>
          <a:noFill/>
        </p:spPr>
        <p:txBody>
          <a:bodyPr wrap="square">
            <a:spAutoFit/>
          </a:bodyPr>
          <a:lstStyle/>
          <a:p>
            <a:r>
              <a:rPr lang="en-US" sz="2000" dirty="0"/>
              <a:t>There are two routes to finding community structure:</a:t>
            </a:r>
          </a:p>
          <a:p>
            <a:endParaRPr lang="en-US" sz="2000" dirty="0"/>
          </a:p>
          <a:p>
            <a:pPr marL="457200" indent="-457200">
              <a:buAutoNum type="arabicPeriod"/>
            </a:pPr>
            <a:r>
              <a:rPr lang="en-US" sz="2000" b="1" dirty="0"/>
              <a:t>Community detection algorithms</a:t>
            </a:r>
          </a:p>
          <a:p>
            <a:endParaRPr lang="en-US" sz="2000" dirty="0"/>
          </a:p>
          <a:p>
            <a:r>
              <a:rPr lang="en-US" sz="2000" dirty="0"/>
              <a:t>Most community detection methods </a:t>
            </a:r>
            <a:r>
              <a:rPr lang="en-US" sz="2000" dirty="0" err="1"/>
              <a:t>maximise</a:t>
            </a:r>
            <a:r>
              <a:rPr lang="en-US" sz="2000" dirty="0"/>
              <a:t> </a:t>
            </a:r>
            <a:r>
              <a:rPr lang="en-US" sz="2000" b="1" dirty="0"/>
              <a:t>MODULARITY</a:t>
            </a:r>
          </a:p>
          <a:p>
            <a:endParaRPr lang="en-US" sz="2000" b="1" dirty="0"/>
          </a:p>
          <a:p>
            <a:r>
              <a:rPr lang="en-US" sz="2000" dirty="0"/>
              <a:t>Modularity is a measure of the strength of division of a network into the assigned groups</a:t>
            </a:r>
          </a:p>
          <a:p>
            <a:endParaRPr lang="en-US" sz="2000" dirty="0"/>
          </a:p>
          <a:p>
            <a:r>
              <a:rPr lang="en-US" sz="2000" b="1" i="1" dirty="0"/>
              <a:t>High modularity indicates many more connections within groups than expected by chance</a:t>
            </a:r>
          </a:p>
        </p:txBody>
      </p:sp>
    </p:spTree>
    <p:extLst>
      <p:ext uri="{BB962C8B-B14F-4D97-AF65-F5344CB8AC3E}">
        <p14:creationId xmlns:p14="http://schemas.microsoft.com/office/powerpoint/2010/main" val="27379464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Tree>
    <p:extLst>
      <p:ext uri="{BB962C8B-B14F-4D97-AF65-F5344CB8AC3E}">
        <p14:creationId xmlns:p14="http://schemas.microsoft.com/office/powerpoint/2010/main" val="12336816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77680"/>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DENSITY (sometimes called </a:t>
            </a:r>
            <a:r>
              <a:rPr lang="en-US" sz="2400" dirty="0" err="1">
                <a:solidFill>
                  <a:schemeClr val="accent5">
                    <a:lumMod val="20000"/>
                    <a:lumOff val="80000"/>
                  </a:schemeClr>
                </a:solidFill>
              </a:rPr>
              <a:t>connectance</a:t>
            </a:r>
            <a:r>
              <a:rPr lang="en-US" sz="2400" dirty="0">
                <a:solidFill>
                  <a:schemeClr val="accent5">
                    <a:lumMod val="20000"/>
                    <a:lumOff val="80000"/>
                  </a:schemeClr>
                </a:solidFill>
              </a:rPr>
              <a:t> for ecological networks) is the proportion of possible edges that are connected</a:t>
            </a:r>
            <a:endParaRPr lang="en-CA" sz="2400" dirty="0">
              <a:solidFill>
                <a:schemeClr val="accent5">
                  <a:lumMod val="20000"/>
                  <a:lumOff val="80000"/>
                </a:schemeClr>
              </a:solidFill>
            </a:endParaRPr>
          </a:p>
        </p:txBody>
      </p:sp>
      <p:grpSp>
        <p:nvGrpSpPr>
          <p:cNvPr id="9" name="Group 8">
            <a:extLst>
              <a:ext uri="{FF2B5EF4-FFF2-40B4-BE49-F238E27FC236}">
                <a16:creationId xmlns:a16="http://schemas.microsoft.com/office/drawing/2014/main" id="{7BBEF4BA-0757-4132-B8BB-5F7255E80D14}"/>
              </a:ext>
            </a:extLst>
          </p:cNvPr>
          <p:cNvGrpSpPr/>
          <p:nvPr/>
        </p:nvGrpSpPr>
        <p:grpSpPr>
          <a:xfrm>
            <a:off x="1768000" y="4466409"/>
            <a:ext cx="1073040" cy="1849954"/>
            <a:chOff x="9277162" y="2195066"/>
            <a:chExt cx="1788767" cy="3083888"/>
          </a:xfrm>
        </p:grpSpPr>
        <p:cxnSp>
          <p:nvCxnSpPr>
            <p:cNvPr id="10" name="Straight Connector 9">
              <a:extLst>
                <a:ext uri="{FF2B5EF4-FFF2-40B4-BE49-F238E27FC236}">
                  <a16:creationId xmlns:a16="http://schemas.microsoft.com/office/drawing/2014/main" id="{350BC722-F0B2-4096-9DBF-1893038B5079}"/>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96E64028-1098-4350-8418-575B1AEBBA14}"/>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F3DEAAB0-131F-4FC9-8BA1-E4565583AF70}"/>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FCE139C7-EC7A-4801-9AD2-B621048A74A7}"/>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5D05965C-D0DC-4159-951A-7ECA2701E7FB}"/>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70120B4A-D5BA-41B5-81B0-A738D67340F4}"/>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DBF386C3-A6AF-40DE-B01B-5AE5635F8088}"/>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4ECA3E8C-852E-4C43-86B9-782B2B8AD78F}"/>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F806CBFF-D906-4816-AB29-DB1FB689C2D2}"/>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B0862890-F104-4521-B99C-94B1EAC69CD4}"/>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8C58196-E649-4E58-98E1-61CCDD77F89B}"/>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7FC0980-58FF-4272-9D6F-E338DFB4A2E1}"/>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B62F2BC-8556-4912-B24E-F2BF263FEBFD}"/>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1F58828-8F4D-4349-8B18-8DE022553E40}"/>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4C3F966-9BBD-464B-9898-5F1C0131572B}"/>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A3EBC62-2C7E-41D8-A488-541C2FE4556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7C80547-883C-44F1-927D-5D55F295AE43}"/>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1725D98-F269-4773-9485-E182BCB4C49B}"/>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3635F2C-D2A2-41EF-8492-FB66CBC4145F}"/>
                  </a:ext>
                </a:extLst>
              </p:cNvPr>
              <p:cNvSpPr txBox="1"/>
              <p:nvPr/>
            </p:nvSpPr>
            <p:spPr>
              <a:xfrm>
                <a:off x="3648364" y="4534282"/>
                <a:ext cx="7444509" cy="1715470"/>
              </a:xfrm>
              <a:prstGeom prst="rect">
                <a:avLst/>
              </a:prstGeom>
              <a:noFill/>
            </p:spPr>
            <p:txBody>
              <a:bodyPr wrap="square" rtlCol="0">
                <a:spAutoFit/>
              </a:bodyPr>
              <a:lstStyle/>
              <a:p>
                <a:r>
                  <a:rPr lang="en-US" dirty="0"/>
                  <a:t>Density is easy to calculate for unweighted networks.</a:t>
                </a:r>
              </a:p>
              <a:p>
                <a:endParaRPr lang="en-US" dirty="0"/>
              </a:p>
              <a:p>
                <a:r>
                  <a:rPr lang="en-US" dirty="0"/>
                  <a:t>Undirected:</a:t>
                </a:r>
              </a:p>
              <a:p>
                <a:pPr/>
                <a14:m>
                  <m:oMathPara xmlns:m="http://schemas.openxmlformats.org/officeDocument/2006/math">
                    <m:oMathParaPr>
                      <m:jc m:val="centerGroup"/>
                    </m:oMathParaPr>
                    <m:oMath xmlns:m="http://schemas.openxmlformats.org/officeDocument/2006/math">
                      <m:f>
                        <m:fPr>
                          <m:ctrlPr>
                            <a:rPr lang="fr-FR" i="1" smtClean="0">
                              <a:latin typeface="Cambria Math" panose="02040503050406030204" pitchFamily="18" charset="0"/>
                            </a:rPr>
                          </m:ctrlPr>
                        </m:fPr>
                        <m:num>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𝑒𝑑𝑔𝑒𝑠</m:t>
                          </m:r>
                        </m:num>
                        <m:den>
                          <m:sSup>
                            <m:sSupPr>
                              <m:ctrlPr>
                                <a:rPr lang="fr-FR" i="1" smtClean="0">
                                  <a:latin typeface="Cambria Math" panose="02040503050406030204" pitchFamily="18" charset="0"/>
                                </a:rPr>
                              </m:ctrlPr>
                            </m:sSupPr>
                            <m:e>
                              <m:f>
                                <m:fPr>
                                  <m:ctrlPr>
                                    <a:rPr lang="fr-FR"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𝑛𝑜𝑑𝑒𝑠</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𝑛𝑜𝑑𝑒𝑠</m:t>
                          </m:r>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28</m:t>
                          </m:r>
                        </m:den>
                      </m:f>
                    </m:oMath>
                  </m:oMathPara>
                </a14:m>
                <a:endParaRPr lang="fr-FR" dirty="0"/>
              </a:p>
            </p:txBody>
          </p:sp>
        </mc:Choice>
        <mc:Fallback xmlns="">
          <p:sp>
            <p:nvSpPr>
              <p:cNvPr id="4" name="TextBox 3">
                <a:extLst>
                  <a:ext uri="{FF2B5EF4-FFF2-40B4-BE49-F238E27FC236}">
                    <a16:creationId xmlns:a16="http://schemas.microsoft.com/office/drawing/2014/main" id="{03635F2C-D2A2-41EF-8492-FB66CBC4145F}"/>
                  </a:ext>
                </a:extLst>
              </p:cNvPr>
              <p:cNvSpPr txBox="1">
                <a:spLocks noRot="1" noChangeAspect="1" noMove="1" noResize="1" noEditPoints="1" noAdjustHandles="1" noChangeArrowheads="1" noChangeShapeType="1" noTextEdit="1"/>
              </p:cNvSpPr>
              <p:nvPr/>
            </p:nvSpPr>
            <p:spPr>
              <a:xfrm>
                <a:off x="3648364" y="4534282"/>
                <a:ext cx="7444509" cy="1715470"/>
              </a:xfrm>
              <a:prstGeom prst="rect">
                <a:avLst/>
              </a:prstGeom>
              <a:blipFill>
                <a:blip r:embed="rId2"/>
                <a:stretch>
                  <a:fillRect l="-655" t="-2135"/>
                </a:stretch>
              </a:blipFill>
            </p:spPr>
            <p:txBody>
              <a:bodyPr/>
              <a:lstStyle/>
              <a:p>
                <a:r>
                  <a:rPr lang="fr-FR">
                    <a:noFill/>
                  </a:rPr>
                  <a:t> </a:t>
                </a:r>
              </a:p>
            </p:txBody>
          </p:sp>
        </mc:Fallback>
      </mc:AlternateContent>
    </p:spTree>
    <p:extLst>
      <p:ext uri="{BB962C8B-B14F-4D97-AF65-F5344CB8AC3E}">
        <p14:creationId xmlns:p14="http://schemas.microsoft.com/office/powerpoint/2010/main" val="24886203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77680"/>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DENSITY (sometimes called </a:t>
            </a:r>
            <a:r>
              <a:rPr lang="en-US" sz="2400" dirty="0" err="1">
                <a:solidFill>
                  <a:schemeClr val="accent5">
                    <a:lumMod val="20000"/>
                    <a:lumOff val="80000"/>
                  </a:schemeClr>
                </a:solidFill>
              </a:rPr>
              <a:t>connectance</a:t>
            </a:r>
            <a:r>
              <a:rPr lang="en-US" sz="2400" dirty="0">
                <a:solidFill>
                  <a:schemeClr val="accent5">
                    <a:lumMod val="20000"/>
                    <a:lumOff val="80000"/>
                  </a:schemeClr>
                </a:solidFill>
              </a:rPr>
              <a:t> for ecological networks) is the proportion of possible edges that are connected</a:t>
            </a:r>
            <a:endParaRPr lang="en-CA" sz="2400" dirty="0">
              <a:solidFill>
                <a:schemeClr val="accent5">
                  <a:lumMod val="20000"/>
                  <a:lumOff val="80000"/>
                </a:schemeClr>
              </a:solidFill>
            </a:endParaRPr>
          </a:p>
        </p:txBody>
      </p:sp>
      <p:grpSp>
        <p:nvGrpSpPr>
          <p:cNvPr id="9" name="Group 8">
            <a:extLst>
              <a:ext uri="{FF2B5EF4-FFF2-40B4-BE49-F238E27FC236}">
                <a16:creationId xmlns:a16="http://schemas.microsoft.com/office/drawing/2014/main" id="{7BBEF4BA-0757-4132-B8BB-5F7255E80D14}"/>
              </a:ext>
            </a:extLst>
          </p:cNvPr>
          <p:cNvGrpSpPr/>
          <p:nvPr/>
        </p:nvGrpSpPr>
        <p:grpSpPr>
          <a:xfrm>
            <a:off x="1768000" y="4466409"/>
            <a:ext cx="1073040" cy="1849954"/>
            <a:chOff x="9277162" y="2195066"/>
            <a:chExt cx="1788767" cy="3083888"/>
          </a:xfrm>
        </p:grpSpPr>
        <p:cxnSp>
          <p:nvCxnSpPr>
            <p:cNvPr id="10" name="Straight Connector 9">
              <a:extLst>
                <a:ext uri="{FF2B5EF4-FFF2-40B4-BE49-F238E27FC236}">
                  <a16:creationId xmlns:a16="http://schemas.microsoft.com/office/drawing/2014/main" id="{350BC722-F0B2-4096-9DBF-1893038B5079}"/>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96E64028-1098-4350-8418-575B1AEBBA14}"/>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F3DEAAB0-131F-4FC9-8BA1-E4565583AF70}"/>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FCE139C7-EC7A-4801-9AD2-B621048A74A7}"/>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5D05965C-D0DC-4159-951A-7ECA2701E7FB}"/>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70120B4A-D5BA-41B5-81B0-A738D67340F4}"/>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DBF386C3-A6AF-40DE-B01B-5AE5635F8088}"/>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4ECA3E8C-852E-4C43-86B9-782B2B8AD78F}"/>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F806CBFF-D906-4816-AB29-DB1FB689C2D2}"/>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B0862890-F104-4521-B99C-94B1EAC69CD4}"/>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8C58196-E649-4E58-98E1-61CCDD77F89B}"/>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7FC0980-58FF-4272-9D6F-E338DFB4A2E1}"/>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B62F2BC-8556-4912-B24E-F2BF263FEBFD}"/>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1F58828-8F4D-4349-8B18-8DE022553E40}"/>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4C3F966-9BBD-464B-9898-5F1C0131572B}"/>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A3EBC62-2C7E-41D8-A488-541C2FE4556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7C80547-883C-44F1-927D-5D55F295AE43}"/>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1725D98-F269-4773-9485-E182BCB4C49B}"/>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3635F2C-D2A2-41EF-8492-FB66CBC4145F}"/>
                  </a:ext>
                </a:extLst>
              </p:cNvPr>
              <p:cNvSpPr txBox="1"/>
              <p:nvPr/>
            </p:nvSpPr>
            <p:spPr>
              <a:xfrm>
                <a:off x="3648364" y="4534282"/>
                <a:ext cx="7444509" cy="1499065"/>
              </a:xfrm>
              <a:prstGeom prst="rect">
                <a:avLst/>
              </a:prstGeom>
              <a:noFill/>
            </p:spPr>
            <p:txBody>
              <a:bodyPr wrap="square" rtlCol="0">
                <a:spAutoFit/>
              </a:bodyPr>
              <a:lstStyle/>
              <a:p>
                <a:r>
                  <a:rPr lang="en-US" dirty="0"/>
                  <a:t>Density is easy to calculate for unweighted networks.</a:t>
                </a:r>
              </a:p>
              <a:p>
                <a:endParaRPr lang="en-US" dirty="0"/>
              </a:p>
              <a:p>
                <a:r>
                  <a:rPr lang="en-US" dirty="0"/>
                  <a:t>Directed:</a:t>
                </a:r>
              </a:p>
              <a:p>
                <a:pPr/>
                <a14:m>
                  <m:oMathPara xmlns:m="http://schemas.openxmlformats.org/officeDocument/2006/math">
                    <m:oMathParaPr>
                      <m:jc m:val="centerGroup"/>
                    </m:oMathParaPr>
                    <m:oMath xmlns:m="http://schemas.openxmlformats.org/officeDocument/2006/math">
                      <m:f>
                        <m:fPr>
                          <m:ctrlPr>
                            <a:rPr lang="fr-FR" i="1" smtClean="0">
                              <a:latin typeface="Cambria Math" panose="02040503050406030204" pitchFamily="18" charset="0"/>
                            </a:rPr>
                          </m:ctrlPr>
                        </m:fPr>
                        <m:num>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𝑒𝑑𝑔𝑒𝑠</m:t>
                          </m:r>
                        </m:num>
                        <m:den>
                          <m:sSup>
                            <m:sSupPr>
                              <m:ctrlPr>
                                <a:rPr lang="fr-FR" i="1" smtClean="0">
                                  <a:latin typeface="Cambria Math" panose="02040503050406030204" pitchFamily="18" charset="0"/>
                                </a:rPr>
                              </m:ctrlPr>
                            </m:sSupPr>
                            <m:e>
                              <m:r>
                                <a:rPr lang="fr-FR" i="1" smtClean="0">
                                  <a:latin typeface="Cambria Math" panose="02040503050406030204" pitchFamily="18" charset="0"/>
                                </a:rPr>
                                <m:t> </m:t>
                              </m:r>
                              <m:r>
                                <a:rPr lang="en-US" b="0" i="1" smtClean="0">
                                  <a:latin typeface="Cambria Math" panose="02040503050406030204" pitchFamily="18" charset="0"/>
                                </a:rPr>
                                <m:t>(</m:t>
                              </m:r>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𝑛𝑜𝑑𝑒𝑠</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𝑛𝑜𝑑𝑒𝑠</m:t>
                          </m:r>
                          <m:r>
                            <a:rPr lang="en-US" b="0" i="1" smtClean="0">
                              <a:latin typeface="Cambria Math" panose="02040503050406030204" pitchFamily="18" charset="0"/>
                            </a:rPr>
                            <m:t>)</m:t>
                          </m:r>
                        </m:den>
                      </m:f>
                    </m:oMath>
                  </m:oMathPara>
                </a14:m>
                <a:endParaRPr lang="fr-FR" dirty="0"/>
              </a:p>
            </p:txBody>
          </p:sp>
        </mc:Choice>
        <mc:Fallback xmlns="">
          <p:sp>
            <p:nvSpPr>
              <p:cNvPr id="4" name="TextBox 3">
                <a:extLst>
                  <a:ext uri="{FF2B5EF4-FFF2-40B4-BE49-F238E27FC236}">
                    <a16:creationId xmlns:a16="http://schemas.microsoft.com/office/drawing/2014/main" id="{03635F2C-D2A2-41EF-8492-FB66CBC4145F}"/>
                  </a:ext>
                </a:extLst>
              </p:cNvPr>
              <p:cNvSpPr txBox="1">
                <a:spLocks noRot="1" noChangeAspect="1" noMove="1" noResize="1" noEditPoints="1" noAdjustHandles="1" noChangeArrowheads="1" noChangeShapeType="1" noTextEdit="1"/>
              </p:cNvSpPr>
              <p:nvPr/>
            </p:nvSpPr>
            <p:spPr>
              <a:xfrm>
                <a:off x="3648364" y="4534282"/>
                <a:ext cx="7444509" cy="1499065"/>
              </a:xfrm>
              <a:prstGeom prst="rect">
                <a:avLst/>
              </a:prstGeom>
              <a:blipFill>
                <a:blip r:embed="rId2"/>
                <a:stretch>
                  <a:fillRect l="-655" t="-2439"/>
                </a:stretch>
              </a:blipFill>
            </p:spPr>
            <p:txBody>
              <a:bodyPr/>
              <a:lstStyle/>
              <a:p>
                <a:r>
                  <a:rPr lang="fr-FR">
                    <a:noFill/>
                  </a:rPr>
                  <a:t> </a:t>
                </a:r>
              </a:p>
            </p:txBody>
          </p:sp>
        </mc:Fallback>
      </mc:AlternateContent>
    </p:spTree>
    <p:extLst>
      <p:ext uri="{BB962C8B-B14F-4D97-AF65-F5344CB8AC3E}">
        <p14:creationId xmlns:p14="http://schemas.microsoft.com/office/powerpoint/2010/main" val="41720892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77680"/>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DENSITY (sometimes called </a:t>
            </a:r>
            <a:r>
              <a:rPr lang="en-US" sz="2400" dirty="0" err="1">
                <a:solidFill>
                  <a:schemeClr val="accent5">
                    <a:lumMod val="20000"/>
                    <a:lumOff val="80000"/>
                  </a:schemeClr>
                </a:solidFill>
              </a:rPr>
              <a:t>connectance</a:t>
            </a:r>
            <a:r>
              <a:rPr lang="en-US" sz="2400" dirty="0">
                <a:solidFill>
                  <a:schemeClr val="accent5">
                    <a:lumMod val="20000"/>
                    <a:lumOff val="80000"/>
                  </a:schemeClr>
                </a:solidFill>
              </a:rPr>
              <a:t> for ecological networks) is the proportion of possible edges that are connected</a:t>
            </a:r>
            <a:endParaRPr lang="en-CA" sz="2400" dirty="0">
              <a:solidFill>
                <a:schemeClr val="accent5">
                  <a:lumMod val="20000"/>
                  <a:lumOff val="80000"/>
                </a:schemeClr>
              </a:solidFill>
            </a:endParaRPr>
          </a:p>
        </p:txBody>
      </p:sp>
      <p:grpSp>
        <p:nvGrpSpPr>
          <p:cNvPr id="9" name="Group 8">
            <a:extLst>
              <a:ext uri="{FF2B5EF4-FFF2-40B4-BE49-F238E27FC236}">
                <a16:creationId xmlns:a16="http://schemas.microsoft.com/office/drawing/2014/main" id="{7BBEF4BA-0757-4132-B8BB-5F7255E80D14}"/>
              </a:ext>
            </a:extLst>
          </p:cNvPr>
          <p:cNvGrpSpPr/>
          <p:nvPr/>
        </p:nvGrpSpPr>
        <p:grpSpPr>
          <a:xfrm>
            <a:off x="1768000" y="4466409"/>
            <a:ext cx="1073040" cy="1849954"/>
            <a:chOff x="9277162" y="2195066"/>
            <a:chExt cx="1788767" cy="3083888"/>
          </a:xfrm>
        </p:grpSpPr>
        <p:cxnSp>
          <p:nvCxnSpPr>
            <p:cNvPr id="10" name="Straight Connector 9">
              <a:extLst>
                <a:ext uri="{FF2B5EF4-FFF2-40B4-BE49-F238E27FC236}">
                  <a16:creationId xmlns:a16="http://schemas.microsoft.com/office/drawing/2014/main" id="{350BC722-F0B2-4096-9DBF-1893038B5079}"/>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96E64028-1098-4350-8418-575B1AEBBA14}"/>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F3DEAAB0-131F-4FC9-8BA1-E4565583AF70}"/>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FCE139C7-EC7A-4801-9AD2-B621048A74A7}"/>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5D05965C-D0DC-4159-951A-7ECA2701E7FB}"/>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70120B4A-D5BA-41B5-81B0-A738D67340F4}"/>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DBF386C3-A6AF-40DE-B01B-5AE5635F8088}"/>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4ECA3E8C-852E-4C43-86B9-782B2B8AD78F}"/>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F806CBFF-D906-4816-AB29-DB1FB689C2D2}"/>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B0862890-F104-4521-B99C-94B1EAC69CD4}"/>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8C58196-E649-4E58-98E1-61CCDD77F89B}"/>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7FC0980-58FF-4272-9D6F-E338DFB4A2E1}"/>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B62F2BC-8556-4912-B24E-F2BF263FEBFD}"/>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1F58828-8F4D-4349-8B18-8DE022553E40}"/>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4C3F966-9BBD-464B-9898-5F1C0131572B}"/>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A3EBC62-2C7E-41D8-A488-541C2FE4556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7C80547-883C-44F1-927D-5D55F295AE43}"/>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1725D98-F269-4773-9485-E182BCB4C49B}"/>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03635F2C-D2A2-41EF-8492-FB66CBC4145F}"/>
              </a:ext>
            </a:extLst>
          </p:cNvPr>
          <p:cNvSpPr txBox="1"/>
          <p:nvPr/>
        </p:nvSpPr>
        <p:spPr>
          <a:xfrm>
            <a:off x="3648364" y="4534282"/>
            <a:ext cx="7444509" cy="369332"/>
          </a:xfrm>
          <a:prstGeom prst="rect">
            <a:avLst/>
          </a:prstGeom>
          <a:noFill/>
        </p:spPr>
        <p:txBody>
          <a:bodyPr wrap="square" rtlCol="0">
            <a:spAutoFit/>
          </a:bodyPr>
          <a:lstStyle/>
          <a:p>
            <a:r>
              <a:rPr lang="en-US" dirty="0"/>
              <a:t>Density is easy to calculate in </a:t>
            </a:r>
            <a:r>
              <a:rPr lang="en-US" dirty="0" err="1"/>
              <a:t>igraph</a:t>
            </a:r>
            <a:endParaRPr lang="fr-FR" dirty="0"/>
          </a:p>
        </p:txBody>
      </p:sp>
      <p:sp>
        <p:nvSpPr>
          <p:cNvPr id="29" name="TextBox 28">
            <a:extLst>
              <a:ext uri="{FF2B5EF4-FFF2-40B4-BE49-F238E27FC236}">
                <a16:creationId xmlns:a16="http://schemas.microsoft.com/office/drawing/2014/main" id="{12A6790C-498D-4E33-91E8-91E46110801C}"/>
              </a:ext>
            </a:extLst>
          </p:cNvPr>
          <p:cNvSpPr txBox="1"/>
          <p:nvPr/>
        </p:nvSpPr>
        <p:spPr>
          <a:xfrm>
            <a:off x="3758874" y="5079176"/>
            <a:ext cx="6562164" cy="369332"/>
          </a:xfrm>
          <a:prstGeom prst="rect">
            <a:avLst/>
          </a:prstGeom>
          <a:solidFill>
            <a:schemeClr val="bg1">
              <a:lumMod val="95000"/>
            </a:schemeClr>
          </a:solidFill>
        </p:spPr>
        <p:txBody>
          <a:bodyPr wrap="square" rtlCol="0">
            <a:spAutoFit/>
          </a:bodyPr>
          <a:lstStyle/>
          <a:p>
            <a:r>
              <a:rPr lang="en-US" b="1" dirty="0" err="1">
                <a:latin typeface="Courier New" panose="02070309020205020404" pitchFamily="49" charset="0"/>
                <a:cs typeface="Courier New" panose="02070309020205020404" pitchFamily="49" charset="0"/>
              </a:rPr>
              <a:t>igraph</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edge_density</a:t>
            </a:r>
            <a:r>
              <a:rPr lang="en-US" b="1" dirty="0">
                <a:latin typeface="Courier New" panose="02070309020205020404" pitchFamily="49" charset="0"/>
                <a:cs typeface="Courier New" panose="02070309020205020404" pitchFamily="49" charset="0"/>
              </a:rPr>
              <a:t>(network)</a:t>
            </a:r>
            <a:endParaRPr lang="en-CA"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167435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77680"/>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DENSITY (sometimes called </a:t>
            </a:r>
            <a:r>
              <a:rPr lang="en-US" sz="2400" dirty="0" err="1">
                <a:solidFill>
                  <a:schemeClr val="accent5">
                    <a:lumMod val="20000"/>
                    <a:lumOff val="80000"/>
                  </a:schemeClr>
                </a:solidFill>
              </a:rPr>
              <a:t>connectance</a:t>
            </a:r>
            <a:r>
              <a:rPr lang="en-US" sz="2400" dirty="0">
                <a:solidFill>
                  <a:schemeClr val="accent5">
                    <a:lumMod val="20000"/>
                    <a:lumOff val="80000"/>
                  </a:schemeClr>
                </a:solidFill>
              </a:rPr>
              <a:t> for ecological networks) is the proportion of possible edges that are connected</a:t>
            </a:r>
            <a:endParaRPr lang="en-CA" sz="2400" dirty="0">
              <a:solidFill>
                <a:schemeClr val="accent5">
                  <a:lumMod val="20000"/>
                  <a:lumOff val="80000"/>
                </a:schemeClr>
              </a:solidFill>
            </a:endParaRPr>
          </a:p>
        </p:txBody>
      </p:sp>
      <p:grpSp>
        <p:nvGrpSpPr>
          <p:cNvPr id="9" name="Group 8">
            <a:extLst>
              <a:ext uri="{FF2B5EF4-FFF2-40B4-BE49-F238E27FC236}">
                <a16:creationId xmlns:a16="http://schemas.microsoft.com/office/drawing/2014/main" id="{7BBEF4BA-0757-4132-B8BB-5F7255E80D14}"/>
              </a:ext>
            </a:extLst>
          </p:cNvPr>
          <p:cNvGrpSpPr/>
          <p:nvPr/>
        </p:nvGrpSpPr>
        <p:grpSpPr>
          <a:xfrm>
            <a:off x="1768000" y="4466409"/>
            <a:ext cx="1073040" cy="1849954"/>
            <a:chOff x="9277162" y="2195066"/>
            <a:chExt cx="1788767" cy="3083888"/>
          </a:xfrm>
        </p:grpSpPr>
        <p:cxnSp>
          <p:nvCxnSpPr>
            <p:cNvPr id="10" name="Straight Connector 9">
              <a:extLst>
                <a:ext uri="{FF2B5EF4-FFF2-40B4-BE49-F238E27FC236}">
                  <a16:creationId xmlns:a16="http://schemas.microsoft.com/office/drawing/2014/main" id="{350BC722-F0B2-4096-9DBF-1893038B5079}"/>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96E64028-1098-4350-8418-575B1AEBBA14}"/>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F3DEAAB0-131F-4FC9-8BA1-E4565583AF70}"/>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FCE139C7-EC7A-4801-9AD2-B621048A74A7}"/>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5D05965C-D0DC-4159-951A-7ECA2701E7FB}"/>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70120B4A-D5BA-41B5-81B0-A738D67340F4}"/>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DBF386C3-A6AF-40DE-B01B-5AE5635F8088}"/>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val 17">
              <a:extLst>
                <a:ext uri="{FF2B5EF4-FFF2-40B4-BE49-F238E27FC236}">
                  <a16:creationId xmlns:a16="http://schemas.microsoft.com/office/drawing/2014/main" id="{4ECA3E8C-852E-4C43-86B9-782B2B8AD78F}"/>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val 18">
              <a:extLst>
                <a:ext uri="{FF2B5EF4-FFF2-40B4-BE49-F238E27FC236}">
                  <a16:creationId xmlns:a16="http://schemas.microsoft.com/office/drawing/2014/main" id="{F806CBFF-D906-4816-AB29-DB1FB689C2D2}"/>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Straight Connector 19">
              <a:extLst>
                <a:ext uri="{FF2B5EF4-FFF2-40B4-BE49-F238E27FC236}">
                  <a16:creationId xmlns:a16="http://schemas.microsoft.com/office/drawing/2014/main" id="{B0862890-F104-4521-B99C-94B1EAC69CD4}"/>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8C58196-E649-4E58-98E1-61CCDD77F89B}"/>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7FC0980-58FF-4272-9D6F-E338DFB4A2E1}"/>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B62F2BC-8556-4912-B24E-F2BF263FEBFD}"/>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1F58828-8F4D-4349-8B18-8DE022553E40}"/>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4C3F966-9BBD-464B-9898-5F1C0131572B}"/>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A3EBC62-2C7E-41D8-A488-541C2FE45566}"/>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7C80547-883C-44F1-927D-5D55F295AE43}"/>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1725D98-F269-4773-9485-E182BCB4C49B}"/>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03635F2C-D2A2-41EF-8492-FB66CBC4145F}"/>
              </a:ext>
            </a:extLst>
          </p:cNvPr>
          <p:cNvSpPr txBox="1"/>
          <p:nvPr/>
        </p:nvSpPr>
        <p:spPr>
          <a:xfrm>
            <a:off x="3648364" y="4534282"/>
            <a:ext cx="7444509" cy="646331"/>
          </a:xfrm>
          <a:prstGeom prst="rect">
            <a:avLst/>
          </a:prstGeom>
          <a:noFill/>
        </p:spPr>
        <p:txBody>
          <a:bodyPr wrap="square" rtlCol="0">
            <a:spAutoFit/>
          </a:bodyPr>
          <a:lstStyle/>
          <a:p>
            <a:r>
              <a:rPr lang="en-US" dirty="0"/>
              <a:t>Networks with high density are more efficient – better at spreading information but more susceptible to disease outbreaks</a:t>
            </a:r>
            <a:endParaRPr lang="fr-FR" dirty="0"/>
          </a:p>
        </p:txBody>
      </p:sp>
    </p:spTree>
    <p:extLst>
      <p:ext uri="{BB962C8B-B14F-4D97-AF65-F5344CB8AC3E}">
        <p14:creationId xmlns:p14="http://schemas.microsoft.com/office/powerpoint/2010/main" val="28840991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77680"/>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AVERAGE PATH LENGTH is the average shortest route (in terms of number of edges traversed) between all possible pairs of nodes in the network</a:t>
            </a:r>
            <a:endParaRPr lang="en-CA" sz="2400" dirty="0">
              <a:solidFill>
                <a:schemeClr val="accent5">
                  <a:lumMod val="20000"/>
                  <a:lumOff val="80000"/>
                </a:schemeClr>
              </a:solidFill>
            </a:endParaRPr>
          </a:p>
        </p:txBody>
      </p:sp>
      <p:pic>
        <p:nvPicPr>
          <p:cNvPr id="3" name="Picture 2">
            <a:extLst>
              <a:ext uri="{FF2B5EF4-FFF2-40B4-BE49-F238E27FC236}">
                <a16:creationId xmlns:a16="http://schemas.microsoft.com/office/drawing/2014/main" id="{2A25B0B8-8B38-43F6-9152-8AD178D1341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77712" y="4206979"/>
            <a:ext cx="1370019" cy="2383030"/>
          </a:xfrm>
          <a:prstGeom prst="rect">
            <a:avLst/>
          </a:prstGeom>
        </p:spPr>
      </p:pic>
      <p:sp>
        <p:nvSpPr>
          <p:cNvPr id="5" name="TextBox 4">
            <a:extLst>
              <a:ext uri="{FF2B5EF4-FFF2-40B4-BE49-F238E27FC236}">
                <a16:creationId xmlns:a16="http://schemas.microsoft.com/office/drawing/2014/main" id="{1ED14BFC-35A7-45F5-9F03-79D93C0CAA33}"/>
              </a:ext>
            </a:extLst>
          </p:cNvPr>
          <p:cNvSpPr txBox="1"/>
          <p:nvPr/>
        </p:nvSpPr>
        <p:spPr>
          <a:xfrm>
            <a:off x="2736815" y="4312614"/>
            <a:ext cx="2493818" cy="2031325"/>
          </a:xfrm>
          <a:prstGeom prst="rect">
            <a:avLst/>
          </a:prstGeom>
          <a:noFill/>
        </p:spPr>
        <p:txBody>
          <a:bodyPr wrap="square" rtlCol="0">
            <a:spAutoFit/>
          </a:bodyPr>
          <a:lstStyle/>
          <a:p>
            <a:r>
              <a:rPr lang="en-US" dirty="0"/>
              <a:t>1—2: path length = 1</a:t>
            </a:r>
          </a:p>
          <a:p>
            <a:r>
              <a:rPr lang="en-US" dirty="0"/>
              <a:t>1—3: path length = 1</a:t>
            </a:r>
          </a:p>
          <a:p>
            <a:r>
              <a:rPr lang="en-US" dirty="0"/>
              <a:t>1—4: path length = 2</a:t>
            </a:r>
          </a:p>
          <a:p>
            <a:r>
              <a:rPr lang="en-US" dirty="0"/>
              <a:t>1—5: path length = 2</a:t>
            </a:r>
          </a:p>
          <a:p>
            <a:r>
              <a:rPr lang="en-US" dirty="0"/>
              <a:t>1—6: path length = 1</a:t>
            </a:r>
          </a:p>
          <a:p>
            <a:r>
              <a:rPr lang="en-US" dirty="0"/>
              <a:t>1—7: path length = 2</a:t>
            </a:r>
          </a:p>
          <a:p>
            <a:r>
              <a:rPr lang="en-US" dirty="0"/>
              <a:t>1—8: path length = 3</a:t>
            </a:r>
            <a:endParaRPr lang="fr-FR" dirty="0"/>
          </a:p>
        </p:txBody>
      </p:sp>
      <p:sp>
        <p:nvSpPr>
          <p:cNvPr id="75" name="TextBox 74">
            <a:extLst>
              <a:ext uri="{FF2B5EF4-FFF2-40B4-BE49-F238E27FC236}">
                <a16:creationId xmlns:a16="http://schemas.microsoft.com/office/drawing/2014/main" id="{D7CC9756-32AE-4F22-A83F-056AECA670BA}"/>
              </a:ext>
            </a:extLst>
          </p:cNvPr>
          <p:cNvSpPr txBox="1"/>
          <p:nvPr/>
        </p:nvSpPr>
        <p:spPr>
          <a:xfrm>
            <a:off x="5409208" y="4467865"/>
            <a:ext cx="6346814" cy="369332"/>
          </a:xfrm>
          <a:prstGeom prst="rect">
            <a:avLst/>
          </a:prstGeom>
          <a:noFill/>
        </p:spPr>
        <p:txBody>
          <a:bodyPr wrap="square" rtlCol="0">
            <a:spAutoFit/>
          </a:bodyPr>
          <a:lstStyle/>
          <a:p>
            <a:r>
              <a:rPr lang="en-US" dirty="0"/>
              <a:t>You can calculate average path length in </a:t>
            </a:r>
            <a:r>
              <a:rPr lang="en-US" dirty="0" err="1"/>
              <a:t>igraph</a:t>
            </a:r>
            <a:endParaRPr lang="fr-FR" dirty="0"/>
          </a:p>
        </p:txBody>
      </p:sp>
      <p:sp>
        <p:nvSpPr>
          <p:cNvPr id="76" name="TextBox 75">
            <a:extLst>
              <a:ext uri="{FF2B5EF4-FFF2-40B4-BE49-F238E27FC236}">
                <a16:creationId xmlns:a16="http://schemas.microsoft.com/office/drawing/2014/main" id="{12C2F31C-D96D-47D5-840B-2C0F845DEAC6}"/>
              </a:ext>
            </a:extLst>
          </p:cNvPr>
          <p:cNvSpPr txBox="1"/>
          <p:nvPr/>
        </p:nvSpPr>
        <p:spPr>
          <a:xfrm>
            <a:off x="5519717" y="5012759"/>
            <a:ext cx="5594571" cy="369332"/>
          </a:xfrm>
          <a:prstGeom prst="rect">
            <a:avLst/>
          </a:prstGeom>
          <a:solidFill>
            <a:schemeClr val="bg1">
              <a:lumMod val="95000"/>
            </a:schemeClr>
          </a:solidFill>
        </p:spPr>
        <p:txBody>
          <a:bodyPr wrap="square" rtlCol="0">
            <a:spAutoFit/>
          </a:bodyPr>
          <a:lstStyle/>
          <a:p>
            <a:r>
              <a:rPr lang="en-US" b="1" dirty="0" err="1">
                <a:latin typeface="Courier New" panose="02070309020205020404" pitchFamily="49" charset="0"/>
                <a:cs typeface="Courier New" panose="02070309020205020404" pitchFamily="49" charset="0"/>
              </a:rPr>
              <a:t>igraph</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mean_distance</a:t>
            </a:r>
            <a:r>
              <a:rPr lang="en-US" b="1" dirty="0">
                <a:latin typeface="Courier New" panose="02070309020205020404" pitchFamily="49" charset="0"/>
                <a:cs typeface="Courier New" panose="02070309020205020404" pitchFamily="49" charset="0"/>
              </a:rPr>
              <a:t>(network)</a:t>
            </a:r>
            <a:endParaRPr lang="en-CA"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025373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77680"/>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AVERAGE PATH LENGTH is the average shortest route (in terms of number of edges traversed) between all possible pairs of nodes in the network</a:t>
            </a:r>
            <a:endParaRPr lang="en-CA" sz="2400" dirty="0">
              <a:solidFill>
                <a:schemeClr val="accent5">
                  <a:lumMod val="20000"/>
                  <a:lumOff val="80000"/>
                </a:schemeClr>
              </a:solidFill>
            </a:endParaRPr>
          </a:p>
        </p:txBody>
      </p:sp>
      <p:pic>
        <p:nvPicPr>
          <p:cNvPr id="3" name="Picture 2">
            <a:extLst>
              <a:ext uri="{FF2B5EF4-FFF2-40B4-BE49-F238E27FC236}">
                <a16:creationId xmlns:a16="http://schemas.microsoft.com/office/drawing/2014/main" id="{2A25B0B8-8B38-43F6-9152-8AD178D1341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77712" y="4206979"/>
            <a:ext cx="1370019" cy="2383030"/>
          </a:xfrm>
          <a:prstGeom prst="rect">
            <a:avLst/>
          </a:prstGeom>
        </p:spPr>
      </p:pic>
      <p:sp>
        <p:nvSpPr>
          <p:cNvPr id="5" name="TextBox 4">
            <a:extLst>
              <a:ext uri="{FF2B5EF4-FFF2-40B4-BE49-F238E27FC236}">
                <a16:creationId xmlns:a16="http://schemas.microsoft.com/office/drawing/2014/main" id="{1ED14BFC-35A7-45F5-9F03-79D93C0CAA33}"/>
              </a:ext>
            </a:extLst>
          </p:cNvPr>
          <p:cNvSpPr txBox="1"/>
          <p:nvPr/>
        </p:nvSpPr>
        <p:spPr>
          <a:xfrm>
            <a:off x="2736815" y="4312614"/>
            <a:ext cx="2493818" cy="2031325"/>
          </a:xfrm>
          <a:prstGeom prst="rect">
            <a:avLst/>
          </a:prstGeom>
          <a:noFill/>
        </p:spPr>
        <p:txBody>
          <a:bodyPr wrap="square" rtlCol="0">
            <a:spAutoFit/>
          </a:bodyPr>
          <a:lstStyle/>
          <a:p>
            <a:r>
              <a:rPr lang="en-US" dirty="0"/>
              <a:t>1—2: path length = 1</a:t>
            </a:r>
          </a:p>
          <a:p>
            <a:r>
              <a:rPr lang="en-US" dirty="0"/>
              <a:t>1—3: path length = 1</a:t>
            </a:r>
          </a:p>
          <a:p>
            <a:r>
              <a:rPr lang="en-US" dirty="0"/>
              <a:t>1—4: path length = 2</a:t>
            </a:r>
          </a:p>
          <a:p>
            <a:r>
              <a:rPr lang="en-US" dirty="0"/>
              <a:t>1—5: path length = 2</a:t>
            </a:r>
          </a:p>
          <a:p>
            <a:r>
              <a:rPr lang="en-US" dirty="0"/>
              <a:t>1—6: path length = 1</a:t>
            </a:r>
          </a:p>
          <a:p>
            <a:r>
              <a:rPr lang="en-US" dirty="0"/>
              <a:t>1—7: path length = 2</a:t>
            </a:r>
          </a:p>
          <a:p>
            <a:r>
              <a:rPr lang="en-US" dirty="0"/>
              <a:t>1—8: path length = 3</a:t>
            </a:r>
            <a:endParaRPr lang="fr-FR" dirty="0"/>
          </a:p>
        </p:txBody>
      </p:sp>
      <p:sp>
        <p:nvSpPr>
          <p:cNvPr id="75" name="TextBox 74">
            <a:extLst>
              <a:ext uri="{FF2B5EF4-FFF2-40B4-BE49-F238E27FC236}">
                <a16:creationId xmlns:a16="http://schemas.microsoft.com/office/drawing/2014/main" id="{D7CC9756-32AE-4F22-A83F-056AECA670BA}"/>
              </a:ext>
            </a:extLst>
          </p:cNvPr>
          <p:cNvSpPr txBox="1"/>
          <p:nvPr/>
        </p:nvSpPr>
        <p:spPr>
          <a:xfrm>
            <a:off x="5409208" y="4467865"/>
            <a:ext cx="6346814" cy="369332"/>
          </a:xfrm>
          <a:prstGeom prst="rect">
            <a:avLst/>
          </a:prstGeom>
          <a:noFill/>
        </p:spPr>
        <p:txBody>
          <a:bodyPr wrap="square" rtlCol="0">
            <a:spAutoFit/>
          </a:bodyPr>
          <a:lstStyle/>
          <a:p>
            <a:r>
              <a:rPr lang="en-US" dirty="0"/>
              <a:t>You can calculate average path length in </a:t>
            </a:r>
            <a:r>
              <a:rPr lang="en-US" dirty="0" err="1"/>
              <a:t>igraph</a:t>
            </a:r>
            <a:endParaRPr lang="fr-FR" dirty="0"/>
          </a:p>
        </p:txBody>
      </p:sp>
      <p:sp>
        <p:nvSpPr>
          <p:cNvPr id="76" name="TextBox 75">
            <a:extLst>
              <a:ext uri="{FF2B5EF4-FFF2-40B4-BE49-F238E27FC236}">
                <a16:creationId xmlns:a16="http://schemas.microsoft.com/office/drawing/2014/main" id="{12C2F31C-D96D-47D5-840B-2C0F845DEAC6}"/>
              </a:ext>
            </a:extLst>
          </p:cNvPr>
          <p:cNvSpPr txBox="1"/>
          <p:nvPr/>
        </p:nvSpPr>
        <p:spPr>
          <a:xfrm>
            <a:off x="5519717" y="5012759"/>
            <a:ext cx="5594571" cy="369332"/>
          </a:xfrm>
          <a:prstGeom prst="rect">
            <a:avLst/>
          </a:prstGeom>
          <a:solidFill>
            <a:schemeClr val="bg1">
              <a:lumMod val="95000"/>
            </a:schemeClr>
          </a:solidFill>
        </p:spPr>
        <p:txBody>
          <a:bodyPr wrap="square" rtlCol="0">
            <a:spAutoFit/>
          </a:bodyPr>
          <a:lstStyle/>
          <a:p>
            <a:r>
              <a:rPr lang="en-US" b="1" dirty="0" err="1">
                <a:latin typeface="Courier New" panose="02070309020205020404" pitchFamily="49" charset="0"/>
                <a:cs typeface="Courier New" panose="02070309020205020404" pitchFamily="49" charset="0"/>
              </a:rPr>
              <a:t>igraph</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mean_distance</a:t>
            </a:r>
            <a:r>
              <a:rPr lang="en-US" b="1" dirty="0">
                <a:latin typeface="Courier New" panose="02070309020205020404" pitchFamily="49" charset="0"/>
                <a:cs typeface="Courier New" panose="02070309020205020404" pitchFamily="49" charset="0"/>
              </a:rPr>
              <a:t>(network)</a:t>
            </a:r>
            <a:endParaRPr lang="en-CA" b="1" dirty="0">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F225828D-8447-47D1-904E-8436DA8617A6}"/>
              </a:ext>
            </a:extLst>
          </p:cNvPr>
          <p:cNvSpPr txBox="1"/>
          <p:nvPr/>
        </p:nvSpPr>
        <p:spPr>
          <a:xfrm>
            <a:off x="5409208" y="5705484"/>
            <a:ext cx="6346814" cy="646331"/>
          </a:xfrm>
          <a:prstGeom prst="rect">
            <a:avLst/>
          </a:prstGeom>
          <a:noFill/>
        </p:spPr>
        <p:txBody>
          <a:bodyPr wrap="square" rtlCol="0">
            <a:spAutoFit/>
          </a:bodyPr>
          <a:lstStyle/>
          <a:p>
            <a:r>
              <a:rPr lang="en-US" u="sng" dirty="0"/>
              <a:t>BUT</a:t>
            </a:r>
            <a:r>
              <a:rPr lang="en-US" dirty="0"/>
              <a:t> in weighted networks you have to remember to convert edge weights again so that the weights are not treated as costs</a:t>
            </a:r>
            <a:endParaRPr lang="fr-FR" u="sng" dirty="0"/>
          </a:p>
        </p:txBody>
      </p:sp>
    </p:spTree>
    <p:extLst>
      <p:ext uri="{BB962C8B-B14F-4D97-AF65-F5344CB8AC3E}">
        <p14:creationId xmlns:p14="http://schemas.microsoft.com/office/powerpoint/2010/main" val="23276072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96153"/>
            <a:ext cx="10390095" cy="461665"/>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GLOBAL EFFICIENCY is the average of inverse distances between all pairs of nodes.  </a:t>
            </a:r>
            <a:endParaRPr lang="en-CA" sz="2400" dirty="0">
              <a:solidFill>
                <a:schemeClr val="accent5">
                  <a:lumMod val="20000"/>
                  <a:lumOff val="80000"/>
                </a:schemeClr>
              </a:solidFill>
            </a:endParaRPr>
          </a:p>
        </p:txBody>
      </p:sp>
      <p:pic>
        <p:nvPicPr>
          <p:cNvPr id="11" name="Picture 10">
            <a:extLst>
              <a:ext uri="{FF2B5EF4-FFF2-40B4-BE49-F238E27FC236}">
                <a16:creationId xmlns:a16="http://schemas.microsoft.com/office/drawing/2014/main" id="{B4429FE0-E171-4C57-B7EA-E070D572692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72655" y="4008951"/>
            <a:ext cx="1370019" cy="2383030"/>
          </a:xfrm>
          <a:prstGeom prst="rect">
            <a:avLst/>
          </a:prstGeom>
        </p:spPr>
      </p:pic>
      <p:sp>
        <p:nvSpPr>
          <p:cNvPr id="12" name="TextBox 11">
            <a:extLst>
              <a:ext uri="{FF2B5EF4-FFF2-40B4-BE49-F238E27FC236}">
                <a16:creationId xmlns:a16="http://schemas.microsoft.com/office/drawing/2014/main" id="{3A3A4E97-7B1A-45B3-9FE5-2826D569EB88}"/>
              </a:ext>
            </a:extLst>
          </p:cNvPr>
          <p:cNvSpPr txBox="1"/>
          <p:nvPr/>
        </p:nvSpPr>
        <p:spPr>
          <a:xfrm>
            <a:off x="2231757" y="4114586"/>
            <a:ext cx="3273115" cy="2031325"/>
          </a:xfrm>
          <a:prstGeom prst="rect">
            <a:avLst/>
          </a:prstGeom>
          <a:noFill/>
        </p:spPr>
        <p:txBody>
          <a:bodyPr wrap="square" rtlCol="0">
            <a:spAutoFit/>
          </a:bodyPr>
          <a:lstStyle/>
          <a:p>
            <a:r>
              <a:rPr lang="en-US" dirty="0"/>
              <a:t>1—2: inverse path length = 1</a:t>
            </a:r>
          </a:p>
          <a:p>
            <a:r>
              <a:rPr lang="en-US" dirty="0"/>
              <a:t>1—3: inverse path length = 1</a:t>
            </a:r>
          </a:p>
          <a:p>
            <a:r>
              <a:rPr lang="en-US" dirty="0"/>
              <a:t>1—4: inverse path length = 1/2</a:t>
            </a:r>
          </a:p>
          <a:p>
            <a:r>
              <a:rPr lang="en-US" dirty="0"/>
              <a:t>1—5: inverse path length = 1/2</a:t>
            </a:r>
          </a:p>
          <a:p>
            <a:r>
              <a:rPr lang="en-US" dirty="0"/>
              <a:t>1—6: inverse path length = 1</a:t>
            </a:r>
          </a:p>
          <a:p>
            <a:r>
              <a:rPr lang="en-US" dirty="0"/>
              <a:t>1—7: inverse path length = 1/2</a:t>
            </a:r>
          </a:p>
          <a:p>
            <a:r>
              <a:rPr lang="en-US" dirty="0"/>
              <a:t>1—8: inverse path length = 1/3</a:t>
            </a:r>
            <a:endParaRPr lang="fr-FR" dirty="0"/>
          </a:p>
        </p:txBody>
      </p:sp>
      <p:sp>
        <p:nvSpPr>
          <p:cNvPr id="13" name="TextBox 12">
            <a:extLst>
              <a:ext uri="{FF2B5EF4-FFF2-40B4-BE49-F238E27FC236}">
                <a16:creationId xmlns:a16="http://schemas.microsoft.com/office/drawing/2014/main" id="{2FE38770-0A73-47F4-8383-C8AA8258E2E8}"/>
              </a:ext>
            </a:extLst>
          </p:cNvPr>
          <p:cNvSpPr txBox="1"/>
          <p:nvPr/>
        </p:nvSpPr>
        <p:spPr>
          <a:xfrm>
            <a:off x="5793955" y="4114586"/>
            <a:ext cx="6108538" cy="369332"/>
          </a:xfrm>
          <a:prstGeom prst="rect">
            <a:avLst/>
          </a:prstGeom>
          <a:noFill/>
        </p:spPr>
        <p:txBody>
          <a:bodyPr wrap="square" rtlCol="0">
            <a:spAutoFit/>
          </a:bodyPr>
          <a:lstStyle/>
          <a:p>
            <a:r>
              <a:rPr lang="en-US" dirty="0"/>
              <a:t>You can calculate efficiency length in </a:t>
            </a:r>
            <a:r>
              <a:rPr lang="en-US" dirty="0" err="1"/>
              <a:t>igraph</a:t>
            </a:r>
            <a:endParaRPr lang="fr-FR" dirty="0"/>
          </a:p>
        </p:txBody>
      </p:sp>
      <p:sp>
        <p:nvSpPr>
          <p:cNvPr id="14" name="TextBox 13">
            <a:extLst>
              <a:ext uri="{FF2B5EF4-FFF2-40B4-BE49-F238E27FC236}">
                <a16:creationId xmlns:a16="http://schemas.microsoft.com/office/drawing/2014/main" id="{6289C17D-8D02-4365-8A5D-31924E14DB82}"/>
              </a:ext>
            </a:extLst>
          </p:cNvPr>
          <p:cNvSpPr txBox="1"/>
          <p:nvPr/>
        </p:nvSpPr>
        <p:spPr>
          <a:xfrm>
            <a:off x="5904465" y="4659480"/>
            <a:ext cx="5384536" cy="369332"/>
          </a:xfrm>
          <a:prstGeom prst="rect">
            <a:avLst/>
          </a:prstGeom>
          <a:solidFill>
            <a:schemeClr val="bg1">
              <a:lumMod val="95000"/>
            </a:schemeClr>
          </a:solidFill>
        </p:spPr>
        <p:txBody>
          <a:bodyPr wrap="square" rtlCol="0">
            <a:spAutoFit/>
          </a:bodyPr>
          <a:lstStyle/>
          <a:p>
            <a:r>
              <a:rPr lang="en-US" b="1" dirty="0" err="1">
                <a:latin typeface="Courier New" panose="02070309020205020404" pitchFamily="49" charset="0"/>
                <a:cs typeface="Courier New" panose="02070309020205020404" pitchFamily="49" charset="0"/>
              </a:rPr>
              <a:t>igraph</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global_efficiency</a:t>
            </a:r>
            <a:r>
              <a:rPr lang="en-US" b="1" dirty="0">
                <a:latin typeface="Courier New" panose="02070309020205020404" pitchFamily="49" charset="0"/>
                <a:cs typeface="Courier New" panose="02070309020205020404" pitchFamily="49" charset="0"/>
              </a:rPr>
              <a:t>(network)</a:t>
            </a:r>
            <a:endParaRPr lang="en-CA" b="1" dirty="0">
              <a:latin typeface="Courier New" panose="02070309020205020404" pitchFamily="49" charset="0"/>
              <a:cs typeface="Courier New" panose="02070309020205020404" pitchFamily="49" charset="0"/>
            </a:endParaRPr>
          </a:p>
        </p:txBody>
      </p:sp>
      <p:sp>
        <p:nvSpPr>
          <p:cNvPr id="15" name="TextBox 14">
            <a:extLst>
              <a:ext uri="{FF2B5EF4-FFF2-40B4-BE49-F238E27FC236}">
                <a16:creationId xmlns:a16="http://schemas.microsoft.com/office/drawing/2014/main" id="{462E67C0-500D-4B96-8277-27A7AFCAB691}"/>
              </a:ext>
            </a:extLst>
          </p:cNvPr>
          <p:cNvSpPr txBox="1"/>
          <p:nvPr/>
        </p:nvSpPr>
        <p:spPr>
          <a:xfrm>
            <a:off x="5793955" y="5352205"/>
            <a:ext cx="6108538" cy="646331"/>
          </a:xfrm>
          <a:prstGeom prst="rect">
            <a:avLst/>
          </a:prstGeom>
          <a:noFill/>
        </p:spPr>
        <p:txBody>
          <a:bodyPr wrap="square" rtlCol="0">
            <a:spAutoFit/>
          </a:bodyPr>
          <a:lstStyle/>
          <a:p>
            <a:r>
              <a:rPr lang="en-US" u="sng" dirty="0"/>
              <a:t>BUT</a:t>
            </a:r>
            <a:r>
              <a:rPr lang="en-US" dirty="0"/>
              <a:t> in weighted networks you have to remember to convert edge weights again so that the weights are not treated as costs</a:t>
            </a:r>
            <a:endParaRPr lang="fr-FR" u="sng" dirty="0"/>
          </a:p>
        </p:txBody>
      </p:sp>
    </p:spTree>
    <p:extLst>
      <p:ext uri="{BB962C8B-B14F-4D97-AF65-F5344CB8AC3E}">
        <p14:creationId xmlns:p14="http://schemas.microsoft.com/office/powerpoint/2010/main" val="36531275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96153"/>
            <a:ext cx="10390095" cy="461665"/>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GLOBAL EFFICIENCY is the average of inverse distances between all pairs of nodes.  </a:t>
            </a:r>
            <a:endParaRPr lang="en-CA" sz="2400" dirty="0">
              <a:solidFill>
                <a:schemeClr val="accent5">
                  <a:lumMod val="20000"/>
                  <a:lumOff val="80000"/>
                </a:schemeClr>
              </a:solidFill>
            </a:endParaRPr>
          </a:p>
        </p:txBody>
      </p:sp>
      <p:pic>
        <p:nvPicPr>
          <p:cNvPr id="11" name="Picture 10">
            <a:extLst>
              <a:ext uri="{FF2B5EF4-FFF2-40B4-BE49-F238E27FC236}">
                <a16:creationId xmlns:a16="http://schemas.microsoft.com/office/drawing/2014/main" id="{B4429FE0-E171-4C57-B7EA-E070D572692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72655" y="4008951"/>
            <a:ext cx="1370019" cy="2383030"/>
          </a:xfrm>
          <a:prstGeom prst="rect">
            <a:avLst/>
          </a:prstGeom>
        </p:spPr>
      </p:pic>
      <p:sp>
        <p:nvSpPr>
          <p:cNvPr id="12" name="TextBox 11">
            <a:extLst>
              <a:ext uri="{FF2B5EF4-FFF2-40B4-BE49-F238E27FC236}">
                <a16:creationId xmlns:a16="http://schemas.microsoft.com/office/drawing/2014/main" id="{3A3A4E97-7B1A-45B3-9FE5-2826D569EB88}"/>
              </a:ext>
            </a:extLst>
          </p:cNvPr>
          <p:cNvSpPr txBox="1"/>
          <p:nvPr/>
        </p:nvSpPr>
        <p:spPr>
          <a:xfrm>
            <a:off x="2231757" y="4114586"/>
            <a:ext cx="3273115" cy="2031325"/>
          </a:xfrm>
          <a:prstGeom prst="rect">
            <a:avLst/>
          </a:prstGeom>
          <a:noFill/>
        </p:spPr>
        <p:txBody>
          <a:bodyPr wrap="square" rtlCol="0">
            <a:spAutoFit/>
          </a:bodyPr>
          <a:lstStyle/>
          <a:p>
            <a:r>
              <a:rPr lang="en-US" dirty="0"/>
              <a:t>1—2: inverse path length = 1</a:t>
            </a:r>
          </a:p>
          <a:p>
            <a:r>
              <a:rPr lang="en-US" dirty="0"/>
              <a:t>1—3: inverse path length = 1</a:t>
            </a:r>
          </a:p>
          <a:p>
            <a:r>
              <a:rPr lang="en-US" dirty="0"/>
              <a:t>1—4: inverse path length = 1/2</a:t>
            </a:r>
          </a:p>
          <a:p>
            <a:r>
              <a:rPr lang="en-US" dirty="0"/>
              <a:t>1—5: inverse path length = 1/2</a:t>
            </a:r>
          </a:p>
          <a:p>
            <a:r>
              <a:rPr lang="en-US" dirty="0"/>
              <a:t>1—6: inverse path length = 1</a:t>
            </a:r>
          </a:p>
          <a:p>
            <a:r>
              <a:rPr lang="en-US" dirty="0"/>
              <a:t>1—7: inverse path length = 1/2</a:t>
            </a:r>
          </a:p>
          <a:p>
            <a:r>
              <a:rPr lang="en-US" dirty="0"/>
              <a:t>1—8: inverse path length = 1/3</a:t>
            </a:r>
            <a:endParaRPr lang="fr-FR" dirty="0"/>
          </a:p>
        </p:txBody>
      </p:sp>
      <p:sp>
        <p:nvSpPr>
          <p:cNvPr id="13" name="TextBox 12">
            <a:extLst>
              <a:ext uri="{FF2B5EF4-FFF2-40B4-BE49-F238E27FC236}">
                <a16:creationId xmlns:a16="http://schemas.microsoft.com/office/drawing/2014/main" id="{2FE38770-0A73-47F4-8383-C8AA8258E2E8}"/>
              </a:ext>
            </a:extLst>
          </p:cNvPr>
          <p:cNvSpPr txBox="1"/>
          <p:nvPr/>
        </p:nvSpPr>
        <p:spPr>
          <a:xfrm>
            <a:off x="5793955" y="4114586"/>
            <a:ext cx="6108538" cy="369332"/>
          </a:xfrm>
          <a:prstGeom prst="rect">
            <a:avLst/>
          </a:prstGeom>
          <a:noFill/>
        </p:spPr>
        <p:txBody>
          <a:bodyPr wrap="square" rtlCol="0">
            <a:spAutoFit/>
          </a:bodyPr>
          <a:lstStyle/>
          <a:p>
            <a:r>
              <a:rPr lang="en-US" dirty="0"/>
              <a:t>You can calculate efficiency length in </a:t>
            </a:r>
            <a:r>
              <a:rPr lang="en-US" dirty="0" err="1"/>
              <a:t>igraph</a:t>
            </a:r>
            <a:endParaRPr lang="fr-FR" dirty="0"/>
          </a:p>
        </p:txBody>
      </p:sp>
      <p:sp>
        <p:nvSpPr>
          <p:cNvPr id="14" name="TextBox 13">
            <a:extLst>
              <a:ext uri="{FF2B5EF4-FFF2-40B4-BE49-F238E27FC236}">
                <a16:creationId xmlns:a16="http://schemas.microsoft.com/office/drawing/2014/main" id="{6289C17D-8D02-4365-8A5D-31924E14DB82}"/>
              </a:ext>
            </a:extLst>
          </p:cNvPr>
          <p:cNvSpPr txBox="1"/>
          <p:nvPr/>
        </p:nvSpPr>
        <p:spPr>
          <a:xfrm>
            <a:off x="5904465" y="4659480"/>
            <a:ext cx="5384536" cy="369332"/>
          </a:xfrm>
          <a:prstGeom prst="rect">
            <a:avLst/>
          </a:prstGeom>
          <a:solidFill>
            <a:schemeClr val="bg1">
              <a:lumMod val="95000"/>
            </a:schemeClr>
          </a:solidFill>
        </p:spPr>
        <p:txBody>
          <a:bodyPr wrap="square" rtlCol="0">
            <a:spAutoFit/>
          </a:bodyPr>
          <a:lstStyle/>
          <a:p>
            <a:r>
              <a:rPr lang="en-US" b="1" dirty="0" err="1">
                <a:latin typeface="Courier New" panose="02070309020205020404" pitchFamily="49" charset="0"/>
                <a:cs typeface="Courier New" panose="02070309020205020404" pitchFamily="49" charset="0"/>
              </a:rPr>
              <a:t>igraph</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global_efficiency</a:t>
            </a:r>
            <a:r>
              <a:rPr lang="en-US" b="1" dirty="0">
                <a:latin typeface="Courier New" panose="02070309020205020404" pitchFamily="49" charset="0"/>
                <a:cs typeface="Courier New" panose="02070309020205020404" pitchFamily="49" charset="0"/>
              </a:rPr>
              <a:t>(network)</a:t>
            </a:r>
            <a:endParaRPr lang="en-CA" b="1" dirty="0">
              <a:latin typeface="Courier New" panose="02070309020205020404" pitchFamily="49" charset="0"/>
              <a:cs typeface="Courier New" panose="02070309020205020404" pitchFamily="49" charset="0"/>
            </a:endParaRPr>
          </a:p>
        </p:txBody>
      </p:sp>
      <p:sp>
        <p:nvSpPr>
          <p:cNvPr id="15" name="TextBox 14">
            <a:extLst>
              <a:ext uri="{FF2B5EF4-FFF2-40B4-BE49-F238E27FC236}">
                <a16:creationId xmlns:a16="http://schemas.microsoft.com/office/drawing/2014/main" id="{462E67C0-500D-4B96-8277-27A7AFCAB691}"/>
              </a:ext>
            </a:extLst>
          </p:cNvPr>
          <p:cNvSpPr txBox="1"/>
          <p:nvPr/>
        </p:nvSpPr>
        <p:spPr>
          <a:xfrm>
            <a:off x="5793955" y="5352205"/>
            <a:ext cx="6108538" cy="646331"/>
          </a:xfrm>
          <a:prstGeom prst="rect">
            <a:avLst/>
          </a:prstGeom>
          <a:noFill/>
        </p:spPr>
        <p:txBody>
          <a:bodyPr wrap="square" rtlCol="0">
            <a:spAutoFit/>
          </a:bodyPr>
          <a:lstStyle/>
          <a:p>
            <a:r>
              <a:rPr lang="en-US" dirty="0"/>
              <a:t>Efficiency can be useful in understanding transmission speeds through social networks</a:t>
            </a:r>
            <a:endParaRPr lang="fr-FR" dirty="0"/>
          </a:p>
        </p:txBody>
      </p:sp>
    </p:spTree>
    <p:extLst>
      <p:ext uri="{BB962C8B-B14F-4D97-AF65-F5344CB8AC3E}">
        <p14:creationId xmlns:p14="http://schemas.microsoft.com/office/powerpoint/2010/main" val="310347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96153"/>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NODE-LEVEL METRIC DISTRIBUTIONS can also provide useful information about the network  </a:t>
            </a:r>
            <a:endParaRPr lang="en-CA" sz="2400" dirty="0">
              <a:solidFill>
                <a:schemeClr val="accent5">
                  <a:lumMod val="20000"/>
                  <a:lumOff val="80000"/>
                </a:schemeClr>
              </a:solidFill>
            </a:endParaRPr>
          </a:p>
        </p:txBody>
      </p:sp>
      <p:sp>
        <p:nvSpPr>
          <p:cNvPr id="17" name="TextBox 16">
            <a:extLst>
              <a:ext uri="{FF2B5EF4-FFF2-40B4-BE49-F238E27FC236}">
                <a16:creationId xmlns:a16="http://schemas.microsoft.com/office/drawing/2014/main" id="{F320B882-2B63-4D44-85BE-4B3346A77A7E}"/>
              </a:ext>
            </a:extLst>
          </p:cNvPr>
          <p:cNvSpPr txBox="1"/>
          <p:nvPr/>
        </p:nvSpPr>
        <p:spPr>
          <a:xfrm>
            <a:off x="1089892" y="4319968"/>
            <a:ext cx="4054764" cy="1938992"/>
          </a:xfrm>
          <a:prstGeom prst="rect">
            <a:avLst/>
          </a:prstGeom>
          <a:solidFill>
            <a:schemeClr val="accent1">
              <a:lumMod val="40000"/>
              <a:lumOff val="6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marL="457200" indent="-457200">
              <a:buAutoNum type="arabicPeriod"/>
            </a:pPr>
            <a:r>
              <a:rPr lang="en-US" sz="2400" dirty="0">
                <a:solidFill>
                  <a:srgbClr val="002060"/>
                </a:solidFill>
              </a:rPr>
              <a:t>Mean values</a:t>
            </a:r>
          </a:p>
          <a:p>
            <a:pPr marL="457200" indent="-457200">
              <a:buAutoNum type="arabicPeriod"/>
            </a:pPr>
            <a:endParaRPr lang="en-US" sz="2400" dirty="0">
              <a:solidFill>
                <a:srgbClr val="002060"/>
              </a:solidFill>
            </a:endParaRPr>
          </a:p>
          <a:p>
            <a:pPr marL="457200" indent="-457200">
              <a:buAutoNum type="arabicPeriod"/>
            </a:pPr>
            <a:r>
              <a:rPr lang="en-US" sz="2400" dirty="0">
                <a:solidFill>
                  <a:srgbClr val="002060"/>
                </a:solidFill>
              </a:rPr>
              <a:t>Coefficient of variation</a:t>
            </a:r>
          </a:p>
          <a:p>
            <a:pPr marL="457200" indent="-457200">
              <a:buAutoNum type="arabicPeriod"/>
            </a:pPr>
            <a:endParaRPr lang="en-US" sz="2400" dirty="0">
              <a:solidFill>
                <a:srgbClr val="002060"/>
              </a:solidFill>
            </a:endParaRPr>
          </a:p>
          <a:p>
            <a:pPr marL="457200" indent="-457200">
              <a:buAutoNum type="arabicPeriod"/>
            </a:pPr>
            <a:r>
              <a:rPr lang="en-US" sz="2400" dirty="0">
                <a:solidFill>
                  <a:srgbClr val="002060"/>
                </a:solidFill>
              </a:rPr>
              <a:t>Full metric distributions</a:t>
            </a:r>
            <a:endParaRPr lang="en-CA" sz="2400" dirty="0">
              <a:solidFill>
                <a:srgbClr val="002060"/>
              </a:solidFill>
            </a:endParaRPr>
          </a:p>
        </p:txBody>
      </p:sp>
      <p:sp>
        <p:nvSpPr>
          <p:cNvPr id="3" name="TextBox 2">
            <a:extLst>
              <a:ext uri="{FF2B5EF4-FFF2-40B4-BE49-F238E27FC236}">
                <a16:creationId xmlns:a16="http://schemas.microsoft.com/office/drawing/2014/main" id="{B132C662-D802-448D-9F50-216560A053E8}"/>
              </a:ext>
            </a:extLst>
          </p:cNvPr>
          <p:cNvSpPr txBox="1"/>
          <p:nvPr/>
        </p:nvSpPr>
        <p:spPr>
          <a:xfrm>
            <a:off x="5956641" y="4708066"/>
            <a:ext cx="5523345" cy="1015663"/>
          </a:xfrm>
          <a:prstGeom prst="rect">
            <a:avLst/>
          </a:prstGeom>
          <a:noFill/>
        </p:spPr>
        <p:txBody>
          <a:bodyPr wrap="square" rtlCol="0">
            <a:spAutoFit/>
          </a:bodyPr>
          <a:lstStyle/>
          <a:p>
            <a:r>
              <a:rPr lang="en-US" sz="2000" dirty="0"/>
              <a:t>For example, the degree distribution of a network is a key part of calculating the R</a:t>
            </a:r>
            <a:r>
              <a:rPr lang="en-US" sz="2000" baseline="-25000" dirty="0"/>
              <a:t>0</a:t>
            </a:r>
            <a:r>
              <a:rPr lang="en-US" sz="2000" dirty="0"/>
              <a:t> of a pathogen spreading across it</a:t>
            </a:r>
            <a:endParaRPr lang="fr-FR" sz="2000" dirty="0"/>
          </a:p>
        </p:txBody>
      </p:sp>
    </p:spTree>
    <p:extLst>
      <p:ext uri="{BB962C8B-B14F-4D97-AF65-F5344CB8AC3E}">
        <p14:creationId xmlns:p14="http://schemas.microsoft.com/office/powerpoint/2010/main" val="32050203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E8B884-E63D-A894-34F8-CFDF07C8BAEF}"/>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
        <p:nvSpPr>
          <p:cNvPr id="7" name="TextBox 6">
            <a:extLst>
              <a:ext uri="{FF2B5EF4-FFF2-40B4-BE49-F238E27FC236}">
                <a16:creationId xmlns:a16="http://schemas.microsoft.com/office/drawing/2014/main" id="{62F3B291-F430-48E9-A1D8-A6773D688D83}"/>
              </a:ext>
            </a:extLst>
          </p:cNvPr>
          <p:cNvSpPr txBox="1"/>
          <p:nvPr/>
        </p:nvSpPr>
        <p:spPr>
          <a:xfrm>
            <a:off x="1089891" y="1658080"/>
            <a:ext cx="10123053" cy="1015663"/>
          </a:xfrm>
          <a:prstGeom prst="rect">
            <a:avLst/>
          </a:prstGeom>
          <a:noFill/>
        </p:spPr>
        <p:txBody>
          <a:bodyPr wrap="square">
            <a:spAutoFit/>
          </a:bodyPr>
          <a:lstStyle/>
          <a:p>
            <a:r>
              <a:rPr lang="en-US" sz="2000" dirty="0"/>
              <a:t>There are also a wide range of measures to describe the structure of the network as a whole.</a:t>
            </a:r>
          </a:p>
          <a:p>
            <a:endParaRPr lang="en-US" sz="2000" dirty="0"/>
          </a:p>
          <a:p>
            <a:r>
              <a:rPr lang="en-US" sz="2000" dirty="0"/>
              <a:t>I will provide an overview of the most commonly used and/or useful here </a:t>
            </a:r>
          </a:p>
        </p:txBody>
      </p:sp>
      <p:sp>
        <p:nvSpPr>
          <p:cNvPr id="8" name="TextBox 7">
            <a:extLst>
              <a:ext uri="{FF2B5EF4-FFF2-40B4-BE49-F238E27FC236}">
                <a16:creationId xmlns:a16="http://schemas.microsoft.com/office/drawing/2014/main" id="{754ACC99-BEA9-4655-A34A-C78855FD1E82}"/>
              </a:ext>
            </a:extLst>
          </p:cNvPr>
          <p:cNvSpPr txBox="1"/>
          <p:nvPr/>
        </p:nvSpPr>
        <p:spPr>
          <a:xfrm>
            <a:off x="1089891" y="3096153"/>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NODE-LEVEL METRIC DISTRIBUTIONS can also provide useful information about the network  </a:t>
            </a:r>
            <a:endParaRPr lang="en-CA" sz="2400" dirty="0">
              <a:solidFill>
                <a:schemeClr val="accent5">
                  <a:lumMod val="20000"/>
                  <a:lumOff val="80000"/>
                </a:schemeClr>
              </a:solidFill>
            </a:endParaRPr>
          </a:p>
        </p:txBody>
      </p:sp>
      <p:sp>
        <p:nvSpPr>
          <p:cNvPr id="9" name="TextBox 8">
            <a:extLst>
              <a:ext uri="{FF2B5EF4-FFF2-40B4-BE49-F238E27FC236}">
                <a16:creationId xmlns:a16="http://schemas.microsoft.com/office/drawing/2014/main" id="{0EEE00FD-1E08-4F09-AA00-AE0A2356DE5D}"/>
              </a:ext>
            </a:extLst>
          </p:cNvPr>
          <p:cNvSpPr txBox="1"/>
          <p:nvPr/>
        </p:nvSpPr>
        <p:spPr>
          <a:xfrm>
            <a:off x="1222051" y="4349560"/>
            <a:ext cx="6822822" cy="400110"/>
          </a:xfrm>
          <a:prstGeom prst="rect">
            <a:avLst/>
          </a:prstGeom>
          <a:noFill/>
        </p:spPr>
        <p:txBody>
          <a:bodyPr wrap="square" rtlCol="0">
            <a:spAutoFit/>
          </a:bodyPr>
          <a:lstStyle/>
          <a:p>
            <a:r>
              <a:rPr lang="en-US" sz="2000" dirty="0"/>
              <a:t>The degree distribution can be calculated in </a:t>
            </a:r>
            <a:r>
              <a:rPr lang="en-US" sz="2000" dirty="0" err="1"/>
              <a:t>igraph</a:t>
            </a:r>
            <a:r>
              <a:rPr lang="en-US" sz="2000" dirty="0"/>
              <a:t> using</a:t>
            </a:r>
            <a:endParaRPr lang="fr-FR" sz="2000" dirty="0"/>
          </a:p>
        </p:txBody>
      </p:sp>
      <p:sp>
        <p:nvSpPr>
          <p:cNvPr id="10" name="TextBox 9">
            <a:extLst>
              <a:ext uri="{FF2B5EF4-FFF2-40B4-BE49-F238E27FC236}">
                <a16:creationId xmlns:a16="http://schemas.microsoft.com/office/drawing/2014/main" id="{76243532-6681-4311-B0E3-CC68BE76E966}"/>
              </a:ext>
            </a:extLst>
          </p:cNvPr>
          <p:cNvSpPr txBox="1"/>
          <p:nvPr/>
        </p:nvSpPr>
        <p:spPr>
          <a:xfrm>
            <a:off x="1291456" y="4911219"/>
            <a:ext cx="5384536" cy="369332"/>
          </a:xfrm>
          <a:prstGeom prst="rect">
            <a:avLst/>
          </a:prstGeom>
          <a:solidFill>
            <a:schemeClr val="bg1">
              <a:lumMod val="95000"/>
            </a:schemeClr>
          </a:solidFill>
        </p:spPr>
        <p:txBody>
          <a:bodyPr wrap="square" rtlCol="0">
            <a:spAutoFit/>
          </a:bodyPr>
          <a:lstStyle/>
          <a:p>
            <a:r>
              <a:rPr lang="en-US" b="1" dirty="0" err="1">
                <a:latin typeface="Courier New" panose="02070309020205020404" pitchFamily="49" charset="0"/>
                <a:cs typeface="Courier New" panose="02070309020205020404" pitchFamily="49" charset="0"/>
              </a:rPr>
              <a:t>igraph</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degree_distribution</a:t>
            </a:r>
            <a:r>
              <a:rPr lang="en-US" b="1" dirty="0">
                <a:latin typeface="Courier New" panose="02070309020205020404" pitchFamily="49" charset="0"/>
                <a:cs typeface="Courier New" panose="02070309020205020404" pitchFamily="49" charset="0"/>
              </a:rPr>
              <a:t>(network)</a:t>
            </a:r>
            <a:endParaRPr lang="en-CA" b="1"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05D09C8B-ECE8-4308-AE35-3BCE7847173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502453" y="4202340"/>
            <a:ext cx="2398091" cy="2409584"/>
          </a:xfrm>
          <a:prstGeom prst="rect">
            <a:avLst/>
          </a:prstGeom>
        </p:spPr>
      </p:pic>
      <p:sp>
        <p:nvSpPr>
          <p:cNvPr id="12" name="TextBox 11">
            <a:extLst>
              <a:ext uri="{FF2B5EF4-FFF2-40B4-BE49-F238E27FC236}">
                <a16:creationId xmlns:a16="http://schemas.microsoft.com/office/drawing/2014/main" id="{D1468436-4EB8-471F-9687-385DB663B385}"/>
              </a:ext>
            </a:extLst>
          </p:cNvPr>
          <p:cNvSpPr txBox="1"/>
          <p:nvPr/>
        </p:nvSpPr>
        <p:spPr>
          <a:xfrm>
            <a:off x="1222051" y="5690095"/>
            <a:ext cx="6822822" cy="707886"/>
          </a:xfrm>
          <a:prstGeom prst="rect">
            <a:avLst/>
          </a:prstGeom>
          <a:noFill/>
        </p:spPr>
        <p:txBody>
          <a:bodyPr wrap="square" rtlCol="0">
            <a:spAutoFit/>
          </a:bodyPr>
          <a:lstStyle/>
          <a:p>
            <a:r>
              <a:rPr lang="en-US" sz="2000" dirty="0"/>
              <a:t>A power law degree distribution is a feature of some social networks that are highly centralized</a:t>
            </a:r>
            <a:endParaRPr lang="fr-FR" sz="2000" dirty="0"/>
          </a:p>
        </p:txBody>
      </p:sp>
    </p:spTree>
    <p:extLst>
      <p:ext uri="{BB962C8B-B14F-4D97-AF65-F5344CB8AC3E}">
        <p14:creationId xmlns:p14="http://schemas.microsoft.com/office/powerpoint/2010/main" val="24501812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15AE769-B7E9-4CAD-B660-99FEB153A7BD}"/>
              </a:ext>
            </a:extLst>
          </p:cNvPr>
          <p:cNvSpPr txBox="1"/>
          <p:nvPr/>
        </p:nvSpPr>
        <p:spPr>
          <a:xfrm>
            <a:off x="1510344" y="1960678"/>
            <a:ext cx="8851554" cy="1015663"/>
          </a:xfrm>
          <a:prstGeom prst="rect">
            <a:avLst/>
          </a:prstGeom>
          <a:solidFill>
            <a:schemeClr val="accent1">
              <a:lumMod val="75000"/>
            </a:schemeClr>
          </a:solidFill>
        </p:spPr>
        <p:txBody>
          <a:bodyPr wrap="square" rtlCol="0">
            <a:spAutoFit/>
          </a:bodyPr>
          <a:lstStyle/>
          <a:p>
            <a:pPr algn="ctr"/>
            <a:r>
              <a:rPr lang="en-US" sz="3000" b="1" dirty="0">
                <a:solidFill>
                  <a:schemeClr val="bg1"/>
                </a:solidFill>
              </a:rPr>
              <a:t>Go to the R Markdown for Session 2 and work through the section SESSION 2: PARTS 3 &amp; 4 </a:t>
            </a:r>
          </a:p>
        </p:txBody>
      </p:sp>
      <p:sp>
        <p:nvSpPr>
          <p:cNvPr id="5" name="TextBox 4">
            <a:extLst>
              <a:ext uri="{FF2B5EF4-FFF2-40B4-BE49-F238E27FC236}">
                <a16:creationId xmlns:a16="http://schemas.microsoft.com/office/drawing/2014/main" id="{62886FDC-5F30-4491-AAFF-AF1D7B73B987}"/>
              </a:ext>
            </a:extLst>
          </p:cNvPr>
          <p:cNvSpPr txBox="1"/>
          <p:nvPr/>
        </p:nvSpPr>
        <p:spPr>
          <a:xfrm>
            <a:off x="421341" y="967850"/>
            <a:ext cx="7124767" cy="461665"/>
          </a:xfrm>
          <a:prstGeom prst="rect">
            <a:avLst/>
          </a:prstGeom>
          <a:noFill/>
        </p:spPr>
        <p:txBody>
          <a:bodyPr wrap="square">
            <a:spAutoFit/>
          </a:bodyPr>
          <a:lstStyle/>
          <a:p>
            <a:r>
              <a:rPr lang="en-US" sz="2400" b="1" dirty="0"/>
              <a:t>4.    Describing macroscale structure of networks</a:t>
            </a:r>
            <a:endParaRPr lang="en-US" sz="2400" b="1" i="1" dirty="0"/>
          </a:p>
        </p:txBody>
      </p:sp>
    </p:spTree>
    <p:extLst>
      <p:ext uri="{BB962C8B-B14F-4D97-AF65-F5344CB8AC3E}">
        <p14:creationId xmlns:p14="http://schemas.microsoft.com/office/powerpoint/2010/main" val="9229753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49691DB4-FD4F-4AA3-8590-BC44BFC6500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4" name="TextBox 3">
            <a:extLst>
              <a:ext uri="{FF2B5EF4-FFF2-40B4-BE49-F238E27FC236}">
                <a16:creationId xmlns:a16="http://schemas.microsoft.com/office/drawing/2014/main" id="{4363B0CE-4B61-4C57-BCEE-74DC96AEE77F}"/>
              </a:ext>
            </a:extLst>
          </p:cNvPr>
          <p:cNvSpPr txBox="1"/>
          <p:nvPr/>
        </p:nvSpPr>
        <p:spPr>
          <a:xfrm>
            <a:off x="182880" y="870857"/>
            <a:ext cx="11686903" cy="4893647"/>
          </a:xfrm>
          <a:prstGeom prst="rect">
            <a:avLst/>
          </a:prstGeom>
          <a:noFill/>
        </p:spPr>
        <p:txBody>
          <a:bodyPr wrap="square" rtlCol="0">
            <a:spAutoFit/>
          </a:bodyPr>
          <a:lstStyle/>
          <a:p>
            <a:r>
              <a:rPr lang="en-US" sz="2400" b="1" dirty="0"/>
              <a:t>Plan for the next two weeks:</a:t>
            </a:r>
          </a:p>
          <a:p>
            <a:endParaRPr lang="en-US" sz="2400" b="1" dirty="0"/>
          </a:p>
          <a:p>
            <a:r>
              <a:rPr lang="en-US" sz="2400" dirty="0"/>
              <a:t>SESSION 1 – What is a network?</a:t>
            </a:r>
          </a:p>
          <a:p>
            <a:endParaRPr lang="en-US" sz="2400" dirty="0"/>
          </a:p>
          <a:p>
            <a:r>
              <a:rPr lang="en-US" sz="2400" dirty="0"/>
              <a:t>SESSION 2 - How do we describe network structures?</a:t>
            </a:r>
          </a:p>
          <a:p>
            <a:endParaRPr lang="en-US" sz="2400" dirty="0"/>
          </a:p>
          <a:p>
            <a:r>
              <a:rPr lang="en-US" sz="2400" b="1" dirty="0"/>
              <a:t>SESSION 3 - How do we test hypotheses in networks?</a:t>
            </a:r>
          </a:p>
          <a:p>
            <a:endParaRPr lang="en-US" sz="2400" dirty="0"/>
          </a:p>
          <a:p>
            <a:endParaRPr lang="en-US" sz="2400" b="1" dirty="0"/>
          </a:p>
          <a:p>
            <a:endParaRPr lang="en-US" sz="2400" b="1" dirty="0"/>
          </a:p>
          <a:p>
            <a:r>
              <a:rPr lang="en-US" sz="2400" b="1" dirty="0">
                <a:highlight>
                  <a:srgbClr val="FFFF00"/>
                </a:highlight>
              </a:rPr>
              <a:t>Course materials:</a:t>
            </a:r>
            <a:br>
              <a:rPr lang="en-US" sz="2400" b="1" dirty="0">
                <a:highlight>
                  <a:srgbClr val="FFFF00"/>
                </a:highlight>
              </a:rPr>
            </a:br>
            <a:br>
              <a:rPr lang="en-US" sz="2400" b="1" dirty="0">
                <a:highlight>
                  <a:srgbClr val="FFFF00"/>
                </a:highlight>
              </a:rPr>
            </a:br>
            <a:r>
              <a:rPr lang="en-US" sz="2400" i="1" dirty="0">
                <a:highlight>
                  <a:srgbClr val="FFFF00"/>
                </a:highlight>
                <a:hlinkClick r:id="rId3"/>
              </a:rPr>
              <a:t>https://github.com/NETDEM-project/CEFE_Networks_Course</a:t>
            </a:r>
            <a:r>
              <a:rPr lang="en-US" sz="2400" i="1" dirty="0">
                <a:highlight>
                  <a:srgbClr val="FFFF00"/>
                </a:highlight>
              </a:rPr>
              <a:t> </a:t>
            </a:r>
            <a:endParaRPr lang="fr-FR" sz="2400" i="1" dirty="0">
              <a:highlight>
                <a:srgbClr val="FFFF00"/>
              </a:highlight>
            </a:endParaRPr>
          </a:p>
        </p:txBody>
      </p:sp>
      <p:pic>
        <p:nvPicPr>
          <p:cNvPr id="5" name="Picture 4" descr="Map&#10;&#10;Description automatically generated">
            <a:extLst>
              <a:ext uri="{FF2B5EF4-FFF2-40B4-BE49-F238E27FC236}">
                <a16:creationId xmlns:a16="http://schemas.microsoft.com/office/drawing/2014/main" id="{D4DE085E-3A5F-44B5-B12E-92C131BECE5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818748" y="3764309"/>
            <a:ext cx="2842029" cy="2767119"/>
          </a:xfrm>
          <a:prstGeom prst="rect">
            <a:avLst/>
          </a:prstGeom>
        </p:spPr>
      </p:pic>
    </p:spTree>
    <p:extLst>
      <p:ext uri="{BB962C8B-B14F-4D97-AF65-F5344CB8AC3E}">
        <p14:creationId xmlns:p14="http://schemas.microsoft.com/office/powerpoint/2010/main" val="11250515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177DEE-692B-428D-8FDA-31DCEF8F245A}"/>
              </a:ext>
            </a:extLst>
          </p:cNvPr>
          <p:cNvSpPr txBox="1"/>
          <p:nvPr/>
        </p:nvSpPr>
        <p:spPr>
          <a:xfrm>
            <a:off x="182880" y="870857"/>
            <a:ext cx="11686903" cy="3785652"/>
          </a:xfrm>
          <a:prstGeom prst="rect">
            <a:avLst/>
          </a:prstGeom>
          <a:noFill/>
        </p:spPr>
        <p:txBody>
          <a:bodyPr wrap="square" rtlCol="0">
            <a:spAutoFit/>
          </a:bodyPr>
          <a:lstStyle/>
          <a:p>
            <a:r>
              <a:rPr lang="en-US" sz="2400" b="1" dirty="0"/>
              <a:t>Plan for today:</a:t>
            </a:r>
          </a:p>
          <a:p>
            <a:endParaRPr lang="en-US" sz="2400" dirty="0"/>
          </a:p>
          <a:p>
            <a:pPr marL="457200" indent="-457200">
              <a:buAutoNum type="arabicPeriod"/>
            </a:pPr>
            <a:r>
              <a:rPr lang="en-US" sz="2400" dirty="0"/>
              <a:t>The challenges of social network analysis</a:t>
            </a:r>
          </a:p>
          <a:p>
            <a:endParaRPr lang="en-US" sz="2400" i="1" dirty="0"/>
          </a:p>
          <a:p>
            <a:pPr marL="457200" indent="-457200">
              <a:buFont typeface="+mj-lt"/>
              <a:buAutoNum type="arabicPeriod" startAt="2"/>
            </a:pPr>
            <a:r>
              <a:rPr lang="en-US" sz="2400" dirty="0"/>
              <a:t>Nodal regressions: using network measures to explain other traits</a:t>
            </a:r>
          </a:p>
          <a:p>
            <a:pPr marL="457200" indent="-457200">
              <a:buAutoNum type="arabicPeriod" startAt="2"/>
            </a:pPr>
            <a:endParaRPr lang="en-US" sz="2400" dirty="0"/>
          </a:p>
          <a:p>
            <a:pPr marL="457200" indent="-457200">
              <a:buFontTx/>
              <a:buAutoNum type="arabicPeriod" startAt="2"/>
            </a:pPr>
            <a:r>
              <a:rPr lang="en-US" sz="2400" dirty="0"/>
              <a:t>Nodal regressions: asking what explains network position</a:t>
            </a:r>
          </a:p>
          <a:p>
            <a:pPr marL="457200" indent="-457200">
              <a:buFontTx/>
              <a:buAutoNum type="arabicPeriod" startAt="2"/>
            </a:pPr>
            <a:endParaRPr lang="en-US" sz="2400" dirty="0"/>
          </a:p>
          <a:p>
            <a:pPr marL="457200" indent="-457200">
              <a:buAutoNum type="arabicPeriod" startAt="2"/>
            </a:pPr>
            <a:r>
              <a:rPr lang="en-US" sz="2400" dirty="0"/>
              <a:t>Dyadic regressions</a:t>
            </a:r>
          </a:p>
          <a:p>
            <a:pPr marL="457200" indent="-457200">
              <a:buAutoNum type="arabicPeriod" startAt="2"/>
            </a:pPr>
            <a:endParaRPr lang="en-US" sz="2400" dirty="0"/>
          </a:p>
        </p:txBody>
      </p:sp>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Tree>
    <p:extLst>
      <p:ext uri="{BB962C8B-B14F-4D97-AF65-F5344CB8AC3E}">
        <p14:creationId xmlns:p14="http://schemas.microsoft.com/office/powerpoint/2010/main" val="2755491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524FAF2C-E8EF-4986-B4B0-6280DE3DB561}"/>
              </a:ext>
            </a:extLst>
          </p:cNvPr>
          <p:cNvSpPr txBox="1"/>
          <p:nvPr/>
        </p:nvSpPr>
        <p:spPr>
          <a:xfrm>
            <a:off x="1006001" y="1972546"/>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There are various challenges that can make statistical modelling of networks complicated</a:t>
            </a:r>
            <a:endParaRPr lang="en-CA" sz="2400" dirty="0">
              <a:solidFill>
                <a:schemeClr val="accent5">
                  <a:lumMod val="20000"/>
                  <a:lumOff val="80000"/>
                </a:schemeClr>
              </a:solidFill>
            </a:endParaRPr>
          </a:p>
        </p:txBody>
      </p:sp>
      <p:sp>
        <p:nvSpPr>
          <p:cNvPr id="7" name="TextBox 6">
            <a:extLst>
              <a:ext uri="{FF2B5EF4-FFF2-40B4-BE49-F238E27FC236}">
                <a16:creationId xmlns:a16="http://schemas.microsoft.com/office/drawing/2014/main" id="{DF8EDE51-3F94-49D8-9ED4-30535B445E1D}"/>
              </a:ext>
            </a:extLst>
          </p:cNvPr>
          <p:cNvSpPr txBox="1"/>
          <p:nvPr/>
        </p:nvSpPr>
        <p:spPr>
          <a:xfrm>
            <a:off x="1006002" y="3059628"/>
            <a:ext cx="10390094" cy="1569660"/>
          </a:xfrm>
          <a:prstGeom prst="rect">
            <a:avLst/>
          </a:prstGeom>
          <a:solidFill>
            <a:schemeClr val="accent1">
              <a:lumMod val="40000"/>
              <a:lumOff val="6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marL="457200" indent="-457200">
              <a:buAutoNum type="arabicPeriod"/>
            </a:pPr>
            <a:r>
              <a:rPr lang="en-US" sz="2400" b="1" dirty="0">
                <a:solidFill>
                  <a:srgbClr val="002060"/>
                </a:solidFill>
              </a:rPr>
              <a:t>Non-independence</a:t>
            </a:r>
          </a:p>
          <a:p>
            <a:pPr marL="457200" indent="-457200">
              <a:buAutoNum type="arabicPeriod"/>
            </a:pPr>
            <a:endParaRPr lang="en-US" sz="2400" dirty="0">
              <a:solidFill>
                <a:srgbClr val="002060"/>
              </a:solidFill>
            </a:endParaRPr>
          </a:p>
          <a:p>
            <a:pPr marL="1371600" lvl="2" indent="-457200">
              <a:buFont typeface="+mj-lt"/>
              <a:buAutoNum type="alphaUcPeriod"/>
            </a:pPr>
            <a:r>
              <a:rPr lang="en-US" sz="2400" dirty="0">
                <a:solidFill>
                  <a:srgbClr val="002060"/>
                </a:solidFill>
              </a:rPr>
              <a:t>Non-independence among the network position of different individuals</a:t>
            </a:r>
          </a:p>
          <a:p>
            <a:pPr marL="1371600" lvl="2" indent="-457200">
              <a:buFont typeface="+mj-lt"/>
              <a:buAutoNum type="alphaUcPeriod"/>
            </a:pPr>
            <a:endParaRPr lang="en-US" sz="2400" dirty="0">
              <a:solidFill>
                <a:srgbClr val="002060"/>
              </a:solidFill>
            </a:endParaRPr>
          </a:p>
        </p:txBody>
      </p:sp>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6170064" cy="461665"/>
          </a:xfrm>
          <a:prstGeom prst="rect">
            <a:avLst/>
          </a:prstGeom>
          <a:noFill/>
        </p:spPr>
        <p:txBody>
          <a:bodyPr wrap="square">
            <a:spAutoFit/>
          </a:bodyPr>
          <a:lstStyle/>
          <a:p>
            <a:pPr marL="457200" indent="-457200">
              <a:buAutoNum type="arabicPeriod"/>
            </a:pPr>
            <a:r>
              <a:rPr lang="en-US" sz="2400" dirty="0"/>
              <a:t>The challenges of social network analysis</a:t>
            </a:r>
          </a:p>
        </p:txBody>
      </p:sp>
    </p:spTree>
    <p:extLst>
      <p:ext uri="{BB962C8B-B14F-4D97-AF65-F5344CB8AC3E}">
        <p14:creationId xmlns:p14="http://schemas.microsoft.com/office/powerpoint/2010/main" val="19918007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524FAF2C-E8EF-4986-B4B0-6280DE3DB561}"/>
              </a:ext>
            </a:extLst>
          </p:cNvPr>
          <p:cNvSpPr txBox="1"/>
          <p:nvPr/>
        </p:nvSpPr>
        <p:spPr>
          <a:xfrm>
            <a:off x="1006001" y="1972546"/>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There are various challenges that can make statistical modelling of networks complicated</a:t>
            </a:r>
            <a:endParaRPr lang="en-CA" sz="2400" dirty="0">
              <a:solidFill>
                <a:schemeClr val="accent5">
                  <a:lumMod val="20000"/>
                  <a:lumOff val="80000"/>
                </a:schemeClr>
              </a:solidFill>
            </a:endParaRPr>
          </a:p>
        </p:txBody>
      </p:sp>
      <p:sp>
        <p:nvSpPr>
          <p:cNvPr id="7" name="TextBox 6">
            <a:extLst>
              <a:ext uri="{FF2B5EF4-FFF2-40B4-BE49-F238E27FC236}">
                <a16:creationId xmlns:a16="http://schemas.microsoft.com/office/drawing/2014/main" id="{DF8EDE51-3F94-49D8-9ED4-30535B445E1D}"/>
              </a:ext>
            </a:extLst>
          </p:cNvPr>
          <p:cNvSpPr txBox="1"/>
          <p:nvPr/>
        </p:nvSpPr>
        <p:spPr>
          <a:xfrm>
            <a:off x="1006002" y="3059628"/>
            <a:ext cx="10390094" cy="2308324"/>
          </a:xfrm>
          <a:prstGeom prst="rect">
            <a:avLst/>
          </a:prstGeom>
          <a:solidFill>
            <a:schemeClr val="accent1">
              <a:lumMod val="40000"/>
              <a:lumOff val="6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marL="457200" indent="-457200">
              <a:buAutoNum type="arabicPeriod"/>
            </a:pPr>
            <a:r>
              <a:rPr lang="en-US" sz="2400" b="1" dirty="0">
                <a:solidFill>
                  <a:srgbClr val="002060"/>
                </a:solidFill>
              </a:rPr>
              <a:t>Non-independence</a:t>
            </a:r>
          </a:p>
          <a:p>
            <a:pPr marL="457200" indent="-457200">
              <a:buAutoNum type="arabicPeriod"/>
            </a:pPr>
            <a:endParaRPr lang="en-US" sz="2400" dirty="0">
              <a:solidFill>
                <a:srgbClr val="002060"/>
              </a:solidFill>
            </a:endParaRPr>
          </a:p>
          <a:p>
            <a:pPr marL="1371600" lvl="2" indent="-457200">
              <a:buFont typeface="+mj-lt"/>
              <a:buAutoNum type="alphaUcPeriod"/>
            </a:pPr>
            <a:r>
              <a:rPr lang="en-US" sz="2400" dirty="0">
                <a:solidFill>
                  <a:srgbClr val="002060"/>
                </a:solidFill>
              </a:rPr>
              <a:t>Non-independence among the network position of different individuals</a:t>
            </a:r>
          </a:p>
          <a:p>
            <a:pPr marL="1371600" lvl="2" indent="-457200">
              <a:buFont typeface="+mj-lt"/>
              <a:buAutoNum type="alphaUcPeriod"/>
            </a:pPr>
            <a:endParaRPr lang="en-US" sz="2400" dirty="0">
              <a:solidFill>
                <a:srgbClr val="002060"/>
              </a:solidFill>
            </a:endParaRPr>
          </a:p>
          <a:p>
            <a:pPr marL="1371600" lvl="2" indent="-457200">
              <a:buFont typeface="+mj-lt"/>
              <a:buAutoNum type="alphaUcPeriod"/>
            </a:pPr>
            <a:r>
              <a:rPr lang="en-US" sz="2400" dirty="0">
                <a:solidFill>
                  <a:srgbClr val="002060"/>
                </a:solidFill>
              </a:rPr>
              <a:t>Non-independence among edges (or social relationships)</a:t>
            </a:r>
          </a:p>
          <a:p>
            <a:pPr marL="457200" indent="-457200">
              <a:buAutoNum type="arabicPeriod"/>
            </a:pPr>
            <a:endParaRPr lang="en-US" sz="2400" dirty="0">
              <a:solidFill>
                <a:srgbClr val="002060"/>
              </a:solidFill>
            </a:endParaRPr>
          </a:p>
        </p:txBody>
      </p:sp>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6170064" cy="461665"/>
          </a:xfrm>
          <a:prstGeom prst="rect">
            <a:avLst/>
          </a:prstGeom>
          <a:noFill/>
        </p:spPr>
        <p:txBody>
          <a:bodyPr wrap="square">
            <a:spAutoFit/>
          </a:bodyPr>
          <a:lstStyle/>
          <a:p>
            <a:pPr marL="457200" indent="-457200">
              <a:buAutoNum type="arabicPeriod"/>
            </a:pPr>
            <a:r>
              <a:rPr lang="en-US" sz="2400" dirty="0"/>
              <a:t>The challenges of social network analysis</a:t>
            </a:r>
          </a:p>
        </p:txBody>
      </p:sp>
    </p:spTree>
    <p:extLst>
      <p:ext uri="{BB962C8B-B14F-4D97-AF65-F5344CB8AC3E}">
        <p14:creationId xmlns:p14="http://schemas.microsoft.com/office/powerpoint/2010/main" val="3954799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524FAF2C-E8EF-4986-B4B0-6280DE3DB561}"/>
              </a:ext>
            </a:extLst>
          </p:cNvPr>
          <p:cNvSpPr txBox="1"/>
          <p:nvPr/>
        </p:nvSpPr>
        <p:spPr>
          <a:xfrm>
            <a:off x="1006001" y="1972546"/>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There are various challenges that can make statistical modelling of networks complicated</a:t>
            </a:r>
            <a:endParaRPr lang="en-CA" sz="2400" dirty="0">
              <a:solidFill>
                <a:schemeClr val="accent5">
                  <a:lumMod val="20000"/>
                  <a:lumOff val="80000"/>
                </a:schemeClr>
              </a:solidFill>
            </a:endParaRPr>
          </a:p>
        </p:txBody>
      </p:sp>
      <p:sp>
        <p:nvSpPr>
          <p:cNvPr id="7" name="TextBox 6">
            <a:extLst>
              <a:ext uri="{FF2B5EF4-FFF2-40B4-BE49-F238E27FC236}">
                <a16:creationId xmlns:a16="http://schemas.microsoft.com/office/drawing/2014/main" id="{DF8EDE51-3F94-49D8-9ED4-30535B445E1D}"/>
              </a:ext>
            </a:extLst>
          </p:cNvPr>
          <p:cNvSpPr txBox="1"/>
          <p:nvPr/>
        </p:nvSpPr>
        <p:spPr>
          <a:xfrm>
            <a:off x="1006002" y="3059628"/>
            <a:ext cx="10390094" cy="3046988"/>
          </a:xfrm>
          <a:prstGeom prst="rect">
            <a:avLst/>
          </a:prstGeom>
          <a:solidFill>
            <a:schemeClr val="accent1">
              <a:lumMod val="40000"/>
              <a:lumOff val="6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marL="457200" indent="-457200">
              <a:buAutoNum type="arabicPeriod"/>
            </a:pPr>
            <a:r>
              <a:rPr lang="en-US" sz="2400" b="1" dirty="0">
                <a:solidFill>
                  <a:srgbClr val="002060"/>
                </a:solidFill>
              </a:rPr>
              <a:t>Non-independence</a:t>
            </a:r>
          </a:p>
          <a:p>
            <a:pPr marL="457200" indent="-457200">
              <a:buAutoNum type="arabicPeriod"/>
            </a:pPr>
            <a:endParaRPr lang="en-US" sz="2400" dirty="0">
              <a:solidFill>
                <a:srgbClr val="002060"/>
              </a:solidFill>
            </a:endParaRPr>
          </a:p>
          <a:p>
            <a:pPr marL="1371600" lvl="2" indent="-457200">
              <a:buFont typeface="+mj-lt"/>
              <a:buAutoNum type="alphaUcPeriod"/>
            </a:pPr>
            <a:r>
              <a:rPr lang="en-US" sz="2400" dirty="0">
                <a:solidFill>
                  <a:srgbClr val="002060"/>
                </a:solidFill>
              </a:rPr>
              <a:t>Non-independence among the network position of different individuals</a:t>
            </a:r>
          </a:p>
          <a:p>
            <a:pPr marL="1371600" lvl="2" indent="-457200">
              <a:buFont typeface="+mj-lt"/>
              <a:buAutoNum type="alphaUcPeriod"/>
            </a:pPr>
            <a:endParaRPr lang="en-US" sz="2400" dirty="0">
              <a:solidFill>
                <a:srgbClr val="002060"/>
              </a:solidFill>
            </a:endParaRPr>
          </a:p>
          <a:p>
            <a:pPr marL="1371600" lvl="2" indent="-457200">
              <a:buFont typeface="+mj-lt"/>
              <a:buAutoNum type="alphaUcPeriod"/>
            </a:pPr>
            <a:r>
              <a:rPr lang="en-US" sz="2400" dirty="0">
                <a:solidFill>
                  <a:srgbClr val="002060"/>
                </a:solidFill>
              </a:rPr>
              <a:t>Non-independence among edges (or social relationships)</a:t>
            </a:r>
          </a:p>
          <a:p>
            <a:pPr marL="457200" indent="-457200">
              <a:buAutoNum type="arabicPeriod"/>
            </a:pPr>
            <a:endParaRPr lang="en-US" sz="2400" dirty="0">
              <a:solidFill>
                <a:srgbClr val="002060"/>
              </a:solidFill>
            </a:endParaRPr>
          </a:p>
          <a:p>
            <a:pPr marL="457200" indent="-457200">
              <a:buAutoNum type="arabicPeriod"/>
            </a:pPr>
            <a:r>
              <a:rPr lang="en-US" sz="2400" b="1" dirty="0">
                <a:solidFill>
                  <a:srgbClr val="002060"/>
                </a:solidFill>
              </a:rPr>
              <a:t>Covariance among network </a:t>
            </a:r>
            <a:r>
              <a:rPr lang="en-US" sz="2400" b="1" dirty="0" err="1">
                <a:solidFill>
                  <a:srgbClr val="002060"/>
                </a:solidFill>
              </a:rPr>
              <a:t>neighbours</a:t>
            </a:r>
            <a:endParaRPr lang="en-US" sz="2400" b="1" dirty="0">
              <a:solidFill>
                <a:srgbClr val="002060"/>
              </a:solidFill>
            </a:endParaRPr>
          </a:p>
          <a:p>
            <a:pPr marL="457200" indent="-457200">
              <a:buAutoNum type="arabicPeriod"/>
            </a:pPr>
            <a:endParaRPr lang="en-US" sz="2400" dirty="0">
              <a:solidFill>
                <a:srgbClr val="002060"/>
              </a:solidFill>
            </a:endParaRPr>
          </a:p>
        </p:txBody>
      </p:sp>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6170064" cy="461665"/>
          </a:xfrm>
          <a:prstGeom prst="rect">
            <a:avLst/>
          </a:prstGeom>
          <a:noFill/>
        </p:spPr>
        <p:txBody>
          <a:bodyPr wrap="square">
            <a:spAutoFit/>
          </a:bodyPr>
          <a:lstStyle/>
          <a:p>
            <a:pPr marL="457200" indent="-457200">
              <a:buAutoNum type="arabicPeriod"/>
            </a:pPr>
            <a:r>
              <a:rPr lang="en-US" sz="2400" dirty="0"/>
              <a:t>The challenges of social network analysis</a:t>
            </a:r>
          </a:p>
        </p:txBody>
      </p:sp>
    </p:spTree>
    <p:extLst>
      <p:ext uri="{BB962C8B-B14F-4D97-AF65-F5344CB8AC3E}">
        <p14:creationId xmlns:p14="http://schemas.microsoft.com/office/powerpoint/2010/main" val="22245587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6" name="TextBox 5">
            <a:extLst>
              <a:ext uri="{FF2B5EF4-FFF2-40B4-BE49-F238E27FC236}">
                <a16:creationId xmlns:a16="http://schemas.microsoft.com/office/drawing/2014/main" id="{524FAF2C-E8EF-4986-B4B0-6280DE3DB561}"/>
              </a:ext>
            </a:extLst>
          </p:cNvPr>
          <p:cNvSpPr txBox="1"/>
          <p:nvPr/>
        </p:nvSpPr>
        <p:spPr>
          <a:xfrm>
            <a:off x="1006001" y="1972546"/>
            <a:ext cx="10390095" cy="830997"/>
          </a:xfrm>
          <a:prstGeom prst="rect">
            <a:avLst/>
          </a:prstGeom>
          <a:solidFill>
            <a:srgbClr val="00206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dirty="0">
                <a:solidFill>
                  <a:schemeClr val="accent5">
                    <a:lumMod val="20000"/>
                    <a:lumOff val="80000"/>
                  </a:schemeClr>
                </a:solidFill>
              </a:rPr>
              <a:t>There are various challenges that can make statistical modelling of networks complicated</a:t>
            </a:r>
            <a:endParaRPr lang="en-CA" sz="2400" dirty="0">
              <a:solidFill>
                <a:schemeClr val="accent5">
                  <a:lumMod val="20000"/>
                  <a:lumOff val="80000"/>
                </a:schemeClr>
              </a:solidFill>
            </a:endParaRPr>
          </a:p>
        </p:txBody>
      </p:sp>
      <p:sp>
        <p:nvSpPr>
          <p:cNvPr id="7" name="TextBox 6">
            <a:extLst>
              <a:ext uri="{FF2B5EF4-FFF2-40B4-BE49-F238E27FC236}">
                <a16:creationId xmlns:a16="http://schemas.microsoft.com/office/drawing/2014/main" id="{DF8EDE51-3F94-49D8-9ED4-30535B445E1D}"/>
              </a:ext>
            </a:extLst>
          </p:cNvPr>
          <p:cNvSpPr txBox="1"/>
          <p:nvPr/>
        </p:nvSpPr>
        <p:spPr>
          <a:xfrm>
            <a:off x="1006002" y="3059628"/>
            <a:ext cx="10390094" cy="3416320"/>
          </a:xfrm>
          <a:prstGeom prst="rect">
            <a:avLst/>
          </a:prstGeom>
          <a:solidFill>
            <a:schemeClr val="accent1">
              <a:lumMod val="40000"/>
              <a:lumOff val="6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marL="457200" indent="-457200">
              <a:buAutoNum type="arabicPeriod"/>
            </a:pPr>
            <a:r>
              <a:rPr lang="en-US" sz="2400" b="1" dirty="0">
                <a:solidFill>
                  <a:srgbClr val="002060"/>
                </a:solidFill>
              </a:rPr>
              <a:t>Non-independence</a:t>
            </a:r>
          </a:p>
          <a:p>
            <a:pPr marL="457200" indent="-457200">
              <a:buAutoNum type="arabicPeriod"/>
            </a:pPr>
            <a:endParaRPr lang="en-US" sz="2400" dirty="0">
              <a:solidFill>
                <a:srgbClr val="002060"/>
              </a:solidFill>
            </a:endParaRPr>
          </a:p>
          <a:p>
            <a:pPr marL="1371600" lvl="2" indent="-457200">
              <a:buFont typeface="+mj-lt"/>
              <a:buAutoNum type="alphaUcPeriod"/>
            </a:pPr>
            <a:r>
              <a:rPr lang="en-US" sz="2400" dirty="0">
                <a:solidFill>
                  <a:srgbClr val="002060"/>
                </a:solidFill>
              </a:rPr>
              <a:t>Non-independence among the network position of different individuals</a:t>
            </a:r>
          </a:p>
          <a:p>
            <a:pPr marL="1371600" lvl="2" indent="-457200">
              <a:buFont typeface="+mj-lt"/>
              <a:buAutoNum type="alphaUcPeriod"/>
            </a:pPr>
            <a:endParaRPr lang="en-US" sz="2400" dirty="0">
              <a:solidFill>
                <a:srgbClr val="002060"/>
              </a:solidFill>
            </a:endParaRPr>
          </a:p>
          <a:p>
            <a:pPr marL="1371600" lvl="2" indent="-457200">
              <a:buFont typeface="+mj-lt"/>
              <a:buAutoNum type="alphaUcPeriod"/>
            </a:pPr>
            <a:r>
              <a:rPr lang="en-US" sz="2400" dirty="0">
                <a:solidFill>
                  <a:srgbClr val="002060"/>
                </a:solidFill>
              </a:rPr>
              <a:t>Non-independence among edges (or social relationships)</a:t>
            </a:r>
          </a:p>
          <a:p>
            <a:pPr marL="457200" indent="-457200">
              <a:buAutoNum type="arabicPeriod"/>
            </a:pPr>
            <a:endParaRPr lang="en-US" sz="2400" dirty="0">
              <a:solidFill>
                <a:srgbClr val="002060"/>
              </a:solidFill>
            </a:endParaRPr>
          </a:p>
          <a:p>
            <a:pPr marL="457200" indent="-457200">
              <a:buAutoNum type="arabicPeriod"/>
            </a:pPr>
            <a:r>
              <a:rPr lang="en-US" sz="2400" b="1" dirty="0">
                <a:solidFill>
                  <a:srgbClr val="002060"/>
                </a:solidFill>
              </a:rPr>
              <a:t>Covariance among network </a:t>
            </a:r>
            <a:r>
              <a:rPr lang="en-US" sz="2400" b="1" dirty="0" err="1">
                <a:solidFill>
                  <a:srgbClr val="002060"/>
                </a:solidFill>
              </a:rPr>
              <a:t>neighbours</a:t>
            </a:r>
            <a:endParaRPr lang="en-US" sz="2400" b="1" dirty="0">
              <a:solidFill>
                <a:srgbClr val="002060"/>
              </a:solidFill>
            </a:endParaRPr>
          </a:p>
          <a:p>
            <a:pPr marL="457200" indent="-457200">
              <a:buAutoNum type="arabicPeriod"/>
            </a:pPr>
            <a:endParaRPr lang="en-US" sz="2400" dirty="0">
              <a:solidFill>
                <a:srgbClr val="002060"/>
              </a:solidFill>
            </a:endParaRPr>
          </a:p>
          <a:p>
            <a:pPr marL="457200" indent="-457200">
              <a:buAutoNum type="arabicPeriod"/>
            </a:pPr>
            <a:r>
              <a:rPr lang="en-US" sz="2400" b="1" dirty="0">
                <a:solidFill>
                  <a:srgbClr val="002060"/>
                </a:solidFill>
              </a:rPr>
              <a:t>Sensitivity to missing data</a:t>
            </a:r>
            <a:endParaRPr lang="en-CA" sz="2400" b="1" dirty="0">
              <a:solidFill>
                <a:srgbClr val="002060"/>
              </a:solidFill>
            </a:endParaRPr>
          </a:p>
        </p:txBody>
      </p:sp>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6170064" cy="461665"/>
          </a:xfrm>
          <a:prstGeom prst="rect">
            <a:avLst/>
          </a:prstGeom>
          <a:noFill/>
        </p:spPr>
        <p:txBody>
          <a:bodyPr wrap="square">
            <a:spAutoFit/>
          </a:bodyPr>
          <a:lstStyle/>
          <a:p>
            <a:pPr marL="457200" indent="-457200">
              <a:buAutoNum type="arabicPeriod"/>
            </a:pPr>
            <a:r>
              <a:rPr lang="en-US" sz="2400" dirty="0"/>
              <a:t>The challenges of social network analysis</a:t>
            </a:r>
          </a:p>
        </p:txBody>
      </p:sp>
    </p:spTree>
    <p:extLst>
      <p:ext uri="{BB962C8B-B14F-4D97-AF65-F5344CB8AC3E}">
        <p14:creationId xmlns:p14="http://schemas.microsoft.com/office/powerpoint/2010/main" val="23992303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6170064" cy="461665"/>
          </a:xfrm>
          <a:prstGeom prst="rect">
            <a:avLst/>
          </a:prstGeom>
          <a:noFill/>
        </p:spPr>
        <p:txBody>
          <a:bodyPr wrap="square">
            <a:spAutoFit/>
          </a:bodyPr>
          <a:lstStyle/>
          <a:p>
            <a:pPr marL="457200" indent="-457200">
              <a:buAutoNum type="arabicPeriod"/>
            </a:pPr>
            <a:r>
              <a:rPr lang="en-US" sz="2400" dirty="0"/>
              <a:t>The challenges of social network analysis</a:t>
            </a:r>
          </a:p>
        </p:txBody>
      </p:sp>
      <p:pic>
        <p:nvPicPr>
          <p:cNvPr id="9" name="Picture 8" descr="Map&#10;&#10;Description automatically generated">
            <a:extLst>
              <a:ext uri="{FF2B5EF4-FFF2-40B4-BE49-F238E27FC236}">
                <a16:creationId xmlns:a16="http://schemas.microsoft.com/office/drawing/2014/main" id="{1E187A2F-2213-4838-A369-AFA2361720E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09265" y="1920696"/>
            <a:ext cx="4343579" cy="4229091"/>
          </a:xfrm>
          <a:prstGeom prst="rect">
            <a:avLst/>
          </a:prstGeom>
        </p:spPr>
      </p:pic>
      <p:sp>
        <p:nvSpPr>
          <p:cNvPr id="2" name="TextBox 1">
            <a:extLst>
              <a:ext uri="{FF2B5EF4-FFF2-40B4-BE49-F238E27FC236}">
                <a16:creationId xmlns:a16="http://schemas.microsoft.com/office/drawing/2014/main" id="{2AC160FD-0517-4C08-9271-0DFAA9A21767}"/>
              </a:ext>
            </a:extLst>
          </p:cNvPr>
          <p:cNvSpPr txBox="1"/>
          <p:nvPr/>
        </p:nvSpPr>
        <p:spPr>
          <a:xfrm>
            <a:off x="5847127" y="2080470"/>
            <a:ext cx="6006517" cy="2246769"/>
          </a:xfrm>
          <a:prstGeom prst="rect">
            <a:avLst/>
          </a:prstGeom>
          <a:noFill/>
        </p:spPr>
        <p:txBody>
          <a:bodyPr wrap="square" rtlCol="0">
            <a:spAutoFit/>
          </a:bodyPr>
          <a:lstStyle/>
          <a:p>
            <a:r>
              <a:rPr lang="en-US" sz="2000" b="1" dirty="0"/>
              <a:t>What happens if I remove some individuals from this network?</a:t>
            </a:r>
          </a:p>
          <a:p>
            <a:endParaRPr lang="en-US" sz="2000" b="1" dirty="0"/>
          </a:p>
          <a:p>
            <a:r>
              <a:rPr lang="en-US" sz="2000" b="1" dirty="0"/>
              <a:t>	</a:t>
            </a:r>
            <a:r>
              <a:rPr lang="en-US" sz="2000" dirty="0"/>
              <a:t>- The centrality of different individuals changes 	(</a:t>
            </a:r>
            <a:r>
              <a:rPr lang="en-US" sz="2000" b="1" i="1" dirty="0"/>
              <a:t>especially for global centrality measures</a:t>
            </a:r>
            <a:r>
              <a:rPr lang="en-US" sz="2000" dirty="0"/>
              <a:t>)</a:t>
            </a:r>
          </a:p>
          <a:p>
            <a:endParaRPr lang="en-US" sz="2000" b="1" dirty="0"/>
          </a:p>
          <a:p>
            <a:r>
              <a:rPr lang="en-US" sz="2000" b="1" dirty="0"/>
              <a:t>	</a:t>
            </a:r>
            <a:r>
              <a:rPr lang="en-US" sz="2000" dirty="0"/>
              <a:t>- Centrality measures are now less accurate</a:t>
            </a:r>
            <a:endParaRPr lang="fr-FR" sz="2000" dirty="0"/>
          </a:p>
        </p:txBody>
      </p:sp>
      <p:sp>
        <p:nvSpPr>
          <p:cNvPr id="5" name="Multiplication Sign 4">
            <a:extLst>
              <a:ext uri="{FF2B5EF4-FFF2-40B4-BE49-F238E27FC236}">
                <a16:creationId xmlns:a16="http://schemas.microsoft.com/office/drawing/2014/main" id="{7A9A3315-6D1D-4245-BBC4-EE43A06826E8}"/>
              </a:ext>
            </a:extLst>
          </p:cNvPr>
          <p:cNvSpPr/>
          <p:nvPr/>
        </p:nvSpPr>
        <p:spPr>
          <a:xfrm flipH="1">
            <a:off x="4259744" y="4496499"/>
            <a:ext cx="354202" cy="318782"/>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Multiplication Sign 9">
            <a:extLst>
              <a:ext uri="{FF2B5EF4-FFF2-40B4-BE49-F238E27FC236}">
                <a16:creationId xmlns:a16="http://schemas.microsoft.com/office/drawing/2014/main" id="{F420778A-7D43-47F9-A161-03BC982C8ACD}"/>
              </a:ext>
            </a:extLst>
          </p:cNvPr>
          <p:cNvSpPr/>
          <p:nvPr/>
        </p:nvSpPr>
        <p:spPr>
          <a:xfrm flipH="1">
            <a:off x="2356841" y="3566719"/>
            <a:ext cx="354202" cy="318782"/>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Multiplication Sign 10">
            <a:extLst>
              <a:ext uri="{FF2B5EF4-FFF2-40B4-BE49-F238E27FC236}">
                <a16:creationId xmlns:a16="http://schemas.microsoft.com/office/drawing/2014/main" id="{AB1BE960-1CB8-4335-AA60-6821B8E75C09}"/>
              </a:ext>
            </a:extLst>
          </p:cNvPr>
          <p:cNvSpPr/>
          <p:nvPr/>
        </p:nvSpPr>
        <p:spPr>
          <a:xfrm flipH="1">
            <a:off x="2960408" y="5338194"/>
            <a:ext cx="354202" cy="318782"/>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9107677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6170064" cy="461665"/>
          </a:xfrm>
          <a:prstGeom prst="rect">
            <a:avLst/>
          </a:prstGeom>
          <a:noFill/>
        </p:spPr>
        <p:txBody>
          <a:bodyPr wrap="square">
            <a:spAutoFit/>
          </a:bodyPr>
          <a:lstStyle/>
          <a:p>
            <a:pPr marL="457200" indent="-457200">
              <a:buAutoNum type="arabicPeriod"/>
            </a:pPr>
            <a:r>
              <a:rPr lang="en-US" sz="2400" dirty="0"/>
              <a:t>The challenges of social network analysis</a:t>
            </a:r>
          </a:p>
        </p:txBody>
      </p:sp>
      <p:pic>
        <p:nvPicPr>
          <p:cNvPr id="9" name="Picture 8" descr="Map&#10;&#10;Description automatically generated">
            <a:extLst>
              <a:ext uri="{FF2B5EF4-FFF2-40B4-BE49-F238E27FC236}">
                <a16:creationId xmlns:a16="http://schemas.microsoft.com/office/drawing/2014/main" id="{1E187A2F-2213-4838-A369-AFA2361720E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09265" y="1920696"/>
            <a:ext cx="4343579" cy="4229091"/>
          </a:xfrm>
          <a:prstGeom prst="rect">
            <a:avLst/>
          </a:prstGeom>
        </p:spPr>
      </p:pic>
      <p:sp>
        <p:nvSpPr>
          <p:cNvPr id="2" name="TextBox 1">
            <a:extLst>
              <a:ext uri="{FF2B5EF4-FFF2-40B4-BE49-F238E27FC236}">
                <a16:creationId xmlns:a16="http://schemas.microsoft.com/office/drawing/2014/main" id="{2AC160FD-0517-4C08-9271-0DFAA9A21767}"/>
              </a:ext>
            </a:extLst>
          </p:cNvPr>
          <p:cNvSpPr txBox="1"/>
          <p:nvPr/>
        </p:nvSpPr>
        <p:spPr>
          <a:xfrm>
            <a:off x="5847127" y="2080470"/>
            <a:ext cx="6006517" cy="4401205"/>
          </a:xfrm>
          <a:prstGeom prst="rect">
            <a:avLst/>
          </a:prstGeom>
          <a:noFill/>
        </p:spPr>
        <p:txBody>
          <a:bodyPr wrap="square" rtlCol="0">
            <a:spAutoFit/>
          </a:bodyPr>
          <a:lstStyle/>
          <a:p>
            <a:r>
              <a:rPr lang="en-US" sz="2000" b="1" dirty="0"/>
              <a:t>What happens if I remove some individuals from this network?</a:t>
            </a:r>
          </a:p>
          <a:p>
            <a:endParaRPr lang="en-US" sz="2000" b="1" dirty="0"/>
          </a:p>
          <a:p>
            <a:r>
              <a:rPr lang="en-US" sz="2000" b="1" dirty="0"/>
              <a:t>	</a:t>
            </a:r>
            <a:r>
              <a:rPr lang="en-US" sz="2000" dirty="0"/>
              <a:t>- The centrality of different individuals changes 	(</a:t>
            </a:r>
            <a:r>
              <a:rPr lang="en-US" sz="2000" b="1" i="1" dirty="0"/>
              <a:t>especially for global centrality measures</a:t>
            </a:r>
            <a:r>
              <a:rPr lang="en-US" sz="2000" dirty="0"/>
              <a:t>)</a:t>
            </a:r>
          </a:p>
          <a:p>
            <a:endParaRPr lang="en-US" sz="2000" b="1" dirty="0"/>
          </a:p>
          <a:p>
            <a:r>
              <a:rPr lang="en-US" sz="2000" b="1" dirty="0"/>
              <a:t>	</a:t>
            </a:r>
            <a:r>
              <a:rPr lang="en-US" sz="2000" dirty="0"/>
              <a:t>- Centrality measures are now less accurate</a:t>
            </a:r>
          </a:p>
          <a:p>
            <a:endParaRPr lang="en-US" sz="2000" dirty="0"/>
          </a:p>
          <a:p>
            <a:endParaRPr lang="en-US" sz="2000" dirty="0"/>
          </a:p>
          <a:p>
            <a:r>
              <a:rPr lang="en-US" sz="2000" b="1" dirty="0"/>
              <a:t>What happens if a new edge forms in the network?</a:t>
            </a:r>
          </a:p>
          <a:p>
            <a:endParaRPr lang="en-US" sz="2000" b="1" dirty="0"/>
          </a:p>
          <a:p>
            <a:r>
              <a:rPr lang="en-US" sz="2000" dirty="0"/>
              <a:t>	- Are closely connected nodes also likely to 	form new social connections?</a:t>
            </a:r>
          </a:p>
          <a:p>
            <a:endParaRPr lang="fr-FR" sz="2000" dirty="0"/>
          </a:p>
        </p:txBody>
      </p:sp>
      <p:sp>
        <p:nvSpPr>
          <p:cNvPr id="5" name="Multiplication Sign 4">
            <a:extLst>
              <a:ext uri="{FF2B5EF4-FFF2-40B4-BE49-F238E27FC236}">
                <a16:creationId xmlns:a16="http://schemas.microsoft.com/office/drawing/2014/main" id="{7A9A3315-6D1D-4245-BBC4-EE43A06826E8}"/>
              </a:ext>
            </a:extLst>
          </p:cNvPr>
          <p:cNvSpPr/>
          <p:nvPr/>
        </p:nvSpPr>
        <p:spPr>
          <a:xfrm flipH="1">
            <a:off x="4259744" y="4496499"/>
            <a:ext cx="354202" cy="318782"/>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Multiplication Sign 9">
            <a:extLst>
              <a:ext uri="{FF2B5EF4-FFF2-40B4-BE49-F238E27FC236}">
                <a16:creationId xmlns:a16="http://schemas.microsoft.com/office/drawing/2014/main" id="{F420778A-7D43-47F9-A161-03BC982C8ACD}"/>
              </a:ext>
            </a:extLst>
          </p:cNvPr>
          <p:cNvSpPr/>
          <p:nvPr/>
        </p:nvSpPr>
        <p:spPr>
          <a:xfrm flipH="1">
            <a:off x="2356841" y="3566719"/>
            <a:ext cx="354202" cy="318782"/>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Multiplication Sign 10">
            <a:extLst>
              <a:ext uri="{FF2B5EF4-FFF2-40B4-BE49-F238E27FC236}">
                <a16:creationId xmlns:a16="http://schemas.microsoft.com/office/drawing/2014/main" id="{AB1BE960-1CB8-4335-AA60-6821B8E75C09}"/>
              </a:ext>
            </a:extLst>
          </p:cNvPr>
          <p:cNvSpPr/>
          <p:nvPr/>
        </p:nvSpPr>
        <p:spPr>
          <a:xfrm flipH="1">
            <a:off x="2960408" y="5338194"/>
            <a:ext cx="354202" cy="318782"/>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Straight Connector 11">
            <a:extLst>
              <a:ext uri="{FF2B5EF4-FFF2-40B4-BE49-F238E27FC236}">
                <a16:creationId xmlns:a16="http://schemas.microsoft.com/office/drawing/2014/main" id="{02D9035F-16EF-439B-A8FC-B47B7CF87E03}"/>
              </a:ext>
            </a:extLst>
          </p:cNvPr>
          <p:cNvCxnSpPr>
            <a:cxnSpLocks/>
          </p:cNvCxnSpPr>
          <p:nvPr/>
        </p:nvCxnSpPr>
        <p:spPr>
          <a:xfrm>
            <a:off x="3021806" y="2412206"/>
            <a:ext cx="1478757" cy="633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20654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6170064" cy="461665"/>
          </a:xfrm>
          <a:prstGeom prst="rect">
            <a:avLst/>
          </a:prstGeom>
          <a:noFill/>
        </p:spPr>
        <p:txBody>
          <a:bodyPr wrap="square">
            <a:spAutoFit/>
          </a:bodyPr>
          <a:lstStyle/>
          <a:p>
            <a:pPr marL="457200" indent="-457200">
              <a:buAutoNum type="arabicPeriod"/>
            </a:pPr>
            <a:r>
              <a:rPr lang="en-US" sz="2400" dirty="0"/>
              <a:t>The challenges of social network analysis</a:t>
            </a:r>
          </a:p>
        </p:txBody>
      </p:sp>
      <p:pic>
        <p:nvPicPr>
          <p:cNvPr id="9" name="Picture 8" descr="Map&#10;&#10;Description automatically generated">
            <a:extLst>
              <a:ext uri="{FF2B5EF4-FFF2-40B4-BE49-F238E27FC236}">
                <a16:creationId xmlns:a16="http://schemas.microsoft.com/office/drawing/2014/main" id="{1E187A2F-2213-4838-A369-AFA2361720E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09265" y="1920696"/>
            <a:ext cx="4343579" cy="4229091"/>
          </a:xfrm>
          <a:prstGeom prst="rect">
            <a:avLst/>
          </a:prstGeom>
        </p:spPr>
      </p:pic>
      <p:sp>
        <p:nvSpPr>
          <p:cNvPr id="2" name="TextBox 1">
            <a:extLst>
              <a:ext uri="{FF2B5EF4-FFF2-40B4-BE49-F238E27FC236}">
                <a16:creationId xmlns:a16="http://schemas.microsoft.com/office/drawing/2014/main" id="{2AC160FD-0517-4C08-9271-0DFAA9A21767}"/>
              </a:ext>
            </a:extLst>
          </p:cNvPr>
          <p:cNvSpPr txBox="1"/>
          <p:nvPr/>
        </p:nvSpPr>
        <p:spPr>
          <a:xfrm>
            <a:off x="5847127" y="2080470"/>
            <a:ext cx="6006517" cy="1631216"/>
          </a:xfrm>
          <a:prstGeom prst="rect">
            <a:avLst/>
          </a:prstGeom>
          <a:noFill/>
        </p:spPr>
        <p:txBody>
          <a:bodyPr wrap="square" rtlCol="0">
            <a:spAutoFit/>
          </a:bodyPr>
          <a:lstStyle/>
          <a:p>
            <a:r>
              <a:rPr lang="en-US" sz="2000" b="1" dirty="0"/>
              <a:t>How do network </a:t>
            </a:r>
            <a:r>
              <a:rPr lang="en-US" sz="2000" b="1" dirty="0" err="1"/>
              <a:t>neighbours</a:t>
            </a:r>
            <a:r>
              <a:rPr lang="en-US" sz="2000" b="1" dirty="0"/>
              <a:t> affect each others trait values?</a:t>
            </a:r>
          </a:p>
          <a:p>
            <a:endParaRPr lang="en-US" sz="2000" b="1" dirty="0"/>
          </a:p>
          <a:p>
            <a:endParaRPr lang="en-US" sz="2000" b="1" dirty="0"/>
          </a:p>
          <a:p>
            <a:r>
              <a:rPr lang="en-US" sz="2000" b="1" dirty="0"/>
              <a:t>	</a:t>
            </a:r>
            <a:endParaRPr lang="fr-FR" sz="2000" dirty="0"/>
          </a:p>
        </p:txBody>
      </p:sp>
      <p:cxnSp>
        <p:nvCxnSpPr>
          <p:cNvPr id="12" name="Straight Connector 11">
            <a:extLst>
              <a:ext uri="{FF2B5EF4-FFF2-40B4-BE49-F238E27FC236}">
                <a16:creationId xmlns:a16="http://schemas.microsoft.com/office/drawing/2014/main" id="{02D9035F-16EF-439B-A8FC-B47B7CF87E03}"/>
              </a:ext>
            </a:extLst>
          </p:cNvPr>
          <p:cNvCxnSpPr>
            <a:cxnSpLocks/>
          </p:cNvCxnSpPr>
          <p:nvPr/>
        </p:nvCxnSpPr>
        <p:spPr>
          <a:xfrm>
            <a:off x="3021806" y="2412206"/>
            <a:ext cx="1478757" cy="633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Plus Sign 5">
            <a:extLst>
              <a:ext uri="{FF2B5EF4-FFF2-40B4-BE49-F238E27FC236}">
                <a16:creationId xmlns:a16="http://schemas.microsoft.com/office/drawing/2014/main" id="{0629BB2F-ED3F-48BA-A9B1-D10E2CF91BE0}"/>
              </a:ext>
            </a:extLst>
          </p:cNvPr>
          <p:cNvSpPr/>
          <p:nvPr/>
        </p:nvSpPr>
        <p:spPr>
          <a:xfrm>
            <a:off x="3496985" y="3198531"/>
            <a:ext cx="197538" cy="188600"/>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lus Sign 13">
            <a:extLst>
              <a:ext uri="{FF2B5EF4-FFF2-40B4-BE49-F238E27FC236}">
                <a16:creationId xmlns:a16="http://schemas.microsoft.com/office/drawing/2014/main" id="{4E83E8CC-2DA8-4C5E-9DCB-AC0813E96354}"/>
              </a:ext>
            </a:extLst>
          </p:cNvPr>
          <p:cNvSpPr/>
          <p:nvPr/>
        </p:nvSpPr>
        <p:spPr>
          <a:xfrm>
            <a:off x="3255887" y="4223386"/>
            <a:ext cx="197538" cy="188600"/>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628375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6170064" cy="461665"/>
          </a:xfrm>
          <a:prstGeom prst="rect">
            <a:avLst/>
          </a:prstGeom>
          <a:noFill/>
        </p:spPr>
        <p:txBody>
          <a:bodyPr wrap="square">
            <a:spAutoFit/>
          </a:bodyPr>
          <a:lstStyle/>
          <a:p>
            <a:pPr marL="457200" indent="-457200">
              <a:buAutoNum type="arabicPeriod"/>
            </a:pPr>
            <a:r>
              <a:rPr lang="en-US" sz="2400" dirty="0"/>
              <a:t>The challenges of social network analysis</a:t>
            </a:r>
          </a:p>
        </p:txBody>
      </p:sp>
      <p:pic>
        <p:nvPicPr>
          <p:cNvPr id="9" name="Picture 8" descr="Map&#10;&#10;Description automatically generated">
            <a:extLst>
              <a:ext uri="{FF2B5EF4-FFF2-40B4-BE49-F238E27FC236}">
                <a16:creationId xmlns:a16="http://schemas.microsoft.com/office/drawing/2014/main" id="{1E187A2F-2213-4838-A369-AFA2361720E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09265" y="1920696"/>
            <a:ext cx="4343579" cy="4229091"/>
          </a:xfrm>
          <a:prstGeom prst="rect">
            <a:avLst/>
          </a:prstGeom>
        </p:spPr>
      </p:pic>
      <p:sp>
        <p:nvSpPr>
          <p:cNvPr id="2" name="TextBox 1">
            <a:extLst>
              <a:ext uri="{FF2B5EF4-FFF2-40B4-BE49-F238E27FC236}">
                <a16:creationId xmlns:a16="http://schemas.microsoft.com/office/drawing/2014/main" id="{2AC160FD-0517-4C08-9271-0DFAA9A21767}"/>
              </a:ext>
            </a:extLst>
          </p:cNvPr>
          <p:cNvSpPr txBox="1"/>
          <p:nvPr/>
        </p:nvSpPr>
        <p:spPr>
          <a:xfrm>
            <a:off x="5847127" y="2080470"/>
            <a:ext cx="6006517" cy="2246769"/>
          </a:xfrm>
          <a:prstGeom prst="rect">
            <a:avLst/>
          </a:prstGeom>
          <a:noFill/>
        </p:spPr>
        <p:txBody>
          <a:bodyPr wrap="square" rtlCol="0">
            <a:spAutoFit/>
          </a:bodyPr>
          <a:lstStyle/>
          <a:p>
            <a:r>
              <a:rPr lang="en-US" sz="2000" b="1" dirty="0"/>
              <a:t>How do network </a:t>
            </a:r>
            <a:r>
              <a:rPr lang="en-US" sz="2000" b="1" dirty="0" err="1"/>
              <a:t>neighbours</a:t>
            </a:r>
            <a:r>
              <a:rPr lang="en-US" sz="2000" b="1" dirty="0"/>
              <a:t> affect each others trait values?</a:t>
            </a:r>
          </a:p>
          <a:p>
            <a:endParaRPr lang="en-US" sz="2000" b="1" dirty="0"/>
          </a:p>
          <a:p>
            <a:r>
              <a:rPr lang="en-US" sz="2000" dirty="0"/>
              <a:t>	- Positive covariance (e.g. group traits, 	affiliative interactions)</a:t>
            </a:r>
          </a:p>
          <a:p>
            <a:endParaRPr lang="en-US" sz="2000" b="1" dirty="0"/>
          </a:p>
          <a:p>
            <a:r>
              <a:rPr lang="en-US" sz="2000" b="1" dirty="0"/>
              <a:t>	</a:t>
            </a:r>
            <a:endParaRPr lang="fr-FR" sz="2000" dirty="0"/>
          </a:p>
        </p:txBody>
      </p:sp>
      <p:cxnSp>
        <p:nvCxnSpPr>
          <p:cNvPr id="12" name="Straight Connector 11">
            <a:extLst>
              <a:ext uri="{FF2B5EF4-FFF2-40B4-BE49-F238E27FC236}">
                <a16:creationId xmlns:a16="http://schemas.microsoft.com/office/drawing/2014/main" id="{02D9035F-16EF-439B-A8FC-B47B7CF87E03}"/>
              </a:ext>
            </a:extLst>
          </p:cNvPr>
          <p:cNvCxnSpPr>
            <a:cxnSpLocks/>
          </p:cNvCxnSpPr>
          <p:nvPr/>
        </p:nvCxnSpPr>
        <p:spPr>
          <a:xfrm>
            <a:off x="3021806" y="2412206"/>
            <a:ext cx="1478757" cy="633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Plus Sign 5">
            <a:extLst>
              <a:ext uri="{FF2B5EF4-FFF2-40B4-BE49-F238E27FC236}">
                <a16:creationId xmlns:a16="http://schemas.microsoft.com/office/drawing/2014/main" id="{0629BB2F-ED3F-48BA-A9B1-D10E2CF91BE0}"/>
              </a:ext>
            </a:extLst>
          </p:cNvPr>
          <p:cNvSpPr/>
          <p:nvPr/>
        </p:nvSpPr>
        <p:spPr>
          <a:xfrm>
            <a:off x="3496985" y="3198531"/>
            <a:ext cx="197538" cy="188600"/>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lus Sign 13">
            <a:extLst>
              <a:ext uri="{FF2B5EF4-FFF2-40B4-BE49-F238E27FC236}">
                <a16:creationId xmlns:a16="http://schemas.microsoft.com/office/drawing/2014/main" id="{4E83E8CC-2DA8-4C5E-9DCB-AC0813E96354}"/>
              </a:ext>
            </a:extLst>
          </p:cNvPr>
          <p:cNvSpPr/>
          <p:nvPr/>
        </p:nvSpPr>
        <p:spPr>
          <a:xfrm>
            <a:off x="3255887" y="4223386"/>
            <a:ext cx="197538" cy="188600"/>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Plus Sign 9">
            <a:extLst>
              <a:ext uri="{FF2B5EF4-FFF2-40B4-BE49-F238E27FC236}">
                <a16:creationId xmlns:a16="http://schemas.microsoft.com/office/drawing/2014/main" id="{17F50139-0C8A-44D7-8D07-F9D12418EE8E}"/>
              </a:ext>
            </a:extLst>
          </p:cNvPr>
          <p:cNvSpPr/>
          <p:nvPr/>
        </p:nvSpPr>
        <p:spPr>
          <a:xfrm>
            <a:off x="3649385" y="3350931"/>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Plus Sign 10">
            <a:extLst>
              <a:ext uri="{FF2B5EF4-FFF2-40B4-BE49-F238E27FC236}">
                <a16:creationId xmlns:a16="http://schemas.microsoft.com/office/drawing/2014/main" id="{D07F4DA3-F616-4D02-B297-D6D73506DD28}"/>
              </a:ext>
            </a:extLst>
          </p:cNvPr>
          <p:cNvSpPr/>
          <p:nvPr/>
        </p:nvSpPr>
        <p:spPr>
          <a:xfrm>
            <a:off x="3505374" y="3445231"/>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lus Sign 12">
            <a:extLst>
              <a:ext uri="{FF2B5EF4-FFF2-40B4-BE49-F238E27FC236}">
                <a16:creationId xmlns:a16="http://schemas.microsoft.com/office/drawing/2014/main" id="{338FC2C5-6991-4B37-8F60-0F702310ACD3}"/>
              </a:ext>
            </a:extLst>
          </p:cNvPr>
          <p:cNvSpPr/>
          <p:nvPr/>
        </p:nvSpPr>
        <p:spPr>
          <a:xfrm>
            <a:off x="3307836" y="3429000"/>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lus Sign 14">
            <a:extLst>
              <a:ext uri="{FF2B5EF4-FFF2-40B4-BE49-F238E27FC236}">
                <a16:creationId xmlns:a16="http://schemas.microsoft.com/office/drawing/2014/main" id="{77E0A9E9-7C7A-4EC7-B3B5-7E026D0BF137}"/>
              </a:ext>
            </a:extLst>
          </p:cNvPr>
          <p:cNvSpPr/>
          <p:nvPr/>
        </p:nvSpPr>
        <p:spPr>
          <a:xfrm>
            <a:off x="3075127" y="3227588"/>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Plus Sign 15">
            <a:extLst>
              <a:ext uri="{FF2B5EF4-FFF2-40B4-BE49-F238E27FC236}">
                <a16:creationId xmlns:a16="http://schemas.microsoft.com/office/drawing/2014/main" id="{9CFEAC3F-2155-4BF6-B8BF-FBA44289098A}"/>
              </a:ext>
            </a:extLst>
          </p:cNvPr>
          <p:cNvSpPr/>
          <p:nvPr/>
        </p:nvSpPr>
        <p:spPr>
          <a:xfrm>
            <a:off x="3515367" y="3002590"/>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Plus Sign 16">
            <a:extLst>
              <a:ext uri="{FF2B5EF4-FFF2-40B4-BE49-F238E27FC236}">
                <a16:creationId xmlns:a16="http://schemas.microsoft.com/office/drawing/2014/main" id="{2F04C697-6D68-4A2D-8728-D489C8EC7731}"/>
              </a:ext>
            </a:extLst>
          </p:cNvPr>
          <p:cNvSpPr/>
          <p:nvPr/>
        </p:nvSpPr>
        <p:spPr>
          <a:xfrm>
            <a:off x="3769794" y="3090850"/>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lus Sign 17">
            <a:extLst>
              <a:ext uri="{FF2B5EF4-FFF2-40B4-BE49-F238E27FC236}">
                <a16:creationId xmlns:a16="http://schemas.microsoft.com/office/drawing/2014/main" id="{591C5FCE-1B00-49D4-B82B-8B3ADA0572E7}"/>
              </a:ext>
            </a:extLst>
          </p:cNvPr>
          <p:cNvSpPr/>
          <p:nvPr/>
        </p:nvSpPr>
        <p:spPr>
          <a:xfrm>
            <a:off x="3247498" y="3932552"/>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Plus Sign 18">
            <a:extLst>
              <a:ext uri="{FF2B5EF4-FFF2-40B4-BE49-F238E27FC236}">
                <a16:creationId xmlns:a16="http://schemas.microsoft.com/office/drawing/2014/main" id="{E3526B3A-7B8E-4449-9FA4-13B15EEBCA78}"/>
              </a:ext>
            </a:extLst>
          </p:cNvPr>
          <p:cNvSpPr/>
          <p:nvPr/>
        </p:nvSpPr>
        <p:spPr>
          <a:xfrm>
            <a:off x="3459012" y="4092771"/>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Plus Sign 19">
            <a:extLst>
              <a:ext uri="{FF2B5EF4-FFF2-40B4-BE49-F238E27FC236}">
                <a16:creationId xmlns:a16="http://schemas.microsoft.com/office/drawing/2014/main" id="{94DBB9F3-5DF6-47CB-9377-EE5F4652A9F1}"/>
              </a:ext>
            </a:extLst>
          </p:cNvPr>
          <p:cNvSpPr/>
          <p:nvPr/>
        </p:nvSpPr>
        <p:spPr>
          <a:xfrm>
            <a:off x="3351854" y="4444879"/>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Plus Sign 20">
            <a:extLst>
              <a:ext uri="{FF2B5EF4-FFF2-40B4-BE49-F238E27FC236}">
                <a16:creationId xmlns:a16="http://schemas.microsoft.com/office/drawing/2014/main" id="{D767915C-295F-4A1D-B916-7578FF6EB55C}"/>
              </a:ext>
            </a:extLst>
          </p:cNvPr>
          <p:cNvSpPr/>
          <p:nvPr/>
        </p:nvSpPr>
        <p:spPr>
          <a:xfrm>
            <a:off x="3010294" y="4075993"/>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Plus Sign 21">
            <a:extLst>
              <a:ext uri="{FF2B5EF4-FFF2-40B4-BE49-F238E27FC236}">
                <a16:creationId xmlns:a16="http://schemas.microsoft.com/office/drawing/2014/main" id="{F760397F-682F-4FA0-B829-EBF0764C249B}"/>
              </a:ext>
            </a:extLst>
          </p:cNvPr>
          <p:cNvSpPr/>
          <p:nvPr/>
        </p:nvSpPr>
        <p:spPr>
          <a:xfrm>
            <a:off x="2743255" y="4286453"/>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Plus Sign 22">
            <a:extLst>
              <a:ext uri="{FF2B5EF4-FFF2-40B4-BE49-F238E27FC236}">
                <a16:creationId xmlns:a16="http://schemas.microsoft.com/office/drawing/2014/main" id="{0B6E39F4-FAC5-404C-B1D0-4DDD3C827B60}"/>
              </a:ext>
            </a:extLst>
          </p:cNvPr>
          <p:cNvSpPr/>
          <p:nvPr/>
        </p:nvSpPr>
        <p:spPr>
          <a:xfrm>
            <a:off x="3079828" y="4478971"/>
            <a:ext cx="197538" cy="188600"/>
          </a:xfrm>
          <a:prstGeom prst="mathPl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Picture 23">
            <a:extLst>
              <a:ext uri="{FF2B5EF4-FFF2-40B4-BE49-F238E27FC236}">
                <a16:creationId xmlns:a16="http://schemas.microsoft.com/office/drawing/2014/main" id="{B08B1D20-5207-49BD-8DB1-FB53986DA1D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448745" y="3504991"/>
            <a:ext cx="1838556" cy="1034188"/>
          </a:xfrm>
          <a:prstGeom prst="ellipse">
            <a:avLst/>
          </a:prstGeom>
          <a:ln>
            <a:noFill/>
          </a:ln>
          <a:effectLst>
            <a:softEdge rad="112500"/>
          </a:effectLst>
        </p:spPr>
      </p:pic>
    </p:spTree>
    <p:extLst>
      <p:ext uri="{BB962C8B-B14F-4D97-AF65-F5344CB8AC3E}">
        <p14:creationId xmlns:p14="http://schemas.microsoft.com/office/powerpoint/2010/main" val="16778654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6170064" cy="461665"/>
          </a:xfrm>
          <a:prstGeom prst="rect">
            <a:avLst/>
          </a:prstGeom>
          <a:noFill/>
        </p:spPr>
        <p:txBody>
          <a:bodyPr wrap="square">
            <a:spAutoFit/>
          </a:bodyPr>
          <a:lstStyle/>
          <a:p>
            <a:pPr marL="457200" indent="-457200">
              <a:buAutoNum type="arabicPeriod"/>
            </a:pPr>
            <a:r>
              <a:rPr lang="en-US" sz="2400" dirty="0"/>
              <a:t>The challenges of social network analysis</a:t>
            </a:r>
          </a:p>
        </p:txBody>
      </p:sp>
      <p:pic>
        <p:nvPicPr>
          <p:cNvPr id="9" name="Picture 8" descr="Map&#10;&#10;Description automatically generated">
            <a:extLst>
              <a:ext uri="{FF2B5EF4-FFF2-40B4-BE49-F238E27FC236}">
                <a16:creationId xmlns:a16="http://schemas.microsoft.com/office/drawing/2014/main" id="{1E187A2F-2213-4838-A369-AFA2361720E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09265" y="1920696"/>
            <a:ext cx="4343579" cy="4229091"/>
          </a:xfrm>
          <a:prstGeom prst="rect">
            <a:avLst/>
          </a:prstGeom>
        </p:spPr>
      </p:pic>
      <p:sp>
        <p:nvSpPr>
          <p:cNvPr id="2" name="TextBox 1">
            <a:extLst>
              <a:ext uri="{FF2B5EF4-FFF2-40B4-BE49-F238E27FC236}">
                <a16:creationId xmlns:a16="http://schemas.microsoft.com/office/drawing/2014/main" id="{2AC160FD-0517-4C08-9271-0DFAA9A21767}"/>
              </a:ext>
            </a:extLst>
          </p:cNvPr>
          <p:cNvSpPr txBox="1"/>
          <p:nvPr/>
        </p:nvSpPr>
        <p:spPr>
          <a:xfrm>
            <a:off x="5847127" y="2080470"/>
            <a:ext cx="6006517" cy="3785652"/>
          </a:xfrm>
          <a:prstGeom prst="rect">
            <a:avLst/>
          </a:prstGeom>
          <a:noFill/>
        </p:spPr>
        <p:txBody>
          <a:bodyPr wrap="square" rtlCol="0">
            <a:spAutoFit/>
          </a:bodyPr>
          <a:lstStyle/>
          <a:p>
            <a:r>
              <a:rPr lang="en-US" sz="2000" b="1" dirty="0"/>
              <a:t>How do network </a:t>
            </a:r>
            <a:r>
              <a:rPr lang="en-US" sz="2000" b="1" dirty="0" err="1"/>
              <a:t>neighbours</a:t>
            </a:r>
            <a:r>
              <a:rPr lang="en-US" sz="2000" b="1" dirty="0"/>
              <a:t> affect each others trait values?</a:t>
            </a:r>
          </a:p>
          <a:p>
            <a:endParaRPr lang="en-US" sz="2000" b="1" dirty="0"/>
          </a:p>
          <a:p>
            <a:r>
              <a:rPr lang="en-US" sz="2000" dirty="0"/>
              <a:t>	- Positive covariance (e.g. group traits, 	affiliative interactions)</a:t>
            </a:r>
          </a:p>
          <a:p>
            <a:endParaRPr lang="en-US" sz="2000" dirty="0"/>
          </a:p>
          <a:p>
            <a:endParaRPr lang="en-US" sz="2000" dirty="0"/>
          </a:p>
          <a:p>
            <a:endParaRPr lang="en-US" sz="2000" dirty="0"/>
          </a:p>
          <a:p>
            <a:endParaRPr lang="en-US" sz="2000" dirty="0"/>
          </a:p>
          <a:p>
            <a:r>
              <a:rPr lang="en-US" sz="2000" dirty="0"/>
              <a:t>	- Negative covariance (e.g. dominance)</a:t>
            </a:r>
          </a:p>
          <a:p>
            <a:endParaRPr lang="en-US" sz="2000" b="1" dirty="0"/>
          </a:p>
          <a:p>
            <a:r>
              <a:rPr lang="en-US" sz="2000" b="1" dirty="0"/>
              <a:t>	</a:t>
            </a:r>
            <a:endParaRPr lang="fr-FR" sz="2000" dirty="0"/>
          </a:p>
        </p:txBody>
      </p:sp>
      <p:cxnSp>
        <p:nvCxnSpPr>
          <p:cNvPr id="12" name="Straight Connector 11">
            <a:extLst>
              <a:ext uri="{FF2B5EF4-FFF2-40B4-BE49-F238E27FC236}">
                <a16:creationId xmlns:a16="http://schemas.microsoft.com/office/drawing/2014/main" id="{02D9035F-16EF-439B-A8FC-B47B7CF87E03}"/>
              </a:ext>
            </a:extLst>
          </p:cNvPr>
          <p:cNvCxnSpPr>
            <a:cxnSpLocks/>
          </p:cNvCxnSpPr>
          <p:nvPr/>
        </p:nvCxnSpPr>
        <p:spPr>
          <a:xfrm>
            <a:off x="3021806" y="2412206"/>
            <a:ext cx="1478757" cy="633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Plus Sign 5">
            <a:extLst>
              <a:ext uri="{FF2B5EF4-FFF2-40B4-BE49-F238E27FC236}">
                <a16:creationId xmlns:a16="http://schemas.microsoft.com/office/drawing/2014/main" id="{0629BB2F-ED3F-48BA-A9B1-D10E2CF91BE0}"/>
              </a:ext>
            </a:extLst>
          </p:cNvPr>
          <p:cNvSpPr/>
          <p:nvPr/>
        </p:nvSpPr>
        <p:spPr>
          <a:xfrm>
            <a:off x="3496985" y="3198531"/>
            <a:ext cx="197538" cy="188600"/>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lus Sign 13">
            <a:extLst>
              <a:ext uri="{FF2B5EF4-FFF2-40B4-BE49-F238E27FC236}">
                <a16:creationId xmlns:a16="http://schemas.microsoft.com/office/drawing/2014/main" id="{4E83E8CC-2DA8-4C5E-9DCB-AC0813E96354}"/>
              </a:ext>
            </a:extLst>
          </p:cNvPr>
          <p:cNvSpPr/>
          <p:nvPr/>
        </p:nvSpPr>
        <p:spPr>
          <a:xfrm>
            <a:off x="3255887" y="4223386"/>
            <a:ext cx="197538" cy="188600"/>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Picture 23">
            <a:extLst>
              <a:ext uri="{FF2B5EF4-FFF2-40B4-BE49-F238E27FC236}">
                <a16:creationId xmlns:a16="http://schemas.microsoft.com/office/drawing/2014/main" id="{B08B1D20-5207-49BD-8DB1-FB53986DA1D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448745" y="3504991"/>
            <a:ext cx="1838556" cy="1034188"/>
          </a:xfrm>
          <a:prstGeom prst="ellipse">
            <a:avLst/>
          </a:prstGeom>
          <a:ln>
            <a:noFill/>
          </a:ln>
          <a:effectLst>
            <a:softEdge rad="112500"/>
          </a:effectLst>
        </p:spPr>
      </p:pic>
      <p:pic>
        <p:nvPicPr>
          <p:cNvPr id="25" name="Picture 24">
            <a:extLst>
              <a:ext uri="{FF2B5EF4-FFF2-40B4-BE49-F238E27FC236}">
                <a16:creationId xmlns:a16="http://schemas.microsoft.com/office/drawing/2014/main" id="{65BD1CE5-9F08-4BC1-9005-84C8514CB87E}"/>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385332" y="5337391"/>
            <a:ext cx="1965382" cy="1057462"/>
          </a:xfrm>
          <a:prstGeom prst="ellipse">
            <a:avLst/>
          </a:prstGeom>
          <a:ln>
            <a:noFill/>
          </a:ln>
          <a:effectLst>
            <a:softEdge rad="112500"/>
          </a:effectLst>
        </p:spPr>
      </p:pic>
      <p:sp>
        <p:nvSpPr>
          <p:cNvPr id="5" name="Minus Sign 4">
            <a:extLst>
              <a:ext uri="{FF2B5EF4-FFF2-40B4-BE49-F238E27FC236}">
                <a16:creationId xmlns:a16="http://schemas.microsoft.com/office/drawing/2014/main" id="{42412F76-2D9F-4634-8D57-F5FC325859E3}"/>
              </a:ext>
            </a:extLst>
          </p:cNvPr>
          <p:cNvSpPr/>
          <p:nvPr/>
        </p:nvSpPr>
        <p:spPr>
          <a:xfrm>
            <a:off x="3012282" y="4075145"/>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Minus Sign 25">
            <a:extLst>
              <a:ext uri="{FF2B5EF4-FFF2-40B4-BE49-F238E27FC236}">
                <a16:creationId xmlns:a16="http://schemas.microsoft.com/office/drawing/2014/main" id="{CAB43210-A4DB-477C-8B29-3B389D0A0E11}"/>
              </a:ext>
            </a:extLst>
          </p:cNvPr>
          <p:cNvSpPr/>
          <p:nvPr/>
        </p:nvSpPr>
        <p:spPr>
          <a:xfrm>
            <a:off x="2745581" y="4289593"/>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Minus Sign 26">
            <a:extLst>
              <a:ext uri="{FF2B5EF4-FFF2-40B4-BE49-F238E27FC236}">
                <a16:creationId xmlns:a16="http://schemas.microsoft.com/office/drawing/2014/main" id="{94A6A34B-8DE1-427D-861C-ADAA218FA80D}"/>
              </a:ext>
            </a:extLst>
          </p:cNvPr>
          <p:cNvSpPr/>
          <p:nvPr/>
        </p:nvSpPr>
        <p:spPr>
          <a:xfrm>
            <a:off x="3078754" y="4473431"/>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Minus Sign 27">
            <a:extLst>
              <a:ext uri="{FF2B5EF4-FFF2-40B4-BE49-F238E27FC236}">
                <a16:creationId xmlns:a16="http://schemas.microsoft.com/office/drawing/2014/main" id="{3734BA4E-1540-4815-9EA3-6825904011C7}"/>
              </a:ext>
            </a:extLst>
          </p:cNvPr>
          <p:cNvSpPr/>
          <p:nvPr/>
        </p:nvSpPr>
        <p:spPr>
          <a:xfrm>
            <a:off x="3347565" y="4442498"/>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Minus Sign 28">
            <a:extLst>
              <a:ext uri="{FF2B5EF4-FFF2-40B4-BE49-F238E27FC236}">
                <a16:creationId xmlns:a16="http://schemas.microsoft.com/office/drawing/2014/main" id="{BC3A4D43-8529-4A0B-B137-11BAAD149A2C}"/>
              </a:ext>
            </a:extLst>
          </p:cNvPr>
          <p:cNvSpPr/>
          <p:nvPr/>
        </p:nvSpPr>
        <p:spPr>
          <a:xfrm>
            <a:off x="3455409" y="4096193"/>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Minus Sign 29">
            <a:extLst>
              <a:ext uri="{FF2B5EF4-FFF2-40B4-BE49-F238E27FC236}">
                <a16:creationId xmlns:a16="http://schemas.microsoft.com/office/drawing/2014/main" id="{3622ACB0-60D6-4F24-BEB5-F67D51CDA9E3}"/>
              </a:ext>
            </a:extLst>
          </p:cNvPr>
          <p:cNvSpPr/>
          <p:nvPr/>
        </p:nvSpPr>
        <p:spPr>
          <a:xfrm>
            <a:off x="3242856" y="3927611"/>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Minus Sign 30">
            <a:extLst>
              <a:ext uri="{FF2B5EF4-FFF2-40B4-BE49-F238E27FC236}">
                <a16:creationId xmlns:a16="http://schemas.microsoft.com/office/drawing/2014/main" id="{4D6BEBB8-2602-4C03-8FB7-0D8805F01845}"/>
              </a:ext>
            </a:extLst>
          </p:cNvPr>
          <p:cNvSpPr/>
          <p:nvPr/>
        </p:nvSpPr>
        <p:spPr>
          <a:xfrm>
            <a:off x="3305549" y="3423730"/>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Minus Sign 31">
            <a:extLst>
              <a:ext uri="{FF2B5EF4-FFF2-40B4-BE49-F238E27FC236}">
                <a16:creationId xmlns:a16="http://schemas.microsoft.com/office/drawing/2014/main" id="{5D726C0C-73FA-416D-A61E-D8C38FDB4495}"/>
              </a:ext>
            </a:extLst>
          </p:cNvPr>
          <p:cNvSpPr/>
          <p:nvPr/>
        </p:nvSpPr>
        <p:spPr>
          <a:xfrm>
            <a:off x="3515458" y="3442829"/>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Minus Sign 32">
            <a:extLst>
              <a:ext uri="{FF2B5EF4-FFF2-40B4-BE49-F238E27FC236}">
                <a16:creationId xmlns:a16="http://schemas.microsoft.com/office/drawing/2014/main" id="{BFABAABE-9BA9-45E6-8016-6A3ADA166906}"/>
              </a:ext>
            </a:extLst>
          </p:cNvPr>
          <p:cNvSpPr/>
          <p:nvPr/>
        </p:nvSpPr>
        <p:spPr>
          <a:xfrm>
            <a:off x="3639751" y="3336613"/>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Minus Sign 33">
            <a:extLst>
              <a:ext uri="{FF2B5EF4-FFF2-40B4-BE49-F238E27FC236}">
                <a16:creationId xmlns:a16="http://schemas.microsoft.com/office/drawing/2014/main" id="{A99ACF95-E1F8-462F-B9CE-10AF7445389A}"/>
              </a:ext>
            </a:extLst>
          </p:cNvPr>
          <p:cNvSpPr/>
          <p:nvPr/>
        </p:nvSpPr>
        <p:spPr>
          <a:xfrm>
            <a:off x="3770642" y="3084638"/>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Minus Sign 34">
            <a:extLst>
              <a:ext uri="{FF2B5EF4-FFF2-40B4-BE49-F238E27FC236}">
                <a16:creationId xmlns:a16="http://schemas.microsoft.com/office/drawing/2014/main" id="{7619B89B-F790-4B4D-9FD9-E11BEA2BC869}"/>
              </a:ext>
            </a:extLst>
          </p:cNvPr>
          <p:cNvSpPr/>
          <p:nvPr/>
        </p:nvSpPr>
        <p:spPr>
          <a:xfrm>
            <a:off x="3520221" y="2993998"/>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Minus Sign 35">
            <a:extLst>
              <a:ext uri="{FF2B5EF4-FFF2-40B4-BE49-F238E27FC236}">
                <a16:creationId xmlns:a16="http://schemas.microsoft.com/office/drawing/2014/main" id="{714D004A-4CB9-4702-8EAC-750DED2563ED}"/>
              </a:ext>
            </a:extLst>
          </p:cNvPr>
          <p:cNvSpPr/>
          <p:nvPr/>
        </p:nvSpPr>
        <p:spPr>
          <a:xfrm>
            <a:off x="3058349" y="3216949"/>
            <a:ext cx="197538" cy="188600"/>
          </a:xfrm>
          <a:prstGeom prst="mathMinus">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015269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88476D3D-C8BC-43AD-9F3D-29030E5EE237}"/>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pic>
        <p:nvPicPr>
          <p:cNvPr id="5" name="Picture 4">
            <a:extLst>
              <a:ext uri="{FF2B5EF4-FFF2-40B4-BE49-F238E27FC236}">
                <a16:creationId xmlns:a16="http://schemas.microsoft.com/office/drawing/2014/main" id="{1F565682-07D3-D7B9-ED3E-3EB3DC60B4C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711632" y="3413327"/>
            <a:ext cx="5407582" cy="3042458"/>
          </a:xfrm>
          <a:prstGeom prst="rect">
            <a:avLst/>
          </a:prstGeom>
        </p:spPr>
      </p:pic>
      <p:pic>
        <p:nvPicPr>
          <p:cNvPr id="7" name="Picture 6">
            <a:extLst>
              <a:ext uri="{FF2B5EF4-FFF2-40B4-BE49-F238E27FC236}">
                <a16:creationId xmlns:a16="http://schemas.microsoft.com/office/drawing/2014/main" id="{E11CA67E-D1DF-4914-D74A-5B7D406AF29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666701" y="2427317"/>
            <a:ext cx="2452255" cy="2176437"/>
          </a:xfrm>
          <a:prstGeom prst="rect">
            <a:avLst/>
          </a:prstGeom>
        </p:spPr>
      </p:pic>
      <p:pic>
        <p:nvPicPr>
          <p:cNvPr id="10" name="Picture 9" descr="A badger in the grass&#10;&#10;Description automatically generated with medium confidence">
            <a:extLst>
              <a:ext uri="{FF2B5EF4-FFF2-40B4-BE49-F238E27FC236}">
                <a16:creationId xmlns:a16="http://schemas.microsoft.com/office/drawing/2014/main" id="{AD3AB0E6-C042-559F-B165-B1BD9F4B1B3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8740832" y="2483551"/>
            <a:ext cx="1753987" cy="1819656"/>
          </a:xfrm>
          <a:prstGeom prst="ellipse">
            <a:avLst/>
          </a:prstGeom>
          <a:ln>
            <a:noFill/>
          </a:ln>
          <a:effectLst>
            <a:softEdge rad="112500"/>
          </a:effectLst>
        </p:spPr>
      </p:pic>
    </p:spTree>
    <p:extLst>
      <p:ext uri="{BB962C8B-B14F-4D97-AF65-F5344CB8AC3E}">
        <p14:creationId xmlns:p14="http://schemas.microsoft.com/office/powerpoint/2010/main" val="17422049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88476D3D-C8BC-43AD-9F3D-29030E5EE237}"/>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sp>
        <p:nvSpPr>
          <p:cNvPr id="12" name="TextBox 11">
            <a:extLst>
              <a:ext uri="{FF2B5EF4-FFF2-40B4-BE49-F238E27FC236}">
                <a16:creationId xmlns:a16="http://schemas.microsoft.com/office/drawing/2014/main" id="{87F36D1F-5752-460F-B758-61A5595DE232}"/>
              </a:ext>
            </a:extLst>
          </p:cNvPr>
          <p:cNvSpPr txBox="1"/>
          <p:nvPr/>
        </p:nvSpPr>
        <p:spPr>
          <a:xfrm>
            <a:off x="982025" y="2639948"/>
            <a:ext cx="11090323" cy="400110"/>
          </a:xfrm>
          <a:prstGeom prst="rect">
            <a:avLst/>
          </a:prstGeom>
          <a:noFill/>
        </p:spPr>
        <p:txBody>
          <a:bodyPr wrap="square">
            <a:spAutoFit/>
          </a:bodyPr>
          <a:lstStyle/>
          <a:p>
            <a:r>
              <a:rPr lang="en-US" sz="2000" dirty="0"/>
              <a:t>Body Condition ~ Clustering Coefficient + Closeness</a:t>
            </a:r>
          </a:p>
        </p:txBody>
      </p:sp>
    </p:spTree>
    <p:extLst>
      <p:ext uri="{BB962C8B-B14F-4D97-AF65-F5344CB8AC3E}">
        <p14:creationId xmlns:p14="http://schemas.microsoft.com/office/powerpoint/2010/main" val="15589148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88476D3D-C8BC-43AD-9F3D-29030E5EE237}"/>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sp>
        <p:nvSpPr>
          <p:cNvPr id="12" name="TextBox 11">
            <a:extLst>
              <a:ext uri="{FF2B5EF4-FFF2-40B4-BE49-F238E27FC236}">
                <a16:creationId xmlns:a16="http://schemas.microsoft.com/office/drawing/2014/main" id="{87F36D1F-5752-460F-B758-61A5595DE232}"/>
              </a:ext>
            </a:extLst>
          </p:cNvPr>
          <p:cNvSpPr txBox="1"/>
          <p:nvPr/>
        </p:nvSpPr>
        <p:spPr>
          <a:xfrm>
            <a:off x="982025" y="2639948"/>
            <a:ext cx="11090323" cy="400110"/>
          </a:xfrm>
          <a:prstGeom prst="rect">
            <a:avLst/>
          </a:prstGeom>
          <a:noFill/>
        </p:spPr>
        <p:txBody>
          <a:bodyPr wrap="square">
            <a:spAutoFit/>
          </a:bodyPr>
          <a:lstStyle/>
          <a:p>
            <a:r>
              <a:rPr lang="en-US" sz="2000" dirty="0"/>
              <a:t>Body Condition ~ Clustering Coefficient + Closeness</a:t>
            </a:r>
          </a:p>
        </p:txBody>
      </p:sp>
      <p:sp>
        <p:nvSpPr>
          <p:cNvPr id="6" name="Arc 5">
            <a:extLst>
              <a:ext uri="{FF2B5EF4-FFF2-40B4-BE49-F238E27FC236}">
                <a16:creationId xmlns:a16="http://schemas.microsoft.com/office/drawing/2014/main" id="{716B641B-6EB5-49C7-B2B3-DEF7A21FAF34}"/>
              </a:ext>
            </a:extLst>
          </p:cNvPr>
          <p:cNvSpPr/>
          <p:nvPr/>
        </p:nvSpPr>
        <p:spPr>
          <a:xfrm rot="5400000">
            <a:off x="2768368" y="2452828"/>
            <a:ext cx="1174459" cy="1221549"/>
          </a:xfrm>
          <a:prstGeom prst="arc">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0" name="Arc 9">
            <a:extLst>
              <a:ext uri="{FF2B5EF4-FFF2-40B4-BE49-F238E27FC236}">
                <a16:creationId xmlns:a16="http://schemas.microsoft.com/office/drawing/2014/main" id="{0D164ACD-D808-4FD0-853A-4F589FA51AF2}"/>
              </a:ext>
            </a:extLst>
          </p:cNvPr>
          <p:cNvSpPr/>
          <p:nvPr/>
        </p:nvSpPr>
        <p:spPr>
          <a:xfrm rot="16200000" flipH="1">
            <a:off x="5844995" y="2462838"/>
            <a:ext cx="1174459" cy="1221549"/>
          </a:xfrm>
          <a:prstGeom prst="arc">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7" name="TextBox 6">
            <a:extLst>
              <a:ext uri="{FF2B5EF4-FFF2-40B4-BE49-F238E27FC236}">
                <a16:creationId xmlns:a16="http://schemas.microsoft.com/office/drawing/2014/main" id="{E4149074-F3E7-4387-B360-F195098E6F83}"/>
              </a:ext>
            </a:extLst>
          </p:cNvPr>
          <p:cNvSpPr txBox="1"/>
          <p:nvPr/>
        </p:nvSpPr>
        <p:spPr>
          <a:xfrm>
            <a:off x="613465" y="3193624"/>
            <a:ext cx="3027357" cy="1323439"/>
          </a:xfrm>
          <a:prstGeom prst="rect">
            <a:avLst/>
          </a:prstGeom>
          <a:noFill/>
        </p:spPr>
        <p:txBody>
          <a:bodyPr wrap="square" rtlCol="0">
            <a:spAutoFit/>
          </a:bodyPr>
          <a:lstStyle/>
          <a:p>
            <a:r>
              <a:rPr lang="en-US" sz="1600" dirty="0">
                <a:solidFill>
                  <a:srgbClr val="FF0000"/>
                </a:solidFill>
              </a:rPr>
              <a:t>Individuals that are more socially integrated (have more friends which share friends) can spend more time feeding and so are in better body condition</a:t>
            </a:r>
            <a:endParaRPr lang="fr-FR" sz="1600" dirty="0">
              <a:solidFill>
                <a:srgbClr val="FF0000"/>
              </a:solidFill>
            </a:endParaRPr>
          </a:p>
        </p:txBody>
      </p:sp>
      <p:sp>
        <p:nvSpPr>
          <p:cNvPr id="13" name="TextBox 12">
            <a:extLst>
              <a:ext uri="{FF2B5EF4-FFF2-40B4-BE49-F238E27FC236}">
                <a16:creationId xmlns:a16="http://schemas.microsoft.com/office/drawing/2014/main" id="{17EC0146-62AA-450F-A3CD-06C9AF9A9F4A}"/>
              </a:ext>
            </a:extLst>
          </p:cNvPr>
          <p:cNvSpPr txBox="1"/>
          <p:nvPr/>
        </p:nvSpPr>
        <p:spPr>
          <a:xfrm>
            <a:off x="6453604" y="3193624"/>
            <a:ext cx="3027357" cy="1323439"/>
          </a:xfrm>
          <a:prstGeom prst="rect">
            <a:avLst/>
          </a:prstGeom>
          <a:noFill/>
        </p:spPr>
        <p:txBody>
          <a:bodyPr wrap="square" rtlCol="0">
            <a:spAutoFit/>
          </a:bodyPr>
          <a:lstStyle/>
          <a:p>
            <a:r>
              <a:rPr lang="en-US" sz="1600" dirty="0">
                <a:solidFill>
                  <a:srgbClr val="0070C0"/>
                </a:solidFill>
              </a:rPr>
              <a:t>Individuals with higher closeness have more access to social information on the best foraging areas and so are in better body condition</a:t>
            </a:r>
            <a:endParaRPr lang="fr-FR" sz="1600" dirty="0">
              <a:solidFill>
                <a:srgbClr val="0070C0"/>
              </a:solidFill>
            </a:endParaRPr>
          </a:p>
        </p:txBody>
      </p:sp>
    </p:spTree>
    <p:extLst>
      <p:ext uri="{BB962C8B-B14F-4D97-AF65-F5344CB8AC3E}">
        <p14:creationId xmlns:p14="http://schemas.microsoft.com/office/powerpoint/2010/main" val="42498054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88476D3D-C8BC-43AD-9F3D-29030E5EE237}"/>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sp>
        <p:nvSpPr>
          <p:cNvPr id="12" name="TextBox 11">
            <a:extLst>
              <a:ext uri="{FF2B5EF4-FFF2-40B4-BE49-F238E27FC236}">
                <a16:creationId xmlns:a16="http://schemas.microsoft.com/office/drawing/2014/main" id="{87F36D1F-5752-460F-B758-61A5595DE232}"/>
              </a:ext>
            </a:extLst>
          </p:cNvPr>
          <p:cNvSpPr txBox="1"/>
          <p:nvPr/>
        </p:nvSpPr>
        <p:spPr>
          <a:xfrm>
            <a:off x="982025" y="2639948"/>
            <a:ext cx="11090323" cy="400110"/>
          </a:xfrm>
          <a:prstGeom prst="rect">
            <a:avLst/>
          </a:prstGeom>
          <a:noFill/>
        </p:spPr>
        <p:txBody>
          <a:bodyPr wrap="square">
            <a:spAutoFit/>
          </a:bodyPr>
          <a:lstStyle/>
          <a:p>
            <a:r>
              <a:rPr lang="en-US" sz="2000" dirty="0"/>
              <a:t>Body Condition ~ Clustering Coefficient + Closeness</a:t>
            </a:r>
          </a:p>
        </p:txBody>
      </p:sp>
      <p:sp>
        <p:nvSpPr>
          <p:cNvPr id="6" name="Arc 5">
            <a:extLst>
              <a:ext uri="{FF2B5EF4-FFF2-40B4-BE49-F238E27FC236}">
                <a16:creationId xmlns:a16="http://schemas.microsoft.com/office/drawing/2014/main" id="{716B641B-6EB5-49C7-B2B3-DEF7A21FAF34}"/>
              </a:ext>
            </a:extLst>
          </p:cNvPr>
          <p:cNvSpPr/>
          <p:nvPr/>
        </p:nvSpPr>
        <p:spPr>
          <a:xfrm rot="5400000">
            <a:off x="2768368" y="2452828"/>
            <a:ext cx="1174459" cy="1221549"/>
          </a:xfrm>
          <a:prstGeom prst="arc">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0" name="Arc 9">
            <a:extLst>
              <a:ext uri="{FF2B5EF4-FFF2-40B4-BE49-F238E27FC236}">
                <a16:creationId xmlns:a16="http://schemas.microsoft.com/office/drawing/2014/main" id="{0D164ACD-D808-4FD0-853A-4F589FA51AF2}"/>
              </a:ext>
            </a:extLst>
          </p:cNvPr>
          <p:cNvSpPr/>
          <p:nvPr/>
        </p:nvSpPr>
        <p:spPr>
          <a:xfrm rot="16200000" flipH="1">
            <a:off x="5844995" y="2462838"/>
            <a:ext cx="1174459" cy="1221549"/>
          </a:xfrm>
          <a:prstGeom prst="arc">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7" name="TextBox 6">
            <a:extLst>
              <a:ext uri="{FF2B5EF4-FFF2-40B4-BE49-F238E27FC236}">
                <a16:creationId xmlns:a16="http://schemas.microsoft.com/office/drawing/2014/main" id="{E4149074-F3E7-4387-B360-F195098E6F83}"/>
              </a:ext>
            </a:extLst>
          </p:cNvPr>
          <p:cNvSpPr txBox="1"/>
          <p:nvPr/>
        </p:nvSpPr>
        <p:spPr>
          <a:xfrm>
            <a:off x="613465" y="3193624"/>
            <a:ext cx="3027357" cy="1323439"/>
          </a:xfrm>
          <a:prstGeom prst="rect">
            <a:avLst/>
          </a:prstGeom>
          <a:noFill/>
        </p:spPr>
        <p:txBody>
          <a:bodyPr wrap="square" rtlCol="0">
            <a:spAutoFit/>
          </a:bodyPr>
          <a:lstStyle/>
          <a:p>
            <a:r>
              <a:rPr lang="en-US" sz="1600" dirty="0">
                <a:solidFill>
                  <a:srgbClr val="FF0000"/>
                </a:solidFill>
              </a:rPr>
              <a:t>Individuals that are more socially integrated (have more friends which share friends) can spend more time feeding and so are in better body condition</a:t>
            </a:r>
            <a:endParaRPr lang="fr-FR" sz="1600" dirty="0">
              <a:solidFill>
                <a:srgbClr val="FF0000"/>
              </a:solidFill>
            </a:endParaRPr>
          </a:p>
        </p:txBody>
      </p:sp>
      <p:sp>
        <p:nvSpPr>
          <p:cNvPr id="13" name="TextBox 12">
            <a:extLst>
              <a:ext uri="{FF2B5EF4-FFF2-40B4-BE49-F238E27FC236}">
                <a16:creationId xmlns:a16="http://schemas.microsoft.com/office/drawing/2014/main" id="{17EC0146-62AA-450F-A3CD-06C9AF9A9F4A}"/>
              </a:ext>
            </a:extLst>
          </p:cNvPr>
          <p:cNvSpPr txBox="1"/>
          <p:nvPr/>
        </p:nvSpPr>
        <p:spPr>
          <a:xfrm>
            <a:off x="6453604" y="3193624"/>
            <a:ext cx="3027357" cy="1323439"/>
          </a:xfrm>
          <a:prstGeom prst="rect">
            <a:avLst/>
          </a:prstGeom>
          <a:noFill/>
        </p:spPr>
        <p:txBody>
          <a:bodyPr wrap="square" rtlCol="0">
            <a:spAutoFit/>
          </a:bodyPr>
          <a:lstStyle/>
          <a:p>
            <a:r>
              <a:rPr lang="en-US" sz="1600" dirty="0">
                <a:solidFill>
                  <a:srgbClr val="0070C0"/>
                </a:solidFill>
              </a:rPr>
              <a:t>Individuals with higher closeness have more access to social information on the best foraging areas and so are in better body condition</a:t>
            </a:r>
            <a:endParaRPr lang="fr-FR" sz="1600" dirty="0">
              <a:solidFill>
                <a:srgbClr val="0070C0"/>
              </a:solidFill>
            </a:endParaRPr>
          </a:p>
        </p:txBody>
      </p:sp>
      <p:sp>
        <p:nvSpPr>
          <p:cNvPr id="14" name="TextBox 13">
            <a:extLst>
              <a:ext uri="{FF2B5EF4-FFF2-40B4-BE49-F238E27FC236}">
                <a16:creationId xmlns:a16="http://schemas.microsoft.com/office/drawing/2014/main" id="{EA850022-7579-4F73-9DC9-194A38C56EBE}"/>
              </a:ext>
            </a:extLst>
          </p:cNvPr>
          <p:cNvSpPr txBox="1"/>
          <p:nvPr/>
        </p:nvSpPr>
        <p:spPr>
          <a:xfrm>
            <a:off x="982025" y="4856039"/>
            <a:ext cx="11090323" cy="1631216"/>
          </a:xfrm>
          <a:prstGeom prst="rect">
            <a:avLst/>
          </a:prstGeom>
          <a:noFill/>
        </p:spPr>
        <p:txBody>
          <a:bodyPr wrap="square">
            <a:spAutoFit/>
          </a:bodyPr>
          <a:lstStyle/>
          <a:p>
            <a:r>
              <a:rPr lang="en-US" sz="2000" b="1" dirty="0"/>
              <a:t>The main potential issues to consider here are:</a:t>
            </a:r>
          </a:p>
          <a:p>
            <a:endParaRPr lang="en-US" sz="2000" dirty="0"/>
          </a:p>
          <a:p>
            <a:pPr marL="342900" indent="-342900">
              <a:buFontTx/>
              <a:buChar char="-"/>
            </a:pPr>
            <a:r>
              <a:rPr lang="en-US" sz="2000" dirty="0"/>
              <a:t>Sampling constraints</a:t>
            </a:r>
          </a:p>
          <a:p>
            <a:pPr marL="342900" indent="-342900">
              <a:buFontTx/>
              <a:buChar char="-"/>
            </a:pPr>
            <a:endParaRPr lang="en-US" sz="2000" dirty="0"/>
          </a:p>
          <a:p>
            <a:pPr marL="342900" indent="-342900">
              <a:buFontTx/>
              <a:buChar char="-"/>
            </a:pPr>
            <a:r>
              <a:rPr lang="en-US" sz="2000" dirty="0"/>
              <a:t>Covariance</a:t>
            </a:r>
          </a:p>
        </p:txBody>
      </p:sp>
    </p:spTree>
    <p:extLst>
      <p:ext uri="{BB962C8B-B14F-4D97-AF65-F5344CB8AC3E}">
        <p14:creationId xmlns:p14="http://schemas.microsoft.com/office/powerpoint/2010/main" val="30050043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88476D3D-C8BC-43AD-9F3D-29030E5EE237}"/>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sp>
        <p:nvSpPr>
          <p:cNvPr id="12" name="TextBox 11">
            <a:extLst>
              <a:ext uri="{FF2B5EF4-FFF2-40B4-BE49-F238E27FC236}">
                <a16:creationId xmlns:a16="http://schemas.microsoft.com/office/drawing/2014/main" id="{87F36D1F-5752-460F-B758-61A5595DE232}"/>
              </a:ext>
            </a:extLst>
          </p:cNvPr>
          <p:cNvSpPr txBox="1"/>
          <p:nvPr/>
        </p:nvSpPr>
        <p:spPr>
          <a:xfrm>
            <a:off x="982025" y="2639948"/>
            <a:ext cx="11090323" cy="400110"/>
          </a:xfrm>
          <a:prstGeom prst="rect">
            <a:avLst/>
          </a:prstGeom>
          <a:noFill/>
        </p:spPr>
        <p:txBody>
          <a:bodyPr wrap="square">
            <a:spAutoFit/>
          </a:bodyPr>
          <a:lstStyle/>
          <a:p>
            <a:r>
              <a:rPr lang="en-US" sz="2000" dirty="0"/>
              <a:t>Body Condition ~ Clustering Coefficient + Closeness</a:t>
            </a:r>
          </a:p>
        </p:txBody>
      </p:sp>
      <p:sp>
        <p:nvSpPr>
          <p:cNvPr id="14" name="TextBox 13">
            <a:extLst>
              <a:ext uri="{FF2B5EF4-FFF2-40B4-BE49-F238E27FC236}">
                <a16:creationId xmlns:a16="http://schemas.microsoft.com/office/drawing/2014/main" id="{EA850022-7579-4F73-9DC9-194A38C56EBE}"/>
              </a:ext>
            </a:extLst>
          </p:cNvPr>
          <p:cNvSpPr txBox="1"/>
          <p:nvPr/>
        </p:nvSpPr>
        <p:spPr>
          <a:xfrm>
            <a:off x="982025" y="3656412"/>
            <a:ext cx="11090323" cy="1631216"/>
          </a:xfrm>
          <a:prstGeom prst="rect">
            <a:avLst/>
          </a:prstGeom>
          <a:noFill/>
        </p:spPr>
        <p:txBody>
          <a:bodyPr wrap="square">
            <a:spAutoFit/>
          </a:bodyPr>
          <a:lstStyle/>
          <a:p>
            <a:r>
              <a:rPr lang="en-US" sz="2000" b="1" dirty="0"/>
              <a:t>The main potential issues to consider here are:</a:t>
            </a:r>
          </a:p>
          <a:p>
            <a:endParaRPr lang="en-US" sz="2000" dirty="0"/>
          </a:p>
          <a:p>
            <a:pPr marL="342900" indent="-342900">
              <a:buFontTx/>
              <a:buChar char="-"/>
            </a:pPr>
            <a:r>
              <a:rPr lang="en-US" sz="2000" dirty="0"/>
              <a:t>Sampling constraints</a:t>
            </a:r>
          </a:p>
          <a:p>
            <a:pPr marL="342900" indent="-342900">
              <a:buFontTx/>
              <a:buChar char="-"/>
            </a:pPr>
            <a:endParaRPr lang="en-US" sz="2000" dirty="0"/>
          </a:p>
          <a:p>
            <a:pPr marL="342900" indent="-342900">
              <a:buFontTx/>
              <a:buChar char="-"/>
            </a:pPr>
            <a:r>
              <a:rPr lang="en-US" sz="2000" dirty="0"/>
              <a:t>Covariance</a:t>
            </a:r>
          </a:p>
        </p:txBody>
      </p:sp>
      <p:sp>
        <p:nvSpPr>
          <p:cNvPr id="15" name="TextBox 14">
            <a:extLst>
              <a:ext uri="{FF2B5EF4-FFF2-40B4-BE49-F238E27FC236}">
                <a16:creationId xmlns:a16="http://schemas.microsoft.com/office/drawing/2014/main" id="{18EF6738-44BB-4286-A665-280DAF739F16}"/>
              </a:ext>
            </a:extLst>
          </p:cNvPr>
          <p:cNvSpPr txBox="1"/>
          <p:nvPr/>
        </p:nvSpPr>
        <p:spPr>
          <a:xfrm>
            <a:off x="7293758" y="2501403"/>
            <a:ext cx="4267199" cy="1446550"/>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400" b="1" dirty="0"/>
              <a:t>Sampling constraints</a:t>
            </a:r>
          </a:p>
          <a:p>
            <a:endParaRPr lang="en-US" sz="2400" b="1" dirty="0"/>
          </a:p>
          <a:p>
            <a:pPr marL="342900" indent="-342900">
              <a:buFontTx/>
              <a:buChar char="-"/>
            </a:pPr>
            <a:r>
              <a:rPr lang="en-US" sz="2000" dirty="0"/>
              <a:t>Using association indices or binomial edge weights</a:t>
            </a:r>
          </a:p>
        </p:txBody>
      </p:sp>
    </p:spTree>
    <p:extLst>
      <p:ext uri="{BB962C8B-B14F-4D97-AF65-F5344CB8AC3E}">
        <p14:creationId xmlns:p14="http://schemas.microsoft.com/office/powerpoint/2010/main" val="7079467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88476D3D-C8BC-43AD-9F3D-29030E5EE237}"/>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sp>
        <p:nvSpPr>
          <p:cNvPr id="12" name="TextBox 11">
            <a:extLst>
              <a:ext uri="{FF2B5EF4-FFF2-40B4-BE49-F238E27FC236}">
                <a16:creationId xmlns:a16="http://schemas.microsoft.com/office/drawing/2014/main" id="{87F36D1F-5752-460F-B758-61A5595DE232}"/>
              </a:ext>
            </a:extLst>
          </p:cNvPr>
          <p:cNvSpPr txBox="1"/>
          <p:nvPr/>
        </p:nvSpPr>
        <p:spPr>
          <a:xfrm>
            <a:off x="982025" y="2639948"/>
            <a:ext cx="11090323" cy="400110"/>
          </a:xfrm>
          <a:prstGeom prst="rect">
            <a:avLst/>
          </a:prstGeom>
          <a:noFill/>
        </p:spPr>
        <p:txBody>
          <a:bodyPr wrap="square">
            <a:spAutoFit/>
          </a:bodyPr>
          <a:lstStyle/>
          <a:p>
            <a:r>
              <a:rPr lang="en-US" sz="2000" dirty="0"/>
              <a:t>Body Condition ~ Clustering Coefficient + Closeness</a:t>
            </a:r>
          </a:p>
        </p:txBody>
      </p:sp>
      <p:sp>
        <p:nvSpPr>
          <p:cNvPr id="14" name="TextBox 13">
            <a:extLst>
              <a:ext uri="{FF2B5EF4-FFF2-40B4-BE49-F238E27FC236}">
                <a16:creationId xmlns:a16="http://schemas.microsoft.com/office/drawing/2014/main" id="{EA850022-7579-4F73-9DC9-194A38C56EBE}"/>
              </a:ext>
            </a:extLst>
          </p:cNvPr>
          <p:cNvSpPr txBox="1"/>
          <p:nvPr/>
        </p:nvSpPr>
        <p:spPr>
          <a:xfrm>
            <a:off x="982025" y="3656412"/>
            <a:ext cx="11090323" cy="1631216"/>
          </a:xfrm>
          <a:prstGeom prst="rect">
            <a:avLst/>
          </a:prstGeom>
          <a:noFill/>
        </p:spPr>
        <p:txBody>
          <a:bodyPr wrap="square">
            <a:spAutoFit/>
          </a:bodyPr>
          <a:lstStyle/>
          <a:p>
            <a:r>
              <a:rPr lang="en-US" sz="2000" b="1" dirty="0"/>
              <a:t>The main potential issues to consider here are:</a:t>
            </a:r>
          </a:p>
          <a:p>
            <a:endParaRPr lang="en-US" sz="2000" dirty="0"/>
          </a:p>
          <a:p>
            <a:pPr marL="342900" indent="-342900">
              <a:buFontTx/>
              <a:buChar char="-"/>
            </a:pPr>
            <a:r>
              <a:rPr lang="en-US" sz="2000" dirty="0"/>
              <a:t>Sampling constraints</a:t>
            </a:r>
          </a:p>
          <a:p>
            <a:pPr marL="342900" indent="-342900">
              <a:buFontTx/>
              <a:buChar char="-"/>
            </a:pPr>
            <a:endParaRPr lang="en-US" sz="2000" dirty="0"/>
          </a:p>
          <a:p>
            <a:pPr marL="342900" indent="-342900">
              <a:buFontTx/>
              <a:buChar char="-"/>
            </a:pPr>
            <a:r>
              <a:rPr lang="en-US" sz="2000" dirty="0"/>
              <a:t>Covariance</a:t>
            </a:r>
          </a:p>
        </p:txBody>
      </p:sp>
      <p:sp>
        <p:nvSpPr>
          <p:cNvPr id="15" name="TextBox 14">
            <a:extLst>
              <a:ext uri="{FF2B5EF4-FFF2-40B4-BE49-F238E27FC236}">
                <a16:creationId xmlns:a16="http://schemas.microsoft.com/office/drawing/2014/main" id="{18EF6738-44BB-4286-A665-280DAF739F16}"/>
              </a:ext>
            </a:extLst>
          </p:cNvPr>
          <p:cNvSpPr txBox="1"/>
          <p:nvPr/>
        </p:nvSpPr>
        <p:spPr>
          <a:xfrm>
            <a:off x="7293758" y="2501403"/>
            <a:ext cx="4267199" cy="2677656"/>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400" b="1" dirty="0"/>
              <a:t>Sampling constraints</a:t>
            </a:r>
          </a:p>
          <a:p>
            <a:endParaRPr lang="en-US" sz="2400" b="1" dirty="0"/>
          </a:p>
          <a:p>
            <a:pPr marL="342900" indent="-342900">
              <a:buFontTx/>
              <a:buChar char="-"/>
            </a:pPr>
            <a:r>
              <a:rPr lang="en-US" sz="2000" dirty="0"/>
              <a:t>Using association indices or binomial edge weights</a:t>
            </a:r>
          </a:p>
          <a:p>
            <a:pPr marL="342900" indent="-342900">
              <a:buFontTx/>
              <a:buChar char="-"/>
            </a:pPr>
            <a:endParaRPr lang="en-US" sz="2000" dirty="0"/>
          </a:p>
          <a:p>
            <a:pPr marL="342900" indent="-342900">
              <a:buFontTx/>
              <a:buChar char="-"/>
            </a:pPr>
            <a:r>
              <a:rPr lang="en-US" sz="2000" dirty="0"/>
              <a:t>Controlling for numbers of observations or duration of time monitored</a:t>
            </a:r>
          </a:p>
        </p:txBody>
      </p:sp>
    </p:spTree>
    <p:extLst>
      <p:ext uri="{BB962C8B-B14F-4D97-AF65-F5344CB8AC3E}">
        <p14:creationId xmlns:p14="http://schemas.microsoft.com/office/powerpoint/2010/main" val="38255574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88476D3D-C8BC-43AD-9F3D-29030E5EE237}"/>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sp>
        <p:nvSpPr>
          <p:cNvPr id="12" name="TextBox 11">
            <a:extLst>
              <a:ext uri="{FF2B5EF4-FFF2-40B4-BE49-F238E27FC236}">
                <a16:creationId xmlns:a16="http://schemas.microsoft.com/office/drawing/2014/main" id="{87F36D1F-5752-460F-B758-61A5595DE232}"/>
              </a:ext>
            </a:extLst>
          </p:cNvPr>
          <p:cNvSpPr txBox="1"/>
          <p:nvPr/>
        </p:nvSpPr>
        <p:spPr>
          <a:xfrm>
            <a:off x="982025" y="2639948"/>
            <a:ext cx="11090323" cy="400110"/>
          </a:xfrm>
          <a:prstGeom prst="rect">
            <a:avLst/>
          </a:prstGeom>
          <a:noFill/>
        </p:spPr>
        <p:txBody>
          <a:bodyPr wrap="square">
            <a:spAutoFit/>
          </a:bodyPr>
          <a:lstStyle/>
          <a:p>
            <a:r>
              <a:rPr lang="en-US" sz="2000" dirty="0"/>
              <a:t>Body Condition ~ Clustering Coefficient + Closeness</a:t>
            </a:r>
          </a:p>
        </p:txBody>
      </p:sp>
      <p:sp>
        <p:nvSpPr>
          <p:cNvPr id="14" name="TextBox 13">
            <a:extLst>
              <a:ext uri="{FF2B5EF4-FFF2-40B4-BE49-F238E27FC236}">
                <a16:creationId xmlns:a16="http://schemas.microsoft.com/office/drawing/2014/main" id="{EA850022-7579-4F73-9DC9-194A38C56EBE}"/>
              </a:ext>
            </a:extLst>
          </p:cNvPr>
          <p:cNvSpPr txBox="1"/>
          <p:nvPr/>
        </p:nvSpPr>
        <p:spPr>
          <a:xfrm>
            <a:off x="982025" y="3656412"/>
            <a:ext cx="11090323" cy="1631216"/>
          </a:xfrm>
          <a:prstGeom prst="rect">
            <a:avLst/>
          </a:prstGeom>
          <a:noFill/>
        </p:spPr>
        <p:txBody>
          <a:bodyPr wrap="square">
            <a:spAutoFit/>
          </a:bodyPr>
          <a:lstStyle/>
          <a:p>
            <a:r>
              <a:rPr lang="en-US" sz="2000" b="1" dirty="0"/>
              <a:t>The main potential issues to consider here are:</a:t>
            </a:r>
          </a:p>
          <a:p>
            <a:endParaRPr lang="en-US" sz="2000" dirty="0"/>
          </a:p>
          <a:p>
            <a:pPr marL="342900" indent="-342900">
              <a:buFontTx/>
              <a:buChar char="-"/>
            </a:pPr>
            <a:r>
              <a:rPr lang="en-US" sz="2000" dirty="0"/>
              <a:t>Sampling constraints</a:t>
            </a:r>
          </a:p>
          <a:p>
            <a:pPr marL="342900" indent="-342900">
              <a:buFontTx/>
              <a:buChar char="-"/>
            </a:pPr>
            <a:endParaRPr lang="en-US" sz="2000" dirty="0"/>
          </a:p>
          <a:p>
            <a:pPr marL="342900" indent="-342900">
              <a:buFontTx/>
              <a:buChar char="-"/>
            </a:pPr>
            <a:r>
              <a:rPr lang="en-US" sz="2000" dirty="0"/>
              <a:t>Covariance</a:t>
            </a:r>
          </a:p>
        </p:txBody>
      </p:sp>
      <p:sp>
        <p:nvSpPr>
          <p:cNvPr id="15" name="TextBox 14">
            <a:extLst>
              <a:ext uri="{FF2B5EF4-FFF2-40B4-BE49-F238E27FC236}">
                <a16:creationId xmlns:a16="http://schemas.microsoft.com/office/drawing/2014/main" id="{18EF6738-44BB-4286-A665-280DAF739F16}"/>
              </a:ext>
            </a:extLst>
          </p:cNvPr>
          <p:cNvSpPr txBox="1"/>
          <p:nvPr/>
        </p:nvSpPr>
        <p:spPr>
          <a:xfrm>
            <a:off x="7293758" y="2501403"/>
            <a:ext cx="4267199" cy="3600986"/>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400" b="1" dirty="0"/>
              <a:t>Sampling constraints</a:t>
            </a:r>
          </a:p>
          <a:p>
            <a:endParaRPr lang="en-US" sz="2400" b="1" dirty="0"/>
          </a:p>
          <a:p>
            <a:pPr marL="342900" indent="-342900">
              <a:buFontTx/>
              <a:buChar char="-"/>
            </a:pPr>
            <a:r>
              <a:rPr lang="en-US" sz="2000" dirty="0"/>
              <a:t>Using association indices or binomial edge weights</a:t>
            </a:r>
          </a:p>
          <a:p>
            <a:pPr marL="342900" indent="-342900">
              <a:buFontTx/>
              <a:buChar char="-"/>
            </a:pPr>
            <a:endParaRPr lang="en-US" sz="2000" dirty="0"/>
          </a:p>
          <a:p>
            <a:pPr marL="342900" indent="-342900">
              <a:buFontTx/>
              <a:buChar char="-"/>
            </a:pPr>
            <a:r>
              <a:rPr lang="en-US" sz="2000" dirty="0"/>
              <a:t>Controlling for numbers of observations or duration of time monitored</a:t>
            </a:r>
          </a:p>
          <a:p>
            <a:pPr marL="342900" indent="-342900">
              <a:buFontTx/>
              <a:buChar char="-"/>
            </a:pPr>
            <a:endParaRPr lang="en-US" sz="2000" dirty="0"/>
          </a:p>
          <a:p>
            <a:pPr marL="342900" indent="-342900">
              <a:buFontTx/>
              <a:buChar char="-"/>
            </a:pPr>
            <a:r>
              <a:rPr lang="en-US" sz="2000" i="1" dirty="0"/>
              <a:t>Propagating uncertainty in edge weights</a:t>
            </a:r>
            <a:endParaRPr lang="en-US" sz="1400" i="1" dirty="0"/>
          </a:p>
        </p:txBody>
      </p:sp>
    </p:spTree>
    <p:extLst>
      <p:ext uri="{BB962C8B-B14F-4D97-AF65-F5344CB8AC3E}">
        <p14:creationId xmlns:p14="http://schemas.microsoft.com/office/powerpoint/2010/main" val="21216843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DE89F-908E-525C-52FC-432430BF1B0B}"/>
            </a:ext>
          </a:extLst>
        </p:cNvPr>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ADCE2460-281B-5444-8B0D-7D0E4D2956B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94FE082D-890F-D63B-85CC-B45771A107C0}"/>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E094B7FC-A38D-687D-9302-2FA3D413FEA8}"/>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sp>
        <p:nvSpPr>
          <p:cNvPr id="12" name="TextBox 11">
            <a:extLst>
              <a:ext uri="{FF2B5EF4-FFF2-40B4-BE49-F238E27FC236}">
                <a16:creationId xmlns:a16="http://schemas.microsoft.com/office/drawing/2014/main" id="{4EC2410E-BC9F-C427-DEA2-7789A0198827}"/>
              </a:ext>
            </a:extLst>
          </p:cNvPr>
          <p:cNvSpPr txBox="1"/>
          <p:nvPr/>
        </p:nvSpPr>
        <p:spPr>
          <a:xfrm>
            <a:off x="982025" y="2639948"/>
            <a:ext cx="11090323" cy="400110"/>
          </a:xfrm>
          <a:prstGeom prst="rect">
            <a:avLst/>
          </a:prstGeom>
          <a:noFill/>
        </p:spPr>
        <p:txBody>
          <a:bodyPr wrap="square">
            <a:spAutoFit/>
          </a:bodyPr>
          <a:lstStyle/>
          <a:p>
            <a:r>
              <a:rPr lang="en-US" sz="2000" dirty="0"/>
              <a:t>Body Condition ~ Clustering Coefficient + Closeness</a:t>
            </a:r>
          </a:p>
        </p:txBody>
      </p:sp>
      <p:sp>
        <p:nvSpPr>
          <p:cNvPr id="14" name="TextBox 13">
            <a:extLst>
              <a:ext uri="{FF2B5EF4-FFF2-40B4-BE49-F238E27FC236}">
                <a16:creationId xmlns:a16="http://schemas.microsoft.com/office/drawing/2014/main" id="{751FE823-EEF6-C7F0-23C3-7DD399D0A23A}"/>
              </a:ext>
            </a:extLst>
          </p:cNvPr>
          <p:cNvSpPr txBox="1"/>
          <p:nvPr/>
        </p:nvSpPr>
        <p:spPr>
          <a:xfrm>
            <a:off x="982025" y="3656412"/>
            <a:ext cx="11090323" cy="1631216"/>
          </a:xfrm>
          <a:prstGeom prst="rect">
            <a:avLst/>
          </a:prstGeom>
          <a:noFill/>
        </p:spPr>
        <p:txBody>
          <a:bodyPr wrap="square">
            <a:spAutoFit/>
          </a:bodyPr>
          <a:lstStyle/>
          <a:p>
            <a:r>
              <a:rPr lang="en-US" sz="2000" b="1" dirty="0"/>
              <a:t>The main potential issues to consider here are:</a:t>
            </a:r>
          </a:p>
          <a:p>
            <a:endParaRPr lang="en-US" sz="2000" dirty="0"/>
          </a:p>
          <a:p>
            <a:pPr marL="342900" indent="-342900">
              <a:buFontTx/>
              <a:buChar char="-"/>
            </a:pPr>
            <a:r>
              <a:rPr lang="en-US" sz="2000" dirty="0"/>
              <a:t>Sampling constraints</a:t>
            </a:r>
          </a:p>
          <a:p>
            <a:pPr marL="342900" indent="-342900">
              <a:buFontTx/>
              <a:buChar char="-"/>
            </a:pPr>
            <a:endParaRPr lang="en-US" sz="2000" dirty="0"/>
          </a:p>
          <a:p>
            <a:pPr marL="342900" indent="-342900">
              <a:buFontTx/>
              <a:buChar char="-"/>
            </a:pPr>
            <a:r>
              <a:rPr lang="en-US" sz="2000" dirty="0"/>
              <a:t>Covariance</a:t>
            </a:r>
          </a:p>
        </p:txBody>
      </p:sp>
      <p:sp>
        <p:nvSpPr>
          <p:cNvPr id="15" name="TextBox 14">
            <a:extLst>
              <a:ext uri="{FF2B5EF4-FFF2-40B4-BE49-F238E27FC236}">
                <a16:creationId xmlns:a16="http://schemas.microsoft.com/office/drawing/2014/main" id="{D211DDAD-8F08-87CD-99A7-E3671A8902BD}"/>
              </a:ext>
            </a:extLst>
          </p:cNvPr>
          <p:cNvSpPr txBox="1"/>
          <p:nvPr/>
        </p:nvSpPr>
        <p:spPr>
          <a:xfrm>
            <a:off x="7293758" y="2501403"/>
            <a:ext cx="4267199" cy="2123658"/>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400" b="1" dirty="0"/>
              <a:t>Covariance</a:t>
            </a:r>
          </a:p>
          <a:p>
            <a:endParaRPr lang="en-US" sz="2000" dirty="0"/>
          </a:p>
          <a:p>
            <a:pPr marL="342900" indent="-342900">
              <a:buFontTx/>
              <a:buChar char="-"/>
            </a:pPr>
            <a:r>
              <a:rPr lang="en-US" sz="2000" dirty="0"/>
              <a:t>Network autocorrelation models (NAMs)</a:t>
            </a:r>
          </a:p>
          <a:p>
            <a:pPr marL="800100" lvl="1" indent="-342900">
              <a:buFontTx/>
              <a:buChar char="-"/>
            </a:pPr>
            <a:r>
              <a:rPr lang="en-US" sz="1600" dirty="0"/>
              <a:t>User-specified dependencies among nodes</a:t>
            </a:r>
          </a:p>
          <a:p>
            <a:pPr marL="800100" lvl="1" indent="-342900">
              <a:buFontTx/>
              <a:buChar char="-"/>
            </a:pPr>
            <a:r>
              <a:rPr lang="en-US" sz="1600" dirty="0"/>
              <a:t>Greater </a:t>
            </a:r>
            <a:r>
              <a:rPr lang="en-US" sz="1600" dirty="0" err="1"/>
              <a:t>subjectivit</a:t>
            </a:r>
            <a:endParaRPr lang="en-US" sz="1600" dirty="0"/>
          </a:p>
        </p:txBody>
      </p:sp>
    </p:spTree>
    <p:extLst>
      <p:ext uri="{BB962C8B-B14F-4D97-AF65-F5344CB8AC3E}">
        <p14:creationId xmlns:p14="http://schemas.microsoft.com/office/powerpoint/2010/main" val="10492771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88476D3D-C8BC-43AD-9F3D-29030E5EE237}"/>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sp>
        <p:nvSpPr>
          <p:cNvPr id="12" name="TextBox 11">
            <a:extLst>
              <a:ext uri="{FF2B5EF4-FFF2-40B4-BE49-F238E27FC236}">
                <a16:creationId xmlns:a16="http://schemas.microsoft.com/office/drawing/2014/main" id="{87F36D1F-5752-460F-B758-61A5595DE232}"/>
              </a:ext>
            </a:extLst>
          </p:cNvPr>
          <p:cNvSpPr txBox="1"/>
          <p:nvPr/>
        </p:nvSpPr>
        <p:spPr>
          <a:xfrm>
            <a:off x="982025" y="2639948"/>
            <a:ext cx="11090323" cy="400110"/>
          </a:xfrm>
          <a:prstGeom prst="rect">
            <a:avLst/>
          </a:prstGeom>
          <a:noFill/>
        </p:spPr>
        <p:txBody>
          <a:bodyPr wrap="square">
            <a:spAutoFit/>
          </a:bodyPr>
          <a:lstStyle/>
          <a:p>
            <a:r>
              <a:rPr lang="en-US" sz="2000" dirty="0"/>
              <a:t>Body Condition ~ Clustering Coefficient + Closeness</a:t>
            </a:r>
          </a:p>
        </p:txBody>
      </p:sp>
      <p:sp>
        <p:nvSpPr>
          <p:cNvPr id="14" name="TextBox 13">
            <a:extLst>
              <a:ext uri="{FF2B5EF4-FFF2-40B4-BE49-F238E27FC236}">
                <a16:creationId xmlns:a16="http://schemas.microsoft.com/office/drawing/2014/main" id="{EA850022-7579-4F73-9DC9-194A38C56EBE}"/>
              </a:ext>
            </a:extLst>
          </p:cNvPr>
          <p:cNvSpPr txBox="1"/>
          <p:nvPr/>
        </p:nvSpPr>
        <p:spPr>
          <a:xfrm>
            <a:off x="982025" y="3656412"/>
            <a:ext cx="11090323" cy="1631216"/>
          </a:xfrm>
          <a:prstGeom prst="rect">
            <a:avLst/>
          </a:prstGeom>
          <a:noFill/>
        </p:spPr>
        <p:txBody>
          <a:bodyPr wrap="square">
            <a:spAutoFit/>
          </a:bodyPr>
          <a:lstStyle/>
          <a:p>
            <a:r>
              <a:rPr lang="en-US" sz="2000" b="1" dirty="0"/>
              <a:t>The main potential issues to consider here are:</a:t>
            </a:r>
          </a:p>
          <a:p>
            <a:endParaRPr lang="en-US" sz="2000" dirty="0"/>
          </a:p>
          <a:p>
            <a:pPr marL="342900" indent="-342900">
              <a:buFontTx/>
              <a:buChar char="-"/>
            </a:pPr>
            <a:r>
              <a:rPr lang="en-US" sz="2000" dirty="0"/>
              <a:t>Sampling constraints</a:t>
            </a:r>
          </a:p>
          <a:p>
            <a:pPr marL="342900" indent="-342900">
              <a:buFontTx/>
              <a:buChar char="-"/>
            </a:pPr>
            <a:endParaRPr lang="en-US" sz="2000" dirty="0"/>
          </a:p>
          <a:p>
            <a:pPr marL="342900" indent="-342900">
              <a:buFontTx/>
              <a:buChar char="-"/>
            </a:pPr>
            <a:r>
              <a:rPr lang="en-US" sz="2000" dirty="0"/>
              <a:t>Covariance</a:t>
            </a:r>
          </a:p>
        </p:txBody>
      </p:sp>
      <p:sp>
        <p:nvSpPr>
          <p:cNvPr id="15" name="TextBox 14">
            <a:extLst>
              <a:ext uri="{FF2B5EF4-FFF2-40B4-BE49-F238E27FC236}">
                <a16:creationId xmlns:a16="http://schemas.microsoft.com/office/drawing/2014/main" id="{18EF6738-44BB-4286-A665-280DAF739F16}"/>
              </a:ext>
            </a:extLst>
          </p:cNvPr>
          <p:cNvSpPr txBox="1"/>
          <p:nvPr/>
        </p:nvSpPr>
        <p:spPr>
          <a:xfrm>
            <a:off x="7293758" y="2501403"/>
            <a:ext cx="4267199" cy="3293209"/>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400" b="1" dirty="0"/>
              <a:t>Covariance</a:t>
            </a:r>
          </a:p>
          <a:p>
            <a:endParaRPr lang="en-US" sz="2000" dirty="0"/>
          </a:p>
          <a:p>
            <a:pPr marL="342900" indent="-342900">
              <a:buFontTx/>
              <a:buChar char="-"/>
            </a:pPr>
            <a:r>
              <a:rPr lang="en-US" sz="2000" dirty="0"/>
              <a:t>Network autocorrelation models (NAMs)</a:t>
            </a:r>
          </a:p>
          <a:p>
            <a:pPr marL="800100" lvl="1" indent="-342900">
              <a:buFontTx/>
              <a:buChar char="-"/>
            </a:pPr>
            <a:r>
              <a:rPr lang="en-US" sz="1600" dirty="0"/>
              <a:t>User-specified dependencies among nodes</a:t>
            </a:r>
          </a:p>
          <a:p>
            <a:pPr marL="800100" lvl="1" indent="-342900">
              <a:buFontTx/>
              <a:buChar char="-"/>
            </a:pPr>
            <a:r>
              <a:rPr lang="en-US" sz="1600" dirty="0"/>
              <a:t>Greater subjectivity</a:t>
            </a:r>
          </a:p>
          <a:p>
            <a:pPr lvl="1"/>
            <a:endParaRPr lang="en-US" sz="1600" dirty="0"/>
          </a:p>
          <a:p>
            <a:pPr marL="342900" indent="-342900">
              <a:buFontTx/>
              <a:buChar char="-"/>
            </a:pPr>
            <a:r>
              <a:rPr lang="en-US" sz="2000" i="1" dirty="0"/>
              <a:t>Use network directly to model covariance structure</a:t>
            </a:r>
            <a:endParaRPr lang="en-US" sz="1600" i="1" dirty="0"/>
          </a:p>
          <a:p>
            <a:pPr marL="342900" indent="-342900">
              <a:buFontTx/>
              <a:buChar char="-"/>
            </a:pPr>
            <a:endParaRPr lang="en-US" sz="2000" dirty="0"/>
          </a:p>
        </p:txBody>
      </p:sp>
    </p:spTree>
    <p:extLst>
      <p:ext uri="{BB962C8B-B14F-4D97-AF65-F5344CB8AC3E}">
        <p14:creationId xmlns:p14="http://schemas.microsoft.com/office/powerpoint/2010/main" val="40628882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2.    Nodal regressions: using network measures to explain other traits</a:t>
            </a:r>
          </a:p>
        </p:txBody>
      </p:sp>
      <p:sp>
        <p:nvSpPr>
          <p:cNvPr id="11" name="TextBox 10">
            <a:extLst>
              <a:ext uri="{FF2B5EF4-FFF2-40B4-BE49-F238E27FC236}">
                <a16:creationId xmlns:a16="http://schemas.microsoft.com/office/drawing/2014/main" id="{88476D3D-C8BC-43AD-9F3D-29030E5EE237}"/>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individual traits are explained by network position</a:t>
            </a:r>
          </a:p>
        </p:txBody>
      </p:sp>
      <p:sp>
        <p:nvSpPr>
          <p:cNvPr id="9" name="TextBox 8">
            <a:extLst>
              <a:ext uri="{FF2B5EF4-FFF2-40B4-BE49-F238E27FC236}">
                <a16:creationId xmlns:a16="http://schemas.microsoft.com/office/drawing/2014/main" id="{B6472114-5047-43D1-B1AE-883C2D8A498B}"/>
              </a:ext>
            </a:extLst>
          </p:cNvPr>
          <p:cNvSpPr txBox="1"/>
          <p:nvPr/>
        </p:nvSpPr>
        <p:spPr>
          <a:xfrm>
            <a:off x="1510344" y="2967441"/>
            <a:ext cx="8851554" cy="1015663"/>
          </a:xfrm>
          <a:prstGeom prst="rect">
            <a:avLst/>
          </a:prstGeom>
          <a:solidFill>
            <a:schemeClr val="accent1">
              <a:lumMod val="75000"/>
            </a:schemeClr>
          </a:solidFill>
        </p:spPr>
        <p:txBody>
          <a:bodyPr wrap="square" rtlCol="0">
            <a:spAutoFit/>
          </a:bodyPr>
          <a:lstStyle/>
          <a:p>
            <a:pPr algn="ctr"/>
            <a:r>
              <a:rPr lang="en-US" sz="3000" b="1" dirty="0">
                <a:solidFill>
                  <a:schemeClr val="bg1"/>
                </a:solidFill>
              </a:rPr>
              <a:t>Go to the R Markdown for Session 3 and work through the section SESSION 3: PART 1 </a:t>
            </a:r>
          </a:p>
        </p:txBody>
      </p:sp>
    </p:spTree>
    <p:extLst>
      <p:ext uri="{BB962C8B-B14F-4D97-AF65-F5344CB8AC3E}">
        <p14:creationId xmlns:p14="http://schemas.microsoft.com/office/powerpoint/2010/main" val="7749003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3.    Nodal regressions: asking what explains network position</a:t>
            </a:r>
          </a:p>
        </p:txBody>
      </p:sp>
      <p:sp>
        <p:nvSpPr>
          <p:cNvPr id="5" name="TextBox 4">
            <a:extLst>
              <a:ext uri="{FF2B5EF4-FFF2-40B4-BE49-F238E27FC236}">
                <a16:creationId xmlns:a16="http://schemas.microsoft.com/office/drawing/2014/main" id="{4916AE17-BB61-4FA7-8D94-046B5379DFFB}"/>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network position is explained by individual traits</a:t>
            </a:r>
          </a:p>
        </p:txBody>
      </p:sp>
      <p:pic>
        <p:nvPicPr>
          <p:cNvPr id="9" name="Picture 8">
            <a:extLst>
              <a:ext uri="{FF2B5EF4-FFF2-40B4-BE49-F238E27FC236}">
                <a16:creationId xmlns:a16="http://schemas.microsoft.com/office/drawing/2014/main" id="{67FA70FC-B64E-9E50-B963-DEAA13515BD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02219" y="5161595"/>
            <a:ext cx="5054781" cy="847899"/>
          </a:xfrm>
          <a:prstGeom prst="rect">
            <a:avLst/>
          </a:prstGeom>
        </p:spPr>
      </p:pic>
      <p:pic>
        <p:nvPicPr>
          <p:cNvPr id="11" name="Picture 10" descr="A group of birds flying&#10;&#10;Description automatically generated with medium confidence">
            <a:extLst>
              <a:ext uri="{FF2B5EF4-FFF2-40B4-BE49-F238E27FC236}">
                <a16:creationId xmlns:a16="http://schemas.microsoft.com/office/drawing/2014/main" id="{261D4FED-C55B-FC57-9E6F-E5018914093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453896" y="3125584"/>
            <a:ext cx="2654960" cy="1770569"/>
          </a:xfrm>
          <a:prstGeom prst="rect">
            <a:avLst/>
          </a:prstGeom>
          <a:ln>
            <a:noFill/>
          </a:ln>
          <a:effectLst>
            <a:softEdge rad="112500"/>
          </a:effectLst>
        </p:spPr>
      </p:pic>
      <p:pic>
        <p:nvPicPr>
          <p:cNvPr id="7" name="Picture 6">
            <a:extLst>
              <a:ext uri="{FF2B5EF4-FFF2-40B4-BE49-F238E27FC236}">
                <a16:creationId xmlns:a16="http://schemas.microsoft.com/office/drawing/2014/main" id="{D11BD41D-C847-7AE3-9CD6-69D9AEAC5A5F}"/>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5267324" y="2096515"/>
            <a:ext cx="6099108" cy="4347148"/>
          </a:xfrm>
          <a:prstGeom prst="rect">
            <a:avLst/>
          </a:prstGeom>
        </p:spPr>
      </p:pic>
    </p:spTree>
    <p:extLst>
      <p:ext uri="{BB962C8B-B14F-4D97-AF65-F5344CB8AC3E}">
        <p14:creationId xmlns:p14="http://schemas.microsoft.com/office/powerpoint/2010/main" val="31760623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3.    Nodal regressions: asking what explains network position</a:t>
            </a:r>
          </a:p>
        </p:txBody>
      </p:sp>
      <p:sp>
        <p:nvSpPr>
          <p:cNvPr id="5" name="TextBox 4">
            <a:extLst>
              <a:ext uri="{FF2B5EF4-FFF2-40B4-BE49-F238E27FC236}">
                <a16:creationId xmlns:a16="http://schemas.microsoft.com/office/drawing/2014/main" id="{4916AE17-BB61-4FA7-8D94-046B5379DFFB}"/>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network position is explained by individual traits</a:t>
            </a:r>
          </a:p>
        </p:txBody>
      </p:sp>
      <p:sp>
        <p:nvSpPr>
          <p:cNvPr id="12" name="TextBox 11">
            <a:extLst>
              <a:ext uri="{FF2B5EF4-FFF2-40B4-BE49-F238E27FC236}">
                <a16:creationId xmlns:a16="http://schemas.microsoft.com/office/drawing/2014/main" id="{EBE06058-AE80-4223-954C-09237FECC767}"/>
              </a:ext>
            </a:extLst>
          </p:cNvPr>
          <p:cNvSpPr txBox="1"/>
          <p:nvPr/>
        </p:nvSpPr>
        <p:spPr>
          <a:xfrm>
            <a:off x="723407" y="4761486"/>
            <a:ext cx="11090323" cy="1631216"/>
          </a:xfrm>
          <a:prstGeom prst="rect">
            <a:avLst/>
          </a:prstGeom>
          <a:noFill/>
        </p:spPr>
        <p:txBody>
          <a:bodyPr wrap="square">
            <a:spAutoFit/>
          </a:bodyPr>
          <a:lstStyle/>
          <a:p>
            <a:r>
              <a:rPr lang="en-US" sz="2000" b="1" dirty="0"/>
              <a:t>The main potential issues to consider here are:</a:t>
            </a:r>
          </a:p>
          <a:p>
            <a:endParaRPr lang="en-US" sz="2000" dirty="0"/>
          </a:p>
          <a:p>
            <a:pPr marL="342900" indent="-342900">
              <a:buFontTx/>
              <a:buChar char="-"/>
            </a:pPr>
            <a:r>
              <a:rPr lang="en-US" sz="2000" dirty="0"/>
              <a:t>Sampling constraints</a:t>
            </a:r>
          </a:p>
          <a:p>
            <a:pPr marL="342900" indent="-342900">
              <a:buFontTx/>
              <a:buChar char="-"/>
            </a:pPr>
            <a:endParaRPr lang="en-US" sz="2000" dirty="0"/>
          </a:p>
          <a:p>
            <a:pPr marL="342900" indent="-342900">
              <a:buFontTx/>
              <a:buChar char="-"/>
            </a:pPr>
            <a:r>
              <a:rPr lang="en-US" sz="2000" dirty="0"/>
              <a:t>Non-independence</a:t>
            </a:r>
          </a:p>
        </p:txBody>
      </p:sp>
      <p:sp>
        <p:nvSpPr>
          <p:cNvPr id="13" name="TextBox 12">
            <a:extLst>
              <a:ext uri="{FF2B5EF4-FFF2-40B4-BE49-F238E27FC236}">
                <a16:creationId xmlns:a16="http://schemas.microsoft.com/office/drawing/2014/main" id="{E812B1BE-3B50-4BDA-8C46-CE579EED1118}"/>
              </a:ext>
            </a:extLst>
          </p:cNvPr>
          <p:cNvSpPr txBox="1"/>
          <p:nvPr/>
        </p:nvSpPr>
        <p:spPr>
          <a:xfrm>
            <a:off x="861955" y="2634944"/>
            <a:ext cx="11090323" cy="400110"/>
          </a:xfrm>
          <a:prstGeom prst="rect">
            <a:avLst/>
          </a:prstGeom>
          <a:noFill/>
        </p:spPr>
        <p:txBody>
          <a:bodyPr wrap="square">
            <a:spAutoFit/>
          </a:bodyPr>
          <a:lstStyle/>
          <a:p>
            <a:r>
              <a:rPr lang="en-US" sz="2000" dirty="0"/>
              <a:t>Betweenness ~ Sex * Body Size</a:t>
            </a:r>
          </a:p>
        </p:txBody>
      </p:sp>
      <p:sp>
        <p:nvSpPr>
          <p:cNvPr id="14" name="Arc 13">
            <a:extLst>
              <a:ext uri="{FF2B5EF4-FFF2-40B4-BE49-F238E27FC236}">
                <a16:creationId xmlns:a16="http://schemas.microsoft.com/office/drawing/2014/main" id="{F6424FDE-3044-4F71-A6D9-6F6D915F272B}"/>
              </a:ext>
            </a:extLst>
          </p:cNvPr>
          <p:cNvSpPr/>
          <p:nvPr/>
        </p:nvSpPr>
        <p:spPr>
          <a:xfrm rot="16200000" flipH="1">
            <a:off x="3092566" y="2462838"/>
            <a:ext cx="1174459" cy="1221549"/>
          </a:xfrm>
          <a:prstGeom prst="arc">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5" name="TextBox 14">
            <a:extLst>
              <a:ext uri="{FF2B5EF4-FFF2-40B4-BE49-F238E27FC236}">
                <a16:creationId xmlns:a16="http://schemas.microsoft.com/office/drawing/2014/main" id="{14EBB933-F2E8-4F64-BE0D-6D53E14D92B0}"/>
              </a:ext>
            </a:extLst>
          </p:cNvPr>
          <p:cNvSpPr txBox="1"/>
          <p:nvPr/>
        </p:nvSpPr>
        <p:spPr>
          <a:xfrm>
            <a:off x="3701175" y="3193624"/>
            <a:ext cx="3027357" cy="1323439"/>
          </a:xfrm>
          <a:prstGeom prst="rect">
            <a:avLst/>
          </a:prstGeom>
          <a:noFill/>
        </p:spPr>
        <p:txBody>
          <a:bodyPr wrap="square" rtlCol="0">
            <a:spAutoFit/>
          </a:bodyPr>
          <a:lstStyle/>
          <a:p>
            <a:r>
              <a:rPr lang="en-US" sz="1600" dirty="0">
                <a:solidFill>
                  <a:srgbClr val="0070C0"/>
                </a:solidFill>
              </a:rPr>
              <a:t>Large males have higher betweenness in a group-living animal as they seek out-of-group mating opportunities and defend territory boundaries</a:t>
            </a:r>
            <a:endParaRPr lang="fr-FR" sz="1600" dirty="0">
              <a:solidFill>
                <a:srgbClr val="0070C0"/>
              </a:solidFill>
            </a:endParaRPr>
          </a:p>
        </p:txBody>
      </p:sp>
    </p:spTree>
    <p:extLst>
      <p:ext uri="{BB962C8B-B14F-4D97-AF65-F5344CB8AC3E}">
        <p14:creationId xmlns:p14="http://schemas.microsoft.com/office/powerpoint/2010/main" val="1846686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3.    Nodal regressions: asking what explains network position</a:t>
            </a:r>
          </a:p>
        </p:txBody>
      </p:sp>
      <p:sp>
        <p:nvSpPr>
          <p:cNvPr id="5" name="TextBox 4">
            <a:extLst>
              <a:ext uri="{FF2B5EF4-FFF2-40B4-BE49-F238E27FC236}">
                <a16:creationId xmlns:a16="http://schemas.microsoft.com/office/drawing/2014/main" id="{4916AE17-BB61-4FA7-8D94-046B5379DFFB}"/>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network position is explained by individual traits</a:t>
            </a:r>
          </a:p>
        </p:txBody>
      </p:sp>
      <p:sp>
        <p:nvSpPr>
          <p:cNvPr id="6" name="TextBox 5">
            <a:extLst>
              <a:ext uri="{FF2B5EF4-FFF2-40B4-BE49-F238E27FC236}">
                <a16:creationId xmlns:a16="http://schemas.microsoft.com/office/drawing/2014/main" id="{21CA0A8B-AD09-4013-8524-85104AD75682}"/>
              </a:ext>
            </a:extLst>
          </p:cNvPr>
          <p:cNvSpPr txBox="1"/>
          <p:nvPr/>
        </p:nvSpPr>
        <p:spPr>
          <a:xfrm>
            <a:off x="861955" y="2634944"/>
            <a:ext cx="11090323" cy="400110"/>
          </a:xfrm>
          <a:prstGeom prst="rect">
            <a:avLst/>
          </a:prstGeom>
          <a:noFill/>
        </p:spPr>
        <p:txBody>
          <a:bodyPr wrap="square">
            <a:spAutoFit/>
          </a:bodyPr>
          <a:lstStyle/>
          <a:p>
            <a:r>
              <a:rPr lang="en-US" sz="2000" dirty="0"/>
              <a:t>Betweenness ~ Sex * Body Size</a:t>
            </a:r>
          </a:p>
        </p:txBody>
      </p:sp>
      <p:sp>
        <p:nvSpPr>
          <p:cNvPr id="9" name="Arc 8">
            <a:extLst>
              <a:ext uri="{FF2B5EF4-FFF2-40B4-BE49-F238E27FC236}">
                <a16:creationId xmlns:a16="http://schemas.microsoft.com/office/drawing/2014/main" id="{2812D976-F136-4D79-ACEB-005219FDC9BD}"/>
              </a:ext>
            </a:extLst>
          </p:cNvPr>
          <p:cNvSpPr/>
          <p:nvPr/>
        </p:nvSpPr>
        <p:spPr>
          <a:xfrm rot="16200000" flipH="1">
            <a:off x="3092566" y="2462838"/>
            <a:ext cx="1174459" cy="1221549"/>
          </a:xfrm>
          <a:prstGeom prst="arc">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1" name="TextBox 10">
            <a:extLst>
              <a:ext uri="{FF2B5EF4-FFF2-40B4-BE49-F238E27FC236}">
                <a16:creationId xmlns:a16="http://schemas.microsoft.com/office/drawing/2014/main" id="{48C1F370-CFF7-4369-9559-E03BB260A92E}"/>
              </a:ext>
            </a:extLst>
          </p:cNvPr>
          <p:cNvSpPr txBox="1"/>
          <p:nvPr/>
        </p:nvSpPr>
        <p:spPr>
          <a:xfrm>
            <a:off x="3701175" y="3193624"/>
            <a:ext cx="3027357" cy="1323439"/>
          </a:xfrm>
          <a:prstGeom prst="rect">
            <a:avLst/>
          </a:prstGeom>
          <a:noFill/>
        </p:spPr>
        <p:txBody>
          <a:bodyPr wrap="square" rtlCol="0">
            <a:spAutoFit/>
          </a:bodyPr>
          <a:lstStyle/>
          <a:p>
            <a:r>
              <a:rPr lang="en-US" sz="1600" dirty="0">
                <a:solidFill>
                  <a:srgbClr val="0070C0"/>
                </a:solidFill>
              </a:rPr>
              <a:t>Large males have higher betweenness in a group-living animal as they seek out-of-group mating opportunities and defend territory boundaries</a:t>
            </a:r>
            <a:endParaRPr lang="fr-FR" sz="1600" dirty="0">
              <a:solidFill>
                <a:srgbClr val="0070C0"/>
              </a:solidFill>
            </a:endParaRPr>
          </a:p>
        </p:txBody>
      </p:sp>
      <p:sp>
        <p:nvSpPr>
          <p:cNvPr id="12" name="TextBox 11">
            <a:extLst>
              <a:ext uri="{FF2B5EF4-FFF2-40B4-BE49-F238E27FC236}">
                <a16:creationId xmlns:a16="http://schemas.microsoft.com/office/drawing/2014/main" id="{EBE06058-AE80-4223-954C-09237FECC767}"/>
              </a:ext>
            </a:extLst>
          </p:cNvPr>
          <p:cNvSpPr txBox="1"/>
          <p:nvPr/>
        </p:nvSpPr>
        <p:spPr>
          <a:xfrm>
            <a:off x="723407" y="4761486"/>
            <a:ext cx="11090323" cy="1631216"/>
          </a:xfrm>
          <a:prstGeom prst="rect">
            <a:avLst/>
          </a:prstGeom>
          <a:noFill/>
        </p:spPr>
        <p:txBody>
          <a:bodyPr wrap="square">
            <a:spAutoFit/>
          </a:bodyPr>
          <a:lstStyle/>
          <a:p>
            <a:r>
              <a:rPr lang="en-US" sz="2000" b="1" dirty="0"/>
              <a:t>The main potential issues to consider here are:</a:t>
            </a:r>
          </a:p>
          <a:p>
            <a:endParaRPr lang="en-US" sz="2000" dirty="0"/>
          </a:p>
          <a:p>
            <a:pPr marL="342900" indent="-342900">
              <a:buFontTx/>
              <a:buChar char="-"/>
            </a:pPr>
            <a:r>
              <a:rPr lang="en-US" sz="2000" dirty="0"/>
              <a:t>Sampling constraints</a:t>
            </a:r>
          </a:p>
          <a:p>
            <a:pPr marL="342900" indent="-342900">
              <a:buFontTx/>
              <a:buChar char="-"/>
            </a:pPr>
            <a:endParaRPr lang="en-US" sz="2000" dirty="0"/>
          </a:p>
          <a:p>
            <a:pPr marL="342900" indent="-342900">
              <a:buFontTx/>
              <a:buChar char="-"/>
            </a:pPr>
            <a:r>
              <a:rPr lang="en-US" sz="2000" dirty="0"/>
              <a:t>Non-independence</a:t>
            </a:r>
          </a:p>
        </p:txBody>
      </p:sp>
      <p:sp>
        <p:nvSpPr>
          <p:cNvPr id="10" name="TextBox 9">
            <a:extLst>
              <a:ext uri="{FF2B5EF4-FFF2-40B4-BE49-F238E27FC236}">
                <a16:creationId xmlns:a16="http://schemas.microsoft.com/office/drawing/2014/main" id="{7D57F082-F5F6-4BAA-AC06-484F0AABC227}"/>
              </a:ext>
            </a:extLst>
          </p:cNvPr>
          <p:cNvSpPr txBox="1"/>
          <p:nvPr/>
        </p:nvSpPr>
        <p:spPr>
          <a:xfrm>
            <a:off x="7293758" y="2501403"/>
            <a:ext cx="4267199" cy="3600986"/>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400" b="1" dirty="0"/>
              <a:t>Sampling constraints</a:t>
            </a:r>
          </a:p>
          <a:p>
            <a:endParaRPr lang="en-US" sz="2400" b="1" dirty="0"/>
          </a:p>
          <a:p>
            <a:pPr marL="342900" indent="-342900">
              <a:buFontTx/>
              <a:buChar char="-"/>
            </a:pPr>
            <a:r>
              <a:rPr lang="en-US" sz="2000" dirty="0"/>
              <a:t>Using association indices or binomial edge weights</a:t>
            </a:r>
          </a:p>
          <a:p>
            <a:pPr marL="342900" indent="-342900">
              <a:buFontTx/>
              <a:buChar char="-"/>
            </a:pPr>
            <a:endParaRPr lang="en-US" sz="2000" dirty="0"/>
          </a:p>
          <a:p>
            <a:pPr marL="342900" indent="-342900">
              <a:buFontTx/>
              <a:buChar char="-"/>
            </a:pPr>
            <a:r>
              <a:rPr lang="en-US" sz="2000" dirty="0"/>
              <a:t>Controlling for numbers of observations or duration of time monitored</a:t>
            </a:r>
          </a:p>
          <a:p>
            <a:pPr marL="342900" indent="-342900">
              <a:buFontTx/>
              <a:buChar char="-"/>
            </a:pPr>
            <a:endParaRPr lang="en-US" sz="2000" dirty="0"/>
          </a:p>
          <a:p>
            <a:pPr marL="342900" indent="-342900">
              <a:buFontTx/>
              <a:buChar char="-"/>
            </a:pPr>
            <a:r>
              <a:rPr lang="en-US" sz="2000" i="1" dirty="0"/>
              <a:t>Propagating uncertainty in edge weights</a:t>
            </a:r>
            <a:endParaRPr lang="en-US" sz="1400" i="1" dirty="0"/>
          </a:p>
        </p:txBody>
      </p:sp>
    </p:spTree>
    <p:extLst>
      <p:ext uri="{BB962C8B-B14F-4D97-AF65-F5344CB8AC3E}">
        <p14:creationId xmlns:p14="http://schemas.microsoft.com/office/powerpoint/2010/main" val="28977372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3.    Nodal regressions: asking what explains network position</a:t>
            </a:r>
          </a:p>
        </p:txBody>
      </p:sp>
      <p:sp>
        <p:nvSpPr>
          <p:cNvPr id="5" name="TextBox 4">
            <a:extLst>
              <a:ext uri="{FF2B5EF4-FFF2-40B4-BE49-F238E27FC236}">
                <a16:creationId xmlns:a16="http://schemas.microsoft.com/office/drawing/2014/main" id="{4916AE17-BB61-4FA7-8D94-046B5379DFFB}"/>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network position is explained by individual traits</a:t>
            </a:r>
          </a:p>
        </p:txBody>
      </p:sp>
      <p:sp>
        <p:nvSpPr>
          <p:cNvPr id="6" name="TextBox 5">
            <a:extLst>
              <a:ext uri="{FF2B5EF4-FFF2-40B4-BE49-F238E27FC236}">
                <a16:creationId xmlns:a16="http://schemas.microsoft.com/office/drawing/2014/main" id="{21CA0A8B-AD09-4013-8524-85104AD75682}"/>
              </a:ext>
            </a:extLst>
          </p:cNvPr>
          <p:cNvSpPr txBox="1"/>
          <p:nvPr/>
        </p:nvSpPr>
        <p:spPr>
          <a:xfrm>
            <a:off x="861955" y="2634944"/>
            <a:ext cx="11090323" cy="400110"/>
          </a:xfrm>
          <a:prstGeom prst="rect">
            <a:avLst/>
          </a:prstGeom>
          <a:noFill/>
        </p:spPr>
        <p:txBody>
          <a:bodyPr wrap="square">
            <a:spAutoFit/>
          </a:bodyPr>
          <a:lstStyle/>
          <a:p>
            <a:r>
              <a:rPr lang="en-US" sz="2000" dirty="0"/>
              <a:t>Betweenness ~ Sex * Body Size</a:t>
            </a:r>
          </a:p>
        </p:txBody>
      </p:sp>
      <p:sp>
        <p:nvSpPr>
          <p:cNvPr id="9" name="Arc 8">
            <a:extLst>
              <a:ext uri="{FF2B5EF4-FFF2-40B4-BE49-F238E27FC236}">
                <a16:creationId xmlns:a16="http://schemas.microsoft.com/office/drawing/2014/main" id="{2812D976-F136-4D79-ACEB-005219FDC9BD}"/>
              </a:ext>
            </a:extLst>
          </p:cNvPr>
          <p:cNvSpPr/>
          <p:nvPr/>
        </p:nvSpPr>
        <p:spPr>
          <a:xfrm rot="16200000" flipH="1">
            <a:off x="3092566" y="2462838"/>
            <a:ext cx="1174459" cy="1221549"/>
          </a:xfrm>
          <a:prstGeom prst="arc">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1" name="TextBox 10">
            <a:extLst>
              <a:ext uri="{FF2B5EF4-FFF2-40B4-BE49-F238E27FC236}">
                <a16:creationId xmlns:a16="http://schemas.microsoft.com/office/drawing/2014/main" id="{48C1F370-CFF7-4369-9559-E03BB260A92E}"/>
              </a:ext>
            </a:extLst>
          </p:cNvPr>
          <p:cNvSpPr txBox="1"/>
          <p:nvPr/>
        </p:nvSpPr>
        <p:spPr>
          <a:xfrm>
            <a:off x="3701175" y="3193624"/>
            <a:ext cx="3027357" cy="1323439"/>
          </a:xfrm>
          <a:prstGeom prst="rect">
            <a:avLst/>
          </a:prstGeom>
          <a:noFill/>
        </p:spPr>
        <p:txBody>
          <a:bodyPr wrap="square" rtlCol="0">
            <a:spAutoFit/>
          </a:bodyPr>
          <a:lstStyle/>
          <a:p>
            <a:r>
              <a:rPr lang="en-US" sz="1600" dirty="0">
                <a:solidFill>
                  <a:srgbClr val="0070C0"/>
                </a:solidFill>
              </a:rPr>
              <a:t>Large males have higher betweenness in a group-living animal as they seek out-of-group mating opportunities and defend territory boundaries</a:t>
            </a:r>
            <a:endParaRPr lang="fr-FR" sz="1600" dirty="0">
              <a:solidFill>
                <a:srgbClr val="0070C0"/>
              </a:solidFill>
            </a:endParaRPr>
          </a:p>
        </p:txBody>
      </p:sp>
      <p:sp>
        <p:nvSpPr>
          <p:cNvPr id="12" name="TextBox 11">
            <a:extLst>
              <a:ext uri="{FF2B5EF4-FFF2-40B4-BE49-F238E27FC236}">
                <a16:creationId xmlns:a16="http://schemas.microsoft.com/office/drawing/2014/main" id="{EBE06058-AE80-4223-954C-09237FECC767}"/>
              </a:ext>
            </a:extLst>
          </p:cNvPr>
          <p:cNvSpPr txBox="1"/>
          <p:nvPr/>
        </p:nvSpPr>
        <p:spPr>
          <a:xfrm>
            <a:off x="723407" y="4761486"/>
            <a:ext cx="11090323" cy="1631216"/>
          </a:xfrm>
          <a:prstGeom prst="rect">
            <a:avLst/>
          </a:prstGeom>
          <a:noFill/>
        </p:spPr>
        <p:txBody>
          <a:bodyPr wrap="square">
            <a:spAutoFit/>
          </a:bodyPr>
          <a:lstStyle/>
          <a:p>
            <a:r>
              <a:rPr lang="en-US" sz="2000" b="1" dirty="0"/>
              <a:t>The main potential issues to consider here are:</a:t>
            </a:r>
          </a:p>
          <a:p>
            <a:endParaRPr lang="en-US" sz="2000" dirty="0"/>
          </a:p>
          <a:p>
            <a:pPr marL="342900" indent="-342900">
              <a:buFontTx/>
              <a:buChar char="-"/>
            </a:pPr>
            <a:r>
              <a:rPr lang="en-US" sz="2000" dirty="0"/>
              <a:t>Sampling constraints</a:t>
            </a:r>
          </a:p>
          <a:p>
            <a:pPr marL="342900" indent="-342900">
              <a:buFontTx/>
              <a:buChar char="-"/>
            </a:pPr>
            <a:endParaRPr lang="en-US" sz="2000" dirty="0"/>
          </a:p>
          <a:p>
            <a:pPr marL="342900" indent="-342900">
              <a:buFontTx/>
              <a:buChar char="-"/>
            </a:pPr>
            <a:r>
              <a:rPr lang="en-US" sz="2000" dirty="0"/>
              <a:t>Non-independence</a:t>
            </a:r>
          </a:p>
        </p:txBody>
      </p:sp>
      <p:sp>
        <p:nvSpPr>
          <p:cNvPr id="10" name="TextBox 9">
            <a:extLst>
              <a:ext uri="{FF2B5EF4-FFF2-40B4-BE49-F238E27FC236}">
                <a16:creationId xmlns:a16="http://schemas.microsoft.com/office/drawing/2014/main" id="{7D57F082-F5F6-4BAA-AC06-484F0AABC227}"/>
              </a:ext>
            </a:extLst>
          </p:cNvPr>
          <p:cNvSpPr txBox="1"/>
          <p:nvPr/>
        </p:nvSpPr>
        <p:spPr>
          <a:xfrm>
            <a:off x="7448300" y="2651995"/>
            <a:ext cx="4267199" cy="3077766"/>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400" b="1" dirty="0"/>
              <a:t>Non-independence</a:t>
            </a:r>
          </a:p>
          <a:p>
            <a:pPr lvl="1"/>
            <a:endParaRPr lang="en-US" sz="1000" dirty="0"/>
          </a:p>
          <a:p>
            <a:pPr marL="342900" indent="-342900">
              <a:buFontTx/>
              <a:buChar char="-"/>
            </a:pPr>
            <a:r>
              <a:rPr lang="en-US" sz="2000" dirty="0"/>
              <a:t>Get clever with random effects</a:t>
            </a:r>
          </a:p>
          <a:p>
            <a:pPr marL="800100" lvl="1" indent="-342900">
              <a:buFontTx/>
              <a:buChar char="-"/>
            </a:pPr>
            <a:r>
              <a:rPr lang="en-US" sz="1600" dirty="0"/>
              <a:t>But you need to be careful!</a:t>
            </a:r>
          </a:p>
          <a:p>
            <a:pPr marL="342900" indent="-342900">
              <a:buFontTx/>
              <a:buChar char="-"/>
            </a:pPr>
            <a:endParaRPr lang="en-US" sz="1000" dirty="0"/>
          </a:p>
          <a:p>
            <a:pPr marL="342900" indent="-342900">
              <a:buFontTx/>
              <a:buChar char="-"/>
            </a:pPr>
            <a:r>
              <a:rPr lang="en-US" sz="2000" dirty="0"/>
              <a:t>Go Bayesian</a:t>
            </a:r>
          </a:p>
          <a:p>
            <a:pPr marL="800100" lvl="1" indent="-342900">
              <a:buFontTx/>
              <a:buChar char="-"/>
            </a:pPr>
            <a:r>
              <a:rPr lang="en-US" sz="1600" dirty="0"/>
              <a:t>Bayesian inference is a little more robust to the problems caused</a:t>
            </a:r>
          </a:p>
          <a:p>
            <a:pPr marL="342900" indent="-342900">
              <a:buFontTx/>
              <a:buChar char="-"/>
            </a:pPr>
            <a:endParaRPr lang="en-US" sz="1000" dirty="0"/>
          </a:p>
          <a:p>
            <a:pPr marL="342900" indent="-342900">
              <a:buFontTx/>
              <a:buChar char="-"/>
            </a:pPr>
            <a:r>
              <a:rPr lang="en-US" sz="2000" dirty="0"/>
              <a:t>Use dyadic regressions instead</a:t>
            </a:r>
          </a:p>
          <a:p>
            <a:pPr marL="800100" lvl="1" indent="-342900">
              <a:buFontTx/>
              <a:buChar char="-"/>
            </a:pPr>
            <a:r>
              <a:rPr lang="en-US" sz="1600" b="1" i="1" dirty="0"/>
              <a:t>Works indirectly </a:t>
            </a:r>
            <a:r>
              <a:rPr lang="en-US" sz="1600" dirty="0"/>
              <a:t>and only for some social network measures</a:t>
            </a:r>
          </a:p>
        </p:txBody>
      </p:sp>
    </p:spTree>
    <p:extLst>
      <p:ext uri="{BB962C8B-B14F-4D97-AF65-F5344CB8AC3E}">
        <p14:creationId xmlns:p14="http://schemas.microsoft.com/office/powerpoint/2010/main" val="111607280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4.    Nodal regressions: asking what explains network position</a:t>
            </a:r>
          </a:p>
        </p:txBody>
      </p:sp>
      <p:sp>
        <p:nvSpPr>
          <p:cNvPr id="5" name="TextBox 4">
            <a:extLst>
              <a:ext uri="{FF2B5EF4-FFF2-40B4-BE49-F238E27FC236}">
                <a16:creationId xmlns:a16="http://schemas.microsoft.com/office/drawing/2014/main" id="{4916AE17-BB61-4FA7-8D94-046B5379DFFB}"/>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a hypothesis in which network position is explained by individual traits</a:t>
            </a:r>
          </a:p>
        </p:txBody>
      </p:sp>
      <p:sp>
        <p:nvSpPr>
          <p:cNvPr id="13" name="TextBox 12">
            <a:extLst>
              <a:ext uri="{FF2B5EF4-FFF2-40B4-BE49-F238E27FC236}">
                <a16:creationId xmlns:a16="http://schemas.microsoft.com/office/drawing/2014/main" id="{D576A31B-26BF-4B67-97C9-902EAC504DBA}"/>
              </a:ext>
            </a:extLst>
          </p:cNvPr>
          <p:cNvSpPr txBox="1"/>
          <p:nvPr/>
        </p:nvSpPr>
        <p:spPr>
          <a:xfrm>
            <a:off x="1510344" y="2967441"/>
            <a:ext cx="8851554" cy="1015663"/>
          </a:xfrm>
          <a:prstGeom prst="rect">
            <a:avLst/>
          </a:prstGeom>
          <a:solidFill>
            <a:schemeClr val="accent1">
              <a:lumMod val="75000"/>
            </a:schemeClr>
          </a:solidFill>
        </p:spPr>
        <p:txBody>
          <a:bodyPr wrap="square" rtlCol="0">
            <a:spAutoFit/>
          </a:bodyPr>
          <a:lstStyle/>
          <a:p>
            <a:pPr algn="ctr"/>
            <a:r>
              <a:rPr lang="en-US" sz="3000" b="1" dirty="0">
                <a:solidFill>
                  <a:schemeClr val="bg1"/>
                </a:solidFill>
              </a:rPr>
              <a:t>Go to the R Markdown for Session 3 and work through the section SESSION 3: PART 2 </a:t>
            </a:r>
          </a:p>
        </p:txBody>
      </p:sp>
    </p:spTree>
    <p:extLst>
      <p:ext uri="{BB962C8B-B14F-4D97-AF65-F5344CB8AC3E}">
        <p14:creationId xmlns:p14="http://schemas.microsoft.com/office/powerpoint/2010/main" val="13335578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4.    Dyadic regressions</a:t>
            </a:r>
          </a:p>
        </p:txBody>
      </p:sp>
      <p:sp>
        <p:nvSpPr>
          <p:cNvPr id="5" name="TextBox 4">
            <a:extLst>
              <a:ext uri="{FF2B5EF4-FFF2-40B4-BE49-F238E27FC236}">
                <a16:creationId xmlns:a16="http://schemas.microsoft.com/office/drawing/2014/main" id="{FC72DDAE-3FB3-4309-96E7-D3F1FC18B660}"/>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hypotheses directly related to the edges in the network</a:t>
            </a:r>
          </a:p>
        </p:txBody>
      </p:sp>
      <p:grpSp>
        <p:nvGrpSpPr>
          <p:cNvPr id="6" name="Group 5">
            <a:extLst>
              <a:ext uri="{FF2B5EF4-FFF2-40B4-BE49-F238E27FC236}">
                <a16:creationId xmlns:a16="http://schemas.microsoft.com/office/drawing/2014/main" id="{1DB2BA05-D7B1-412A-A93F-F449C729B621}"/>
              </a:ext>
            </a:extLst>
          </p:cNvPr>
          <p:cNvGrpSpPr/>
          <p:nvPr/>
        </p:nvGrpSpPr>
        <p:grpSpPr>
          <a:xfrm>
            <a:off x="742764" y="3260262"/>
            <a:ext cx="1788767" cy="3083888"/>
            <a:chOff x="9277162" y="2195066"/>
            <a:chExt cx="1788767" cy="3083888"/>
          </a:xfrm>
        </p:grpSpPr>
        <p:cxnSp>
          <p:nvCxnSpPr>
            <p:cNvPr id="7" name="Straight Connector 6">
              <a:extLst>
                <a:ext uri="{FF2B5EF4-FFF2-40B4-BE49-F238E27FC236}">
                  <a16:creationId xmlns:a16="http://schemas.microsoft.com/office/drawing/2014/main" id="{DD66A332-08C8-453C-89B6-A4DA3E4C6E06}"/>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CF61DC2-458D-4FDC-8388-D91658E47121}"/>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val 9">
              <a:extLst>
                <a:ext uri="{FF2B5EF4-FFF2-40B4-BE49-F238E27FC236}">
                  <a16:creationId xmlns:a16="http://schemas.microsoft.com/office/drawing/2014/main" id="{3072DA09-A484-48D8-9E12-43880715EC86}"/>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92E3E815-C207-4233-B746-003333B2033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823BF6E7-FE66-423B-ABB7-3D879B801E33}"/>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67BA816C-61C7-45A0-B62D-3ABF0D18E2C0}"/>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E80E9AC-ED39-4D10-9CD1-3F2E75F8C950}"/>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E29C01A1-8965-4C5A-AAE8-81113E7CA9AE}"/>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DAF158C9-B9EE-4E82-8BB2-2FB011418BB6}"/>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Straight Connector 16">
              <a:extLst>
                <a:ext uri="{FF2B5EF4-FFF2-40B4-BE49-F238E27FC236}">
                  <a16:creationId xmlns:a16="http://schemas.microsoft.com/office/drawing/2014/main" id="{FA6F4C67-10F5-4B7A-A2D5-4B840EEAC6F5}"/>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28532-33F4-47B9-A2A3-ED6205E572BA}"/>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F030C7E-635C-454B-8952-78F7D0CF46EE}"/>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7BA4A8-0B42-48BE-B667-AD8CDFCE08E0}"/>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18EE4BC-CFAB-498F-9D05-6F56AE258078}"/>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9578FFE-4205-48A3-81CA-D7438AF5C7FF}"/>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4EBC5A7-14A2-4977-921D-C0745B888A57}"/>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7925F1E-8A38-4E30-8F91-ABC924AADBCE}"/>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2F39-3824-4284-B5B1-904655CDFDEE}"/>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45" name="Table 38">
            <a:extLst>
              <a:ext uri="{FF2B5EF4-FFF2-40B4-BE49-F238E27FC236}">
                <a16:creationId xmlns:a16="http://schemas.microsoft.com/office/drawing/2014/main" id="{751EA282-8673-47E9-9D6C-A4BAFBAAC80A}"/>
              </a:ext>
            </a:extLst>
          </p:cNvPr>
          <p:cNvGraphicFramePr>
            <a:graphicFrameLocks noGrp="1"/>
          </p:cNvGraphicFramePr>
          <p:nvPr>
            <p:extLst>
              <p:ext uri="{D42A27DB-BD31-4B8C-83A1-F6EECF244321}">
                <p14:modId xmlns:p14="http://schemas.microsoft.com/office/powerpoint/2010/main" val="2323107630"/>
              </p:ext>
            </p:extLst>
          </p:nvPr>
        </p:nvGraphicFramePr>
        <p:xfrm>
          <a:off x="4203618" y="3167827"/>
          <a:ext cx="3291840" cy="329184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1160791391"/>
                    </a:ext>
                  </a:extLst>
                </a:gridCol>
                <a:gridCol w="365760">
                  <a:extLst>
                    <a:ext uri="{9D8B030D-6E8A-4147-A177-3AD203B41FA5}">
                      <a16:colId xmlns:a16="http://schemas.microsoft.com/office/drawing/2014/main" val="3580078151"/>
                    </a:ext>
                  </a:extLst>
                </a:gridCol>
                <a:gridCol w="365760">
                  <a:extLst>
                    <a:ext uri="{9D8B030D-6E8A-4147-A177-3AD203B41FA5}">
                      <a16:colId xmlns:a16="http://schemas.microsoft.com/office/drawing/2014/main" val="3040861133"/>
                    </a:ext>
                  </a:extLst>
                </a:gridCol>
                <a:gridCol w="365760">
                  <a:extLst>
                    <a:ext uri="{9D8B030D-6E8A-4147-A177-3AD203B41FA5}">
                      <a16:colId xmlns:a16="http://schemas.microsoft.com/office/drawing/2014/main" val="3750205406"/>
                    </a:ext>
                  </a:extLst>
                </a:gridCol>
                <a:gridCol w="365760">
                  <a:extLst>
                    <a:ext uri="{9D8B030D-6E8A-4147-A177-3AD203B41FA5}">
                      <a16:colId xmlns:a16="http://schemas.microsoft.com/office/drawing/2014/main" val="137373489"/>
                    </a:ext>
                  </a:extLst>
                </a:gridCol>
                <a:gridCol w="365760">
                  <a:extLst>
                    <a:ext uri="{9D8B030D-6E8A-4147-A177-3AD203B41FA5}">
                      <a16:colId xmlns:a16="http://schemas.microsoft.com/office/drawing/2014/main" val="3559658997"/>
                    </a:ext>
                  </a:extLst>
                </a:gridCol>
                <a:gridCol w="365760">
                  <a:extLst>
                    <a:ext uri="{9D8B030D-6E8A-4147-A177-3AD203B41FA5}">
                      <a16:colId xmlns:a16="http://schemas.microsoft.com/office/drawing/2014/main" val="654325955"/>
                    </a:ext>
                  </a:extLst>
                </a:gridCol>
                <a:gridCol w="365760">
                  <a:extLst>
                    <a:ext uri="{9D8B030D-6E8A-4147-A177-3AD203B41FA5}">
                      <a16:colId xmlns:a16="http://schemas.microsoft.com/office/drawing/2014/main" val="340643525"/>
                    </a:ext>
                  </a:extLst>
                </a:gridCol>
                <a:gridCol w="365760">
                  <a:extLst>
                    <a:ext uri="{9D8B030D-6E8A-4147-A177-3AD203B41FA5}">
                      <a16:colId xmlns:a16="http://schemas.microsoft.com/office/drawing/2014/main" val="985285625"/>
                    </a:ext>
                  </a:extLst>
                </a:gridCol>
              </a:tblGrid>
              <a:tr h="355600">
                <a:tc>
                  <a:txBody>
                    <a:bodyPr/>
                    <a:lstStyle/>
                    <a:p>
                      <a:pPr algn="ctr"/>
                      <a:endParaRPr lang="fr-FR" dirty="0"/>
                    </a:p>
                  </a:txBody>
                  <a:tcPr>
                    <a:solidFill>
                      <a:schemeClr val="bg1"/>
                    </a:solidFill>
                  </a:tcPr>
                </a:tc>
                <a:tc>
                  <a:txBody>
                    <a:bodyPr/>
                    <a:lstStyle/>
                    <a:p>
                      <a:pPr algn="ctr"/>
                      <a:r>
                        <a:rPr lang="en-US" dirty="0">
                          <a:solidFill>
                            <a:schemeClr val="accent4">
                              <a:lumMod val="60000"/>
                              <a:lumOff val="40000"/>
                            </a:schemeClr>
                          </a:solidFill>
                        </a:rPr>
                        <a:t>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2</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3</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4</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5</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6</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7</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8</a:t>
                      </a:r>
                    </a:p>
                  </a:txBody>
                  <a:tcPr>
                    <a:solidFill>
                      <a:schemeClr val="tx1"/>
                    </a:solidFill>
                  </a:tcPr>
                </a:tc>
                <a:extLst>
                  <a:ext uri="{0D108BD9-81ED-4DB2-BD59-A6C34878D82A}">
                    <a16:rowId xmlns:a16="http://schemas.microsoft.com/office/drawing/2014/main" val="3337210578"/>
                  </a:ext>
                </a:extLst>
              </a:tr>
              <a:tr h="355600">
                <a:tc>
                  <a:txBody>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extLst>
                  <a:ext uri="{0D108BD9-81ED-4DB2-BD59-A6C34878D82A}">
                    <a16:rowId xmlns:a16="http://schemas.microsoft.com/office/drawing/2014/main" val="113491038"/>
                  </a:ext>
                </a:extLst>
              </a:tr>
              <a:tr h="355600">
                <a:tc>
                  <a:txBody>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a:txBody>
                  <a:tcPr>
                    <a:solidFill>
                      <a:schemeClr val="tx1"/>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extLst>
                  <a:ext uri="{0D108BD9-81ED-4DB2-BD59-A6C34878D82A}">
                    <a16:rowId xmlns:a16="http://schemas.microsoft.com/office/drawing/2014/main" val="2852759760"/>
                  </a:ext>
                </a:extLst>
              </a:tr>
              <a:tr h="355600">
                <a:tc>
                  <a:txBody>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a:txBody>
                  <a:tcPr>
                    <a:solidFill>
                      <a:schemeClr val="tx1"/>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extLst>
                  <a:ext uri="{0D108BD9-81ED-4DB2-BD59-A6C34878D82A}">
                    <a16:rowId xmlns:a16="http://schemas.microsoft.com/office/drawing/2014/main" val="2492037244"/>
                  </a:ext>
                </a:extLst>
              </a:tr>
              <a:tr h="355600">
                <a:tc>
                  <a:txBody>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extLst>
                  <a:ext uri="{0D108BD9-81ED-4DB2-BD59-A6C34878D82A}">
                    <a16:rowId xmlns:a16="http://schemas.microsoft.com/office/drawing/2014/main" val="3594548446"/>
                  </a:ext>
                </a:extLst>
              </a:tr>
              <a:tr h="355600">
                <a:tc>
                  <a:txBody>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a:txBody>
                  <a:tcPr>
                    <a:solidFill>
                      <a:schemeClr val="tx1"/>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extLst>
                  <a:ext uri="{0D108BD9-81ED-4DB2-BD59-A6C34878D82A}">
                    <a16:rowId xmlns:a16="http://schemas.microsoft.com/office/drawing/2014/main" val="248068657"/>
                  </a:ext>
                </a:extLst>
              </a:tr>
              <a:tr h="355600">
                <a:tc>
                  <a:txBody>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a:txBody>
                  <a:tcPr>
                    <a:solidFill>
                      <a:schemeClr val="tx1"/>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extLst>
                  <a:ext uri="{0D108BD9-81ED-4DB2-BD59-A6C34878D82A}">
                    <a16:rowId xmlns:a16="http://schemas.microsoft.com/office/drawing/2014/main" val="1858898233"/>
                  </a:ext>
                </a:extLst>
              </a:tr>
              <a:tr h="355600">
                <a:tc>
                  <a:txBody>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a:txBody>
                  <a:tcPr>
                    <a:solidFill>
                      <a:schemeClr val="tx1"/>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4</a:t>
                      </a:r>
                      <a:endParaRPr lang="fr-FR" dirty="0"/>
                    </a:p>
                  </a:txBody>
                  <a:tcPr>
                    <a:solidFill>
                      <a:schemeClr val="bg1">
                        <a:lumMod val="95000"/>
                      </a:schemeClr>
                    </a:solidFill>
                  </a:tcPr>
                </a:tc>
                <a:extLst>
                  <a:ext uri="{0D108BD9-81ED-4DB2-BD59-A6C34878D82A}">
                    <a16:rowId xmlns:a16="http://schemas.microsoft.com/office/drawing/2014/main" val="1993533395"/>
                  </a:ext>
                </a:extLst>
              </a:tr>
              <a:tr h="355600">
                <a:tc>
                  <a:txBody>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extLst>
                  <a:ext uri="{0D108BD9-81ED-4DB2-BD59-A6C34878D82A}">
                    <a16:rowId xmlns:a16="http://schemas.microsoft.com/office/drawing/2014/main" val="3647899706"/>
                  </a:ext>
                </a:extLst>
              </a:tr>
            </a:tbl>
          </a:graphicData>
        </a:graphic>
      </p:graphicFrame>
      <p:sp>
        <p:nvSpPr>
          <p:cNvPr id="46" name="TextBox 45">
            <a:extLst>
              <a:ext uri="{FF2B5EF4-FFF2-40B4-BE49-F238E27FC236}">
                <a16:creationId xmlns:a16="http://schemas.microsoft.com/office/drawing/2014/main" id="{46698D67-22D1-4A61-9448-59BD3B87475E}"/>
              </a:ext>
            </a:extLst>
          </p:cNvPr>
          <p:cNvSpPr txBox="1"/>
          <p:nvPr/>
        </p:nvSpPr>
        <p:spPr>
          <a:xfrm>
            <a:off x="3112365" y="4449815"/>
            <a:ext cx="848637" cy="646331"/>
          </a:xfrm>
          <a:prstGeom prst="rect">
            <a:avLst/>
          </a:prstGeom>
          <a:noFill/>
        </p:spPr>
        <p:txBody>
          <a:bodyPr wrap="square">
            <a:spAutoFit/>
          </a:bodyPr>
          <a:lstStyle/>
          <a:p>
            <a:r>
              <a:rPr lang="en-US" sz="3600" dirty="0"/>
              <a:t>~</a:t>
            </a:r>
            <a:endParaRPr lang="fr-FR" sz="3600" dirty="0"/>
          </a:p>
        </p:txBody>
      </p:sp>
      <p:sp>
        <p:nvSpPr>
          <p:cNvPr id="48" name="TextBox 47">
            <a:extLst>
              <a:ext uri="{FF2B5EF4-FFF2-40B4-BE49-F238E27FC236}">
                <a16:creationId xmlns:a16="http://schemas.microsoft.com/office/drawing/2014/main" id="{186CDD35-9456-4143-B173-D25EDCA4DC84}"/>
              </a:ext>
            </a:extLst>
          </p:cNvPr>
          <p:cNvSpPr txBox="1"/>
          <p:nvPr/>
        </p:nvSpPr>
        <p:spPr>
          <a:xfrm>
            <a:off x="982026" y="2394379"/>
            <a:ext cx="10221683" cy="369332"/>
          </a:xfrm>
          <a:prstGeom prst="rect">
            <a:avLst/>
          </a:prstGeom>
          <a:noFill/>
        </p:spPr>
        <p:txBody>
          <a:bodyPr wrap="square" rtlCol="0">
            <a:spAutoFit/>
          </a:bodyPr>
          <a:lstStyle/>
          <a:p>
            <a:r>
              <a:rPr lang="en-US" dirty="0"/>
              <a:t>e.g. </a:t>
            </a:r>
            <a:r>
              <a:rPr lang="en-US" i="1" dirty="0"/>
              <a:t>Social network structure is associated with home range overlap</a:t>
            </a:r>
            <a:endParaRPr lang="fr-FR" i="1" dirty="0"/>
          </a:p>
        </p:txBody>
      </p:sp>
    </p:spTree>
    <p:extLst>
      <p:ext uri="{BB962C8B-B14F-4D97-AF65-F5344CB8AC3E}">
        <p14:creationId xmlns:p14="http://schemas.microsoft.com/office/powerpoint/2010/main" val="32756197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4.    Dyadic regressions</a:t>
            </a:r>
          </a:p>
        </p:txBody>
      </p:sp>
      <p:sp>
        <p:nvSpPr>
          <p:cNvPr id="5" name="TextBox 4">
            <a:extLst>
              <a:ext uri="{FF2B5EF4-FFF2-40B4-BE49-F238E27FC236}">
                <a16:creationId xmlns:a16="http://schemas.microsoft.com/office/drawing/2014/main" id="{FC72DDAE-3FB3-4309-96E7-D3F1FC18B660}"/>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hypotheses directly related to the edges in the network</a:t>
            </a:r>
          </a:p>
        </p:txBody>
      </p:sp>
      <p:grpSp>
        <p:nvGrpSpPr>
          <p:cNvPr id="6" name="Group 5">
            <a:extLst>
              <a:ext uri="{FF2B5EF4-FFF2-40B4-BE49-F238E27FC236}">
                <a16:creationId xmlns:a16="http://schemas.microsoft.com/office/drawing/2014/main" id="{1DB2BA05-D7B1-412A-A93F-F449C729B621}"/>
              </a:ext>
            </a:extLst>
          </p:cNvPr>
          <p:cNvGrpSpPr/>
          <p:nvPr/>
        </p:nvGrpSpPr>
        <p:grpSpPr>
          <a:xfrm>
            <a:off x="742764" y="3260262"/>
            <a:ext cx="1788767" cy="3083888"/>
            <a:chOff x="9277162" y="2195066"/>
            <a:chExt cx="1788767" cy="3083888"/>
          </a:xfrm>
        </p:grpSpPr>
        <p:cxnSp>
          <p:nvCxnSpPr>
            <p:cNvPr id="7" name="Straight Connector 6">
              <a:extLst>
                <a:ext uri="{FF2B5EF4-FFF2-40B4-BE49-F238E27FC236}">
                  <a16:creationId xmlns:a16="http://schemas.microsoft.com/office/drawing/2014/main" id="{DD66A332-08C8-453C-89B6-A4DA3E4C6E06}"/>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CF61DC2-458D-4FDC-8388-D91658E47121}"/>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val 9">
              <a:extLst>
                <a:ext uri="{FF2B5EF4-FFF2-40B4-BE49-F238E27FC236}">
                  <a16:creationId xmlns:a16="http://schemas.microsoft.com/office/drawing/2014/main" id="{3072DA09-A484-48D8-9E12-43880715EC86}"/>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10">
              <a:extLst>
                <a:ext uri="{FF2B5EF4-FFF2-40B4-BE49-F238E27FC236}">
                  <a16:creationId xmlns:a16="http://schemas.microsoft.com/office/drawing/2014/main" id="{92E3E815-C207-4233-B746-003333B2033F}"/>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a:extLst>
                <a:ext uri="{FF2B5EF4-FFF2-40B4-BE49-F238E27FC236}">
                  <a16:creationId xmlns:a16="http://schemas.microsoft.com/office/drawing/2014/main" id="{823BF6E7-FE66-423B-ABB7-3D879B801E33}"/>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67BA816C-61C7-45A0-B62D-3ABF0D18E2C0}"/>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a:extLst>
                <a:ext uri="{FF2B5EF4-FFF2-40B4-BE49-F238E27FC236}">
                  <a16:creationId xmlns:a16="http://schemas.microsoft.com/office/drawing/2014/main" id="{DE80E9AC-ED39-4D10-9CD1-3F2E75F8C950}"/>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val 14">
              <a:extLst>
                <a:ext uri="{FF2B5EF4-FFF2-40B4-BE49-F238E27FC236}">
                  <a16:creationId xmlns:a16="http://schemas.microsoft.com/office/drawing/2014/main" id="{E29C01A1-8965-4C5A-AAE8-81113E7CA9AE}"/>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DAF158C9-B9EE-4E82-8BB2-2FB011418BB6}"/>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Straight Connector 16">
              <a:extLst>
                <a:ext uri="{FF2B5EF4-FFF2-40B4-BE49-F238E27FC236}">
                  <a16:creationId xmlns:a16="http://schemas.microsoft.com/office/drawing/2014/main" id="{FA6F4C67-10F5-4B7A-A2D5-4B840EEAC6F5}"/>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28532-33F4-47B9-A2A3-ED6205E572BA}"/>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F030C7E-635C-454B-8952-78F7D0CF46EE}"/>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7BA4A8-0B42-48BE-B667-AD8CDFCE08E0}"/>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18EE4BC-CFAB-498F-9D05-6F56AE258078}"/>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9578FFE-4205-48A3-81CA-D7438AF5C7FF}"/>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4EBC5A7-14A2-4977-921D-C0745B888A57}"/>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7925F1E-8A38-4E30-8F91-ABC924AADBCE}"/>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2F39-3824-4284-B5B1-904655CDFDEE}"/>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45" name="Table 38">
            <a:extLst>
              <a:ext uri="{FF2B5EF4-FFF2-40B4-BE49-F238E27FC236}">
                <a16:creationId xmlns:a16="http://schemas.microsoft.com/office/drawing/2014/main" id="{751EA282-8673-47E9-9D6C-A4BAFBAAC80A}"/>
              </a:ext>
            </a:extLst>
          </p:cNvPr>
          <p:cNvGraphicFramePr>
            <a:graphicFrameLocks noGrp="1"/>
          </p:cNvGraphicFramePr>
          <p:nvPr/>
        </p:nvGraphicFramePr>
        <p:xfrm>
          <a:off x="4203618" y="3167827"/>
          <a:ext cx="3291840" cy="329184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1160791391"/>
                    </a:ext>
                  </a:extLst>
                </a:gridCol>
                <a:gridCol w="365760">
                  <a:extLst>
                    <a:ext uri="{9D8B030D-6E8A-4147-A177-3AD203B41FA5}">
                      <a16:colId xmlns:a16="http://schemas.microsoft.com/office/drawing/2014/main" val="3580078151"/>
                    </a:ext>
                  </a:extLst>
                </a:gridCol>
                <a:gridCol w="365760">
                  <a:extLst>
                    <a:ext uri="{9D8B030D-6E8A-4147-A177-3AD203B41FA5}">
                      <a16:colId xmlns:a16="http://schemas.microsoft.com/office/drawing/2014/main" val="3040861133"/>
                    </a:ext>
                  </a:extLst>
                </a:gridCol>
                <a:gridCol w="365760">
                  <a:extLst>
                    <a:ext uri="{9D8B030D-6E8A-4147-A177-3AD203B41FA5}">
                      <a16:colId xmlns:a16="http://schemas.microsoft.com/office/drawing/2014/main" val="3750205406"/>
                    </a:ext>
                  </a:extLst>
                </a:gridCol>
                <a:gridCol w="365760">
                  <a:extLst>
                    <a:ext uri="{9D8B030D-6E8A-4147-A177-3AD203B41FA5}">
                      <a16:colId xmlns:a16="http://schemas.microsoft.com/office/drawing/2014/main" val="137373489"/>
                    </a:ext>
                  </a:extLst>
                </a:gridCol>
                <a:gridCol w="365760">
                  <a:extLst>
                    <a:ext uri="{9D8B030D-6E8A-4147-A177-3AD203B41FA5}">
                      <a16:colId xmlns:a16="http://schemas.microsoft.com/office/drawing/2014/main" val="3559658997"/>
                    </a:ext>
                  </a:extLst>
                </a:gridCol>
                <a:gridCol w="365760">
                  <a:extLst>
                    <a:ext uri="{9D8B030D-6E8A-4147-A177-3AD203B41FA5}">
                      <a16:colId xmlns:a16="http://schemas.microsoft.com/office/drawing/2014/main" val="654325955"/>
                    </a:ext>
                  </a:extLst>
                </a:gridCol>
                <a:gridCol w="365760">
                  <a:extLst>
                    <a:ext uri="{9D8B030D-6E8A-4147-A177-3AD203B41FA5}">
                      <a16:colId xmlns:a16="http://schemas.microsoft.com/office/drawing/2014/main" val="340643525"/>
                    </a:ext>
                  </a:extLst>
                </a:gridCol>
                <a:gridCol w="365760">
                  <a:extLst>
                    <a:ext uri="{9D8B030D-6E8A-4147-A177-3AD203B41FA5}">
                      <a16:colId xmlns:a16="http://schemas.microsoft.com/office/drawing/2014/main" val="985285625"/>
                    </a:ext>
                  </a:extLst>
                </a:gridCol>
              </a:tblGrid>
              <a:tr h="355600">
                <a:tc>
                  <a:txBody>
                    <a:bodyPr/>
                    <a:lstStyle/>
                    <a:p>
                      <a:pPr algn="ctr"/>
                      <a:endParaRPr lang="fr-FR" dirty="0"/>
                    </a:p>
                  </a:txBody>
                  <a:tcPr>
                    <a:solidFill>
                      <a:schemeClr val="bg1"/>
                    </a:solidFill>
                  </a:tcPr>
                </a:tc>
                <a:tc>
                  <a:txBody>
                    <a:bodyPr/>
                    <a:lstStyle/>
                    <a:p>
                      <a:pPr algn="ctr"/>
                      <a:r>
                        <a:rPr lang="en-US" dirty="0">
                          <a:solidFill>
                            <a:schemeClr val="accent4">
                              <a:lumMod val="60000"/>
                              <a:lumOff val="40000"/>
                            </a:schemeClr>
                          </a:solidFill>
                        </a:rPr>
                        <a:t>1</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2</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3</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4</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5</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6</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7</a:t>
                      </a:r>
                      <a:endParaRPr lang="fr-FR" dirty="0">
                        <a:solidFill>
                          <a:schemeClr val="accent4">
                            <a:lumMod val="60000"/>
                            <a:lumOff val="40000"/>
                          </a:schemeClr>
                        </a:solidFill>
                      </a:endParaRPr>
                    </a:p>
                  </a:txBody>
                  <a:tcPr>
                    <a:solidFill>
                      <a:schemeClr val="tx1"/>
                    </a:solidFill>
                  </a:tcPr>
                </a:tc>
                <a:tc>
                  <a:txBody>
                    <a:bodyPr/>
                    <a:lstStyle/>
                    <a:p>
                      <a:pPr algn="ctr"/>
                      <a:r>
                        <a:rPr lang="en-US" dirty="0">
                          <a:solidFill>
                            <a:schemeClr val="accent4">
                              <a:lumMod val="60000"/>
                              <a:lumOff val="40000"/>
                            </a:schemeClr>
                          </a:solidFill>
                        </a:rPr>
                        <a:t>8</a:t>
                      </a:r>
                    </a:p>
                  </a:txBody>
                  <a:tcPr>
                    <a:solidFill>
                      <a:schemeClr val="tx1"/>
                    </a:solidFill>
                  </a:tcPr>
                </a:tc>
                <a:extLst>
                  <a:ext uri="{0D108BD9-81ED-4DB2-BD59-A6C34878D82A}">
                    <a16:rowId xmlns:a16="http://schemas.microsoft.com/office/drawing/2014/main" val="3337210578"/>
                  </a:ext>
                </a:extLst>
              </a:tr>
              <a:tr h="355600">
                <a:tc>
                  <a:txBody>
                    <a:bodyPr/>
                    <a:lstStyle/>
                    <a:p>
                      <a:pPr algn="ctr"/>
                      <a:r>
                        <a:rPr lang="en-US" b="1" dirty="0">
                          <a:solidFill>
                            <a:schemeClr val="accent4">
                              <a:lumMod val="60000"/>
                              <a:lumOff val="40000"/>
                            </a:schemeClr>
                          </a:solidFill>
                        </a:rPr>
                        <a:t>1</a:t>
                      </a:r>
                      <a:endParaRPr lang="fr-FR" b="1" dirty="0">
                        <a:solidFill>
                          <a:schemeClr val="accent4">
                            <a:lumMod val="60000"/>
                            <a:lumOff val="40000"/>
                          </a:schemeClr>
                        </a:solidFill>
                      </a:endParaRPr>
                    </a:p>
                  </a:txBody>
                  <a:tcPr>
                    <a:solidFill>
                      <a:schemeClr val="tx1"/>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extLst>
                  <a:ext uri="{0D108BD9-81ED-4DB2-BD59-A6C34878D82A}">
                    <a16:rowId xmlns:a16="http://schemas.microsoft.com/office/drawing/2014/main" val="113491038"/>
                  </a:ext>
                </a:extLst>
              </a:tr>
              <a:tr h="355600">
                <a:tc>
                  <a:txBody>
                    <a:bodyPr/>
                    <a:lstStyle/>
                    <a:p>
                      <a:pPr algn="ctr"/>
                      <a:r>
                        <a:rPr lang="en-US" b="1" dirty="0">
                          <a:solidFill>
                            <a:schemeClr val="accent4">
                              <a:lumMod val="60000"/>
                              <a:lumOff val="40000"/>
                            </a:schemeClr>
                          </a:solidFill>
                        </a:rPr>
                        <a:t>2</a:t>
                      </a:r>
                      <a:endParaRPr lang="fr-FR" b="1" dirty="0">
                        <a:solidFill>
                          <a:schemeClr val="accent4">
                            <a:lumMod val="60000"/>
                            <a:lumOff val="40000"/>
                          </a:schemeClr>
                        </a:solidFill>
                      </a:endParaRPr>
                    </a:p>
                  </a:txBody>
                  <a:tcPr>
                    <a:solidFill>
                      <a:schemeClr val="tx1"/>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extLst>
                  <a:ext uri="{0D108BD9-81ED-4DB2-BD59-A6C34878D82A}">
                    <a16:rowId xmlns:a16="http://schemas.microsoft.com/office/drawing/2014/main" val="2852759760"/>
                  </a:ext>
                </a:extLst>
              </a:tr>
              <a:tr h="355600">
                <a:tc>
                  <a:txBody>
                    <a:bodyPr/>
                    <a:lstStyle/>
                    <a:p>
                      <a:pPr algn="ctr"/>
                      <a:r>
                        <a:rPr lang="en-US" b="1" dirty="0">
                          <a:solidFill>
                            <a:schemeClr val="accent4">
                              <a:lumMod val="60000"/>
                              <a:lumOff val="40000"/>
                            </a:schemeClr>
                          </a:solidFill>
                        </a:rPr>
                        <a:t>3</a:t>
                      </a:r>
                      <a:endParaRPr lang="fr-FR" b="1" dirty="0">
                        <a:solidFill>
                          <a:schemeClr val="accent4">
                            <a:lumMod val="60000"/>
                            <a:lumOff val="40000"/>
                          </a:schemeClr>
                        </a:solidFill>
                      </a:endParaRPr>
                    </a:p>
                  </a:txBody>
                  <a:tcPr>
                    <a:solidFill>
                      <a:schemeClr val="tx1"/>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extLst>
                  <a:ext uri="{0D108BD9-81ED-4DB2-BD59-A6C34878D82A}">
                    <a16:rowId xmlns:a16="http://schemas.microsoft.com/office/drawing/2014/main" val="2492037244"/>
                  </a:ext>
                </a:extLst>
              </a:tr>
              <a:tr h="355600">
                <a:tc>
                  <a:txBody>
                    <a:bodyPr/>
                    <a:lstStyle/>
                    <a:p>
                      <a:pPr algn="ctr"/>
                      <a:r>
                        <a:rPr lang="en-US" b="1" dirty="0">
                          <a:solidFill>
                            <a:schemeClr val="accent4">
                              <a:lumMod val="60000"/>
                              <a:lumOff val="40000"/>
                            </a:schemeClr>
                          </a:solidFill>
                        </a:rPr>
                        <a:t>4</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extLst>
                  <a:ext uri="{0D108BD9-81ED-4DB2-BD59-A6C34878D82A}">
                    <a16:rowId xmlns:a16="http://schemas.microsoft.com/office/drawing/2014/main" val="3594548446"/>
                  </a:ext>
                </a:extLst>
              </a:tr>
              <a:tr h="355600">
                <a:tc>
                  <a:txBody>
                    <a:bodyPr/>
                    <a:lstStyle/>
                    <a:p>
                      <a:pPr algn="ctr"/>
                      <a:r>
                        <a:rPr lang="en-US" b="1" dirty="0">
                          <a:solidFill>
                            <a:schemeClr val="accent4">
                              <a:lumMod val="60000"/>
                              <a:lumOff val="40000"/>
                            </a:schemeClr>
                          </a:solidFill>
                        </a:rPr>
                        <a:t>5</a:t>
                      </a:r>
                      <a:endParaRPr lang="fr-FR" b="1" dirty="0">
                        <a:solidFill>
                          <a:schemeClr val="accent4">
                            <a:lumMod val="60000"/>
                            <a:lumOff val="40000"/>
                          </a:schemeClr>
                        </a:solidFill>
                      </a:endParaRPr>
                    </a:p>
                  </a:txBody>
                  <a:tcPr>
                    <a:solidFill>
                      <a:schemeClr val="tx1"/>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extLst>
                  <a:ext uri="{0D108BD9-81ED-4DB2-BD59-A6C34878D82A}">
                    <a16:rowId xmlns:a16="http://schemas.microsoft.com/office/drawing/2014/main" val="248068657"/>
                  </a:ext>
                </a:extLst>
              </a:tr>
              <a:tr h="355600">
                <a:tc>
                  <a:txBody>
                    <a:bodyPr/>
                    <a:lstStyle/>
                    <a:p>
                      <a:pPr algn="ctr"/>
                      <a:r>
                        <a:rPr lang="en-US" b="1" dirty="0">
                          <a:solidFill>
                            <a:schemeClr val="accent4">
                              <a:lumMod val="60000"/>
                              <a:lumOff val="40000"/>
                            </a:schemeClr>
                          </a:solidFill>
                        </a:rPr>
                        <a:t>6</a:t>
                      </a:r>
                      <a:endParaRPr lang="fr-FR" b="1" dirty="0">
                        <a:solidFill>
                          <a:schemeClr val="accent4">
                            <a:lumMod val="60000"/>
                            <a:lumOff val="40000"/>
                          </a:schemeClr>
                        </a:solidFill>
                      </a:endParaRPr>
                    </a:p>
                  </a:txBody>
                  <a:tcPr>
                    <a:solidFill>
                      <a:schemeClr val="tx1"/>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extLst>
                  <a:ext uri="{0D108BD9-81ED-4DB2-BD59-A6C34878D82A}">
                    <a16:rowId xmlns:a16="http://schemas.microsoft.com/office/drawing/2014/main" val="1858898233"/>
                  </a:ext>
                </a:extLst>
              </a:tr>
              <a:tr h="355600">
                <a:tc>
                  <a:txBody>
                    <a:bodyPr/>
                    <a:lstStyle/>
                    <a:p>
                      <a:pPr algn="ctr"/>
                      <a:r>
                        <a:rPr lang="en-US" b="1" dirty="0">
                          <a:solidFill>
                            <a:schemeClr val="accent4">
                              <a:lumMod val="60000"/>
                              <a:lumOff val="40000"/>
                            </a:schemeClr>
                          </a:solidFill>
                        </a:rPr>
                        <a:t>7</a:t>
                      </a:r>
                      <a:endParaRPr lang="fr-FR" b="1" dirty="0">
                        <a:solidFill>
                          <a:schemeClr val="accent4">
                            <a:lumMod val="60000"/>
                            <a:lumOff val="40000"/>
                          </a:schemeClr>
                        </a:solidFill>
                      </a:endParaRPr>
                    </a:p>
                  </a:txBody>
                  <a:tcPr>
                    <a:solidFill>
                      <a:schemeClr val="tx1"/>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5</a:t>
                      </a:r>
                      <a:endParaRPr lang="fr-FR" dirty="0"/>
                    </a:p>
                  </a:txBody>
                  <a:tcPr>
                    <a:solidFill>
                      <a:schemeClr val="bg1">
                        <a:lumMod val="95000"/>
                      </a:schemeClr>
                    </a:solidFill>
                  </a:tcPr>
                </a:tc>
                <a:tc>
                  <a:txBody>
                    <a:bodyPr/>
                    <a:lstStyle/>
                    <a:p>
                      <a:pPr algn="ctr"/>
                      <a:r>
                        <a:rPr lang="en-US" dirty="0"/>
                        <a:t>3</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tc>
                  <a:txBody>
                    <a:bodyPr/>
                    <a:lstStyle/>
                    <a:p>
                      <a:pPr algn="ctr"/>
                      <a:r>
                        <a:rPr lang="en-US" dirty="0"/>
                        <a:t>4</a:t>
                      </a:r>
                      <a:endParaRPr lang="fr-FR" dirty="0"/>
                    </a:p>
                  </a:txBody>
                  <a:tcPr>
                    <a:solidFill>
                      <a:schemeClr val="bg1">
                        <a:lumMod val="95000"/>
                      </a:schemeClr>
                    </a:solidFill>
                  </a:tcPr>
                </a:tc>
                <a:extLst>
                  <a:ext uri="{0D108BD9-81ED-4DB2-BD59-A6C34878D82A}">
                    <a16:rowId xmlns:a16="http://schemas.microsoft.com/office/drawing/2014/main" val="1993533395"/>
                  </a:ext>
                </a:extLst>
              </a:tr>
              <a:tr h="355600">
                <a:tc>
                  <a:txBody>
                    <a:bodyPr/>
                    <a:lstStyle/>
                    <a:p>
                      <a:pPr algn="ctr"/>
                      <a:r>
                        <a:rPr lang="en-US" b="1" dirty="0">
                          <a:solidFill>
                            <a:schemeClr val="accent4">
                              <a:lumMod val="60000"/>
                              <a:lumOff val="40000"/>
                            </a:schemeClr>
                          </a:solidFill>
                        </a:rPr>
                        <a:t>8</a:t>
                      </a:r>
                      <a:endParaRPr lang="fr-FR" b="1" dirty="0">
                        <a:solidFill>
                          <a:schemeClr val="accent4">
                            <a:lumMod val="60000"/>
                            <a:lumOff val="40000"/>
                          </a:schemeClr>
                        </a:solidFill>
                      </a:endParaRPr>
                    </a:p>
                  </a:txBody>
                  <a:tcPr>
                    <a:solidFill>
                      <a:schemeClr val="tx1"/>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1</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2</a:t>
                      </a:r>
                      <a:endParaRPr lang="fr-FR" dirty="0"/>
                    </a:p>
                  </a:txBody>
                  <a:tcPr>
                    <a:solidFill>
                      <a:schemeClr val="bg1">
                        <a:lumMod val="95000"/>
                      </a:schemeClr>
                    </a:solidFill>
                  </a:tcPr>
                </a:tc>
                <a:tc>
                  <a:txBody>
                    <a:bodyPr/>
                    <a:lstStyle/>
                    <a:p>
                      <a:pPr algn="ctr"/>
                      <a:r>
                        <a:rPr lang="en-US" dirty="0"/>
                        <a:t>4</a:t>
                      </a:r>
                      <a:endParaRPr lang="fr-FR" dirty="0"/>
                    </a:p>
                  </a:txBody>
                  <a:tcPr>
                    <a:solidFill>
                      <a:schemeClr val="bg1">
                        <a:lumMod val="95000"/>
                      </a:schemeClr>
                    </a:solidFill>
                  </a:tcPr>
                </a:tc>
                <a:tc>
                  <a:txBody>
                    <a:bodyPr/>
                    <a:lstStyle/>
                    <a:p>
                      <a:pPr algn="ctr"/>
                      <a:r>
                        <a:rPr lang="en-US" dirty="0"/>
                        <a:t>0</a:t>
                      </a:r>
                      <a:endParaRPr lang="fr-FR" dirty="0"/>
                    </a:p>
                  </a:txBody>
                  <a:tcPr>
                    <a:solidFill>
                      <a:schemeClr val="bg1">
                        <a:lumMod val="50000"/>
                      </a:schemeClr>
                    </a:solidFill>
                  </a:tcPr>
                </a:tc>
                <a:extLst>
                  <a:ext uri="{0D108BD9-81ED-4DB2-BD59-A6C34878D82A}">
                    <a16:rowId xmlns:a16="http://schemas.microsoft.com/office/drawing/2014/main" val="3647899706"/>
                  </a:ext>
                </a:extLst>
              </a:tr>
            </a:tbl>
          </a:graphicData>
        </a:graphic>
      </p:graphicFrame>
      <p:sp>
        <p:nvSpPr>
          <p:cNvPr id="46" name="TextBox 45">
            <a:extLst>
              <a:ext uri="{FF2B5EF4-FFF2-40B4-BE49-F238E27FC236}">
                <a16:creationId xmlns:a16="http://schemas.microsoft.com/office/drawing/2014/main" id="{46698D67-22D1-4A61-9448-59BD3B87475E}"/>
              </a:ext>
            </a:extLst>
          </p:cNvPr>
          <p:cNvSpPr txBox="1"/>
          <p:nvPr/>
        </p:nvSpPr>
        <p:spPr>
          <a:xfrm>
            <a:off x="3112365" y="4449815"/>
            <a:ext cx="848637" cy="646331"/>
          </a:xfrm>
          <a:prstGeom prst="rect">
            <a:avLst/>
          </a:prstGeom>
          <a:noFill/>
        </p:spPr>
        <p:txBody>
          <a:bodyPr wrap="square">
            <a:spAutoFit/>
          </a:bodyPr>
          <a:lstStyle/>
          <a:p>
            <a:r>
              <a:rPr lang="en-US" sz="3600" dirty="0"/>
              <a:t>~</a:t>
            </a:r>
            <a:endParaRPr lang="fr-FR" sz="3600" dirty="0"/>
          </a:p>
        </p:txBody>
      </p:sp>
      <p:sp>
        <p:nvSpPr>
          <p:cNvPr id="47" name="TextBox 46">
            <a:extLst>
              <a:ext uri="{FF2B5EF4-FFF2-40B4-BE49-F238E27FC236}">
                <a16:creationId xmlns:a16="http://schemas.microsoft.com/office/drawing/2014/main" id="{984F8410-DEB0-41CE-B250-001C8B6F36BD}"/>
              </a:ext>
            </a:extLst>
          </p:cNvPr>
          <p:cNvSpPr txBox="1"/>
          <p:nvPr/>
        </p:nvSpPr>
        <p:spPr>
          <a:xfrm>
            <a:off x="8264855" y="3074809"/>
            <a:ext cx="3477780" cy="3477875"/>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400" b="1" dirty="0"/>
              <a:t>Matrix regression </a:t>
            </a:r>
            <a:r>
              <a:rPr lang="en-US" sz="2400" dirty="0"/>
              <a:t>is a simple tool when finding relationships with other networks or matrices</a:t>
            </a:r>
          </a:p>
          <a:p>
            <a:endParaRPr lang="en-US" sz="2400" dirty="0"/>
          </a:p>
          <a:p>
            <a:r>
              <a:rPr lang="en-US" sz="2000" dirty="0"/>
              <a:t>R package </a:t>
            </a:r>
            <a:r>
              <a:rPr lang="en-US" sz="2000" b="1" i="1" dirty="0" err="1"/>
              <a:t>sna</a:t>
            </a:r>
            <a:endParaRPr lang="en-US" sz="2000" b="1" i="1" dirty="0"/>
          </a:p>
          <a:p>
            <a:endParaRPr lang="en-US" sz="2000" dirty="0"/>
          </a:p>
          <a:p>
            <a:r>
              <a:rPr lang="en-US" sz="2000" dirty="0"/>
              <a:t>Uses MRQAP to assess statistical significance (a permutation test)</a:t>
            </a:r>
          </a:p>
        </p:txBody>
      </p:sp>
      <p:sp>
        <p:nvSpPr>
          <p:cNvPr id="28" name="TextBox 27">
            <a:extLst>
              <a:ext uri="{FF2B5EF4-FFF2-40B4-BE49-F238E27FC236}">
                <a16:creationId xmlns:a16="http://schemas.microsoft.com/office/drawing/2014/main" id="{29870AD1-06D9-4AAE-A4C4-E67406472ECF}"/>
              </a:ext>
            </a:extLst>
          </p:cNvPr>
          <p:cNvSpPr txBox="1"/>
          <p:nvPr/>
        </p:nvSpPr>
        <p:spPr>
          <a:xfrm>
            <a:off x="982026" y="2394379"/>
            <a:ext cx="10221683" cy="369332"/>
          </a:xfrm>
          <a:prstGeom prst="rect">
            <a:avLst/>
          </a:prstGeom>
          <a:noFill/>
        </p:spPr>
        <p:txBody>
          <a:bodyPr wrap="square" rtlCol="0">
            <a:spAutoFit/>
          </a:bodyPr>
          <a:lstStyle/>
          <a:p>
            <a:r>
              <a:rPr lang="en-US" dirty="0"/>
              <a:t>e.g. </a:t>
            </a:r>
            <a:r>
              <a:rPr lang="en-US" i="1" dirty="0"/>
              <a:t>Social network structure is associated with home range overlap</a:t>
            </a:r>
            <a:endParaRPr lang="fr-FR" i="1" dirty="0"/>
          </a:p>
        </p:txBody>
      </p:sp>
    </p:spTree>
    <p:extLst>
      <p:ext uri="{BB962C8B-B14F-4D97-AF65-F5344CB8AC3E}">
        <p14:creationId xmlns:p14="http://schemas.microsoft.com/office/powerpoint/2010/main" val="11425107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4.    Dyadic regressions</a:t>
            </a:r>
          </a:p>
        </p:txBody>
      </p:sp>
      <p:sp>
        <p:nvSpPr>
          <p:cNvPr id="5" name="TextBox 4">
            <a:extLst>
              <a:ext uri="{FF2B5EF4-FFF2-40B4-BE49-F238E27FC236}">
                <a16:creationId xmlns:a16="http://schemas.microsoft.com/office/drawing/2014/main" id="{FC72DDAE-3FB3-4309-96E7-D3F1FC18B660}"/>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hypotheses directly related to the edges in the network and node traits</a:t>
            </a:r>
          </a:p>
        </p:txBody>
      </p:sp>
      <p:sp>
        <p:nvSpPr>
          <p:cNvPr id="28" name="TextBox 27">
            <a:extLst>
              <a:ext uri="{FF2B5EF4-FFF2-40B4-BE49-F238E27FC236}">
                <a16:creationId xmlns:a16="http://schemas.microsoft.com/office/drawing/2014/main" id="{29870AD1-06D9-4AAE-A4C4-E67406472ECF}"/>
              </a:ext>
            </a:extLst>
          </p:cNvPr>
          <p:cNvSpPr txBox="1"/>
          <p:nvPr/>
        </p:nvSpPr>
        <p:spPr>
          <a:xfrm>
            <a:off x="982026" y="2394379"/>
            <a:ext cx="10221683" cy="369332"/>
          </a:xfrm>
          <a:prstGeom prst="rect">
            <a:avLst/>
          </a:prstGeom>
          <a:noFill/>
        </p:spPr>
        <p:txBody>
          <a:bodyPr wrap="square" rtlCol="0">
            <a:spAutoFit/>
          </a:bodyPr>
          <a:lstStyle/>
          <a:p>
            <a:r>
              <a:rPr lang="en-US" dirty="0"/>
              <a:t>e.g. </a:t>
            </a:r>
            <a:r>
              <a:rPr lang="en-US" i="1" dirty="0"/>
              <a:t>Social network edges are more likely between individuals of the same sex and similar sizes</a:t>
            </a:r>
            <a:endParaRPr lang="fr-FR" i="1" dirty="0"/>
          </a:p>
        </p:txBody>
      </p:sp>
      <p:grpSp>
        <p:nvGrpSpPr>
          <p:cNvPr id="51" name="Group 50">
            <a:extLst>
              <a:ext uri="{FF2B5EF4-FFF2-40B4-BE49-F238E27FC236}">
                <a16:creationId xmlns:a16="http://schemas.microsoft.com/office/drawing/2014/main" id="{DDFFA461-931B-42D3-8599-6578248D2A8B}"/>
              </a:ext>
            </a:extLst>
          </p:cNvPr>
          <p:cNvGrpSpPr/>
          <p:nvPr/>
        </p:nvGrpSpPr>
        <p:grpSpPr>
          <a:xfrm>
            <a:off x="742764" y="3260262"/>
            <a:ext cx="1788767" cy="3083888"/>
            <a:chOff x="9277162" y="2195066"/>
            <a:chExt cx="1788767" cy="3083888"/>
          </a:xfrm>
        </p:grpSpPr>
        <p:cxnSp>
          <p:nvCxnSpPr>
            <p:cNvPr id="52" name="Straight Connector 51">
              <a:extLst>
                <a:ext uri="{FF2B5EF4-FFF2-40B4-BE49-F238E27FC236}">
                  <a16:creationId xmlns:a16="http://schemas.microsoft.com/office/drawing/2014/main" id="{BFB01FC0-A4FF-4B37-84C9-D31697E80931}"/>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D45D6B15-E411-48C4-B563-F5D8BE9140F5}"/>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Oval 53">
              <a:extLst>
                <a:ext uri="{FF2B5EF4-FFF2-40B4-BE49-F238E27FC236}">
                  <a16:creationId xmlns:a16="http://schemas.microsoft.com/office/drawing/2014/main" id="{ACE0F220-EE6A-41F5-A8D3-4B9D96F60C19}"/>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Oval 54">
              <a:extLst>
                <a:ext uri="{FF2B5EF4-FFF2-40B4-BE49-F238E27FC236}">
                  <a16:creationId xmlns:a16="http://schemas.microsoft.com/office/drawing/2014/main" id="{54773025-96B0-420E-AFC7-986644BF712D}"/>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val 55">
              <a:extLst>
                <a:ext uri="{FF2B5EF4-FFF2-40B4-BE49-F238E27FC236}">
                  <a16:creationId xmlns:a16="http://schemas.microsoft.com/office/drawing/2014/main" id="{5DBB0A1D-73ED-46E4-8CAA-32ED350ABD83}"/>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Oval 56">
              <a:extLst>
                <a:ext uri="{FF2B5EF4-FFF2-40B4-BE49-F238E27FC236}">
                  <a16:creationId xmlns:a16="http://schemas.microsoft.com/office/drawing/2014/main" id="{E876D390-A4C4-4E03-BF66-BB33ABA66C74}"/>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Oval 57">
              <a:extLst>
                <a:ext uri="{FF2B5EF4-FFF2-40B4-BE49-F238E27FC236}">
                  <a16:creationId xmlns:a16="http://schemas.microsoft.com/office/drawing/2014/main" id="{5AB9DB6C-4A13-4049-9AA3-5B1859C2F813}"/>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Oval 58">
              <a:extLst>
                <a:ext uri="{FF2B5EF4-FFF2-40B4-BE49-F238E27FC236}">
                  <a16:creationId xmlns:a16="http://schemas.microsoft.com/office/drawing/2014/main" id="{621E5BE3-D32A-47DD-9871-D6D52C168C0F}"/>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Oval 59">
              <a:extLst>
                <a:ext uri="{FF2B5EF4-FFF2-40B4-BE49-F238E27FC236}">
                  <a16:creationId xmlns:a16="http://schemas.microsoft.com/office/drawing/2014/main" id="{79D603B2-F897-4B11-956A-E0CD91B0A1FE}"/>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1" name="Straight Connector 60">
              <a:extLst>
                <a:ext uri="{FF2B5EF4-FFF2-40B4-BE49-F238E27FC236}">
                  <a16:creationId xmlns:a16="http://schemas.microsoft.com/office/drawing/2014/main" id="{461108BD-0248-4807-B624-891A860B23D5}"/>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F5999F6-8B3C-4265-8F23-44E74C372A6B}"/>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4F38AF-9C18-47DA-89CE-20F79CB14502}"/>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8796780-3413-42B2-9A56-FB8896019954}"/>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885E598-0E67-416E-A466-D0115CACA82D}"/>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8877B73-9608-40D3-B84A-65BF2D2DBA1C}"/>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794F3E5-394E-4BA5-A23B-AD79EFF44ACD}"/>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EF4EDCB-EE6C-4AF1-95C4-DB3CC699EB72}"/>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D8A3D87-0904-42F1-83B3-B0349B7BF950}"/>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70" name="Table 4">
            <a:extLst>
              <a:ext uri="{FF2B5EF4-FFF2-40B4-BE49-F238E27FC236}">
                <a16:creationId xmlns:a16="http://schemas.microsoft.com/office/drawing/2014/main" id="{05A06F44-CB78-4F28-81E9-5E59D32CB412}"/>
              </a:ext>
            </a:extLst>
          </p:cNvPr>
          <p:cNvGraphicFramePr>
            <a:graphicFrameLocks noGrp="1"/>
          </p:cNvGraphicFramePr>
          <p:nvPr>
            <p:extLst>
              <p:ext uri="{D42A27DB-BD31-4B8C-83A1-F6EECF244321}">
                <p14:modId xmlns:p14="http://schemas.microsoft.com/office/powerpoint/2010/main" val="3081920191"/>
              </p:ext>
            </p:extLst>
          </p:nvPr>
        </p:nvGraphicFramePr>
        <p:xfrm>
          <a:off x="3099788" y="3230110"/>
          <a:ext cx="3657600" cy="313944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3633928271"/>
                    </a:ext>
                  </a:extLst>
                </a:gridCol>
                <a:gridCol w="731520">
                  <a:extLst>
                    <a:ext uri="{9D8B030D-6E8A-4147-A177-3AD203B41FA5}">
                      <a16:colId xmlns:a16="http://schemas.microsoft.com/office/drawing/2014/main" val="448717354"/>
                    </a:ext>
                  </a:extLst>
                </a:gridCol>
                <a:gridCol w="731520">
                  <a:extLst>
                    <a:ext uri="{9D8B030D-6E8A-4147-A177-3AD203B41FA5}">
                      <a16:colId xmlns:a16="http://schemas.microsoft.com/office/drawing/2014/main" val="4130169604"/>
                    </a:ext>
                  </a:extLst>
                </a:gridCol>
                <a:gridCol w="731520">
                  <a:extLst>
                    <a:ext uri="{9D8B030D-6E8A-4147-A177-3AD203B41FA5}">
                      <a16:colId xmlns:a16="http://schemas.microsoft.com/office/drawing/2014/main" val="566693594"/>
                    </a:ext>
                  </a:extLst>
                </a:gridCol>
                <a:gridCol w="731520">
                  <a:extLst>
                    <a:ext uri="{9D8B030D-6E8A-4147-A177-3AD203B41FA5}">
                      <a16:colId xmlns:a16="http://schemas.microsoft.com/office/drawing/2014/main" val="2956079013"/>
                    </a:ext>
                  </a:extLst>
                </a:gridCol>
              </a:tblGrid>
              <a:tr h="370840">
                <a:tc>
                  <a:txBody>
                    <a:bodyPr/>
                    <a:lstStyle/>
                    <a:p>
                      <a:pPr algn="ctr"/>
                      <a:r>
                        <a:rPr lang="en-US" sz="1400" dirty="0">
                          <a:solidFill>
                            <a:schemeClr val="accent4">
                              <a:lumMod val="60000"/>
                              <a:lumOff val="40000"/>
                            </a:schemeClr>
                          </a:solidFill>
                        </a:rPr>
                        <a:t>ID 1</a:t>
                      </a:r>
                      <a:endParaRPr lang="fr-FR" sz="1400" dirty="0">
                        <a:solidFill>
                          <a:schemeClr val="accent4">
                            <a:lumMod val="60000"/>
                            <a:lumOff val="40000"/>
                          </a:schemeClr>
                        </a:solidFill>
                      </a:endParaRPr>
                    </a:p>
                  </a:txBody>
                  <a:tcPr anchor="ctr">
                    <a:solidFill>
                      <a:schemeClr val="tx1"/>
                    </a:solidFill>
                  </a:tcPr>
                </a:tc>
                <a:tc>
                  <a:txBody>
                    <a:bodyPr/>
                    <a:lstStyle/>
                    <a:p>
                      <a:pPr algn="ctr"/>
                      <a:r>
                        <a:rPr lang="en-US" sz="1400" dirty="0">
                          <a:solidFill>
                            <a:schemeClr val="accent4">
                              <a:lumMod val="60000"/>
                              <a:lumOff val="40000"/>
                            </a:schemeClr>
                          </a:solidFill>
                        </a:rPr>
                        <a:t>ID 2</a:t>
                      </a:r>
                      <a:endParaRPr lang="fr-FR" sz="1400" dirty="0">
                        <a:solidFill>
                          <a:schemeClr val="accent4">
                            <a:lumMod val="60000"/>
                            <a:lumOff val="40000"/>
                          </a:schemeClr>
                        </a:solidFill>
                      </a:endParaRPr>
                    </a:p>
                  </a:txBody>
                  <a:tcPr anchor="ctr">
                    <a:solidFill>
                      <a:schemeClr val="tx1"/>
                    </a:solidFill>
                  </a:tcPr>
                </a:tc>
                <a:tc>
                  <a:txBody>
                    <a:bodyPr/>
                    <a:lstStyle/>
                    <a:p>
                      <a:pPr algn="ctr"/>
                      <a:r>
                        <a:rPr lang="en-US" sz="1400" dirty="0">
                          <a:solidFill>
                            <a:schemeClr val="accent4">
                              <a:lumMod val="60000"/>
                              <a:lumOff val="40000"/>
                            </a:schemeClr>
                          </a:solidFill>
                        </a:rPr>
                        <a:t>Weight</a:t>
                      </a:r>
                      <a:endParaRPr lang="fr-FR" sz="1400" dirty="0">
                        <a:solidFill>
                          <a:schemeClr val="accent4">
                            <a:lumMod val="60000"/>
                            <a:lumOff val="40000"/>
                          </a:schemeClr>
                        </a:solidFill>
                      </a:endParaRPr>
                    </a:p>
                  </a:txBody>
                  <a:tcPr anchor="ctr">
                    <a:solidFill>
                      <a:schemeClr val="tx1"/>
                    </a:solidFill>
                  </a:tcPr>
                </a:tc>
                <a:tc>
                  <a:txBody>
                    <a:bodyPr/>
                    <a:lstStyle/>
                    <a:p>
                      <a:pPr algn="ctr"/>
                      <a:r>
                        <a:rPr lang="en-US" sz="1400" dirty="0">
                          <a:solidFill>
                            <a:schemeClr val="accent4">
                              <a:lumMod val="60000"/>
                              <a:lumOff val="40000"/>
                            </a:schemeClr>
                          </a:solidFill>
                        </a:rPr>
                        <a:t>Sex</a:t>
                      </a:r>
                      <a:endParaRPr lang="fr-FR" sz="1400" dirty="0">
                        <a:solidFill>
                          <a:schemeClr val="accent4">
                            <a:lumMod val="60000"/>
                            <a:lumOff val="40000"/>
                          </a:schemeClr>
                        </a:solidFill>
                      </a:endParaRPr>
                    </a:p>
                  </a:txBody>
                  <a:tcPr anchor="ctr">
                    <a:solidFill>
                      <a:schemeClr val="tx1"/>
                    </a:solidFill>
                  </a:tcPr>
                </a:tc>
                <a:tc>
                  <a:txBody>
                    <a:bodyPr/>
                    <a:lstStyle/>
                    <a:p>
                      <a:pPr algn="ctr"/>
                      <a:r>
                        <a:rPr lang="en-US" sz="1000" dirty="0">
                          <a:solidFill>
                            <a:schemeClr val="accent4">
                              <a:lumMod val="60000"/>
                              <a:lumOff val="40000"/>
                            </a:schemeClr>
                          </a:solidFill>
                        </a:rPr>
                        <a:t>Size difference</a:t>
                      </a:r>
                      <a:endParaRPr lang="fr-FR" sz="1000" dirty="0">
                        <a:solidFill>
                          <a:schemeClr val="accent4">
                            <a:lumMod val="60000"/>
                            <a:lumOff val="40000"/>
                          </a:schemeClr>
                        </a:solidFill>
                      </a:endParaRPr>
                    </a:p>
                  </a:txBody>
                  <a:tcPr anchor="ctr">
                    <a:solidFill>
                      <a:schemeClr val="tx1"/>
                    </a:solidFill>
                  </a:tcPr>
                </a:tc>
                <a:extLst>
                  <a:ext uri="{0D108BD9-81ED-4DB2-BD59-A6C34878D82A}">
                    <a16:rowId xmlns:a16="http://schemas.microsoft.com/office/drawing/2014/main" val="3390748688"/>
                  </a:ext>
                </a:extLst>
              </a:tr>
              <a:tr h="0">
                <a:tc>
                  <a:txBody>
                    <a:bodyPr/>
                    <a:lstStyle/>
                    <a:p>
                      <a:pPr algn="ctr"/>
                      <a:r>
                        <a:rPr lang="en-US" sz="1200" dirty="0"/>
                        <a:t>1</a:t>
                      </a:r>
                      <a:endParaRPr lang="fr-FR" sz="1200" dirty="0"/>
                    </a:p>
                  </a:txBody>
                  <a:tcPr>
                    <a:solidFill>
                      <a:schemeClr val="bg1">
                        <a:lumMod val="95000"/>
                      </a:schemeClr>
                    </a:solidFill>
                  </a:tcPr>
                </a:tc>
                <a:tc>
                  <a:txBody>
                    <a:bodyPr/>
                    <a:lstStyle/>
                    <a:p>
                      <a:pPr algn="ctr"/>
                      <a:r>
                        <a:rPr lang="en-US" sz="1200" dirty="0"/>
                        <a:t>2</a:t>
                      </a:r>
                      <a:endParaRPr lang="fr-FR" sz="1200" dirty="0"/>
                    </a:p>
                  </a:txBody>
                  <a:tcPr>
                    <a:solidFill>
                      <a:schemeClr val="bg1">
                        <a:lumMod val="95000"/>
                      </a:schemeClr>
                    </a:solidFill>
                  </a:tcPr>
                </a:tc>
                <a:tc>
                  <a:txBody>
                    <a:bodyPr/>
                    <a:lstStyle/>
                    <a:p>
                      <a:pPr algn="ctr"/>
                      <a:r>
                        <a:rPr lang="fr-FR" sz="1200" dirty="0"/>
                        <a:t>3</a:t>
                      </a:r>
                    </a:p>
                  </a:txBody>
                  <a:tcPr>
                    <a:solidFill>
                      <a:schemeClr val="bg1">
                        <a:lumMod val="95000"/>
                      </a:schemeClr>
                    </a:solidFill>
                  </a:tcPr>
                </a:tc>
                <a:tc>
                  <a:txBody>
                    <a:bodyPr/>
                    <a:lstStyle/>
                    <a:p>
                      <a:pPr algn="ctr"/>
                      <a:r>
                        <a:rPr lang="en-US" sz="1200" dirty="0"/>
                        <a:t>MM</a:t>
                      </a:r>
                      <a:endParaRPr lang="fr-FR" sz="1200" dirty="0"/>
                    </a:p>
                  </a:txBody>
                  <a:tcPr>
                    <a:solidFill>
                      <a:schemeClr val="bg1">
                        <a:lumMod val="95000"/>
                      </a:schemeClr>
                    </a:solidFill>
                  </a:tcPr>
                </a:tc>
                <a:tc>
                  <a:txBody>
                    <a:bodyPr/>
                    <a:lstStyle/>
                    <a:p>
                      <a:pPr algn="ctr"/>
                      <a:r>
                        <a:rPr lang="en-US" sz="1200" dirty="0"/>
                        <a:t>0.32</a:t>
                      </a:r>
                      <a:endParaRPr lang="fr-FR" sz="1200" dirty="0"/>
                    </a:p>
                  </a:txBody>
                  <a:tcPr>
                    <a:solidFill>
                      <a:schemeClr val="bg1">
                        <a:lumMod val="95000"/>
                      </a:schemeClr>
                    </a:solidFill>
                  </a:tcPr>
                </a:tc>
                <a:extLst>
                  <a:ext uri="{0D108BD9-81ED-4DB2-BD59-A6C34878D82A}">
                    <a16:rowId xmlns:a16="http://schemas.microsoft.com/office/drawing/2014/main" val="551088812"/>
                  </a:ext>
                </a:extLst>
              </a:tr>
              <a:tr h="0">
                <a:tc>
                  <a:txBody>
                    <a:bodyPr/>
                    <a:lstStyle/>
                    <a:p>
                      <a:pPr algn="ctr"/>
                      <a:r>
                        <a:rPr lang="en-US" sz="1200" dirty="0"/>
                        <a:t>1</a:t>
                      </a:r>
                      <a:endParaRPr lang="fr-FR" sz="1200" dirty="0"/>
                    </a:p>
                  </a:txBody>
                  <a:tcPr>
                    <a:solidFill>
                      <a:schemeClr val="bg1">
                        <a:lumMod val="95000"/>
                      </a:schemeClr>
                    </a:solidFill>
                  </a:tcPr>
                </a:tc>
                <a:tc>
                  <a:txBody>
                    <a:bodyPr/>
                    <a:lstStyle/>
                    <a:p>
                      <a:pPr algn="ctr"/>
                      <a:r>
                        <a:rPr lang="en-US" sz="1200" dirty="0"/>
                        <a:t>3</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MF</a:t>
                      </a:r>
                      <a:endParaRPr lang="fr-FR" sz="1200" dirty="0"/>
                    </a:p>
                  </a:txBody>
                  <a:tcPr>
                    <a:solidFill>
                      <a:schemeClr val="bg1">
                        <a:lumMod val="95000"/>
                      </a:schemeClr>
                    </a:solidFill>
                  </a:tcPr>
                </a:tc>
                <a:tc>
                  <a:txBody>
                    <a:bodyPr/>
                    <a:lstStyle/>
                    <a:p>
                      <a:pPr algn="ctr"/>
                      <a:r>
                        <a:rPr lang="en-US" sz="1200" dirty="0"/>
                        <a:t>0.47</a:t>
                      </a:r>
                      <a:endParaRPr lang="fr-FR" sz="1200" dirty="0"/>
                    </a:p>
                  </a:txBody>
                  <a:tcPr>
                    <a:solidFill>
                      <a:schemeClr val="bg1">
                        <a:lumMod val="95000"/>
                      </a:schemeClr>
                    </a:solidFill>
                  </a:tcPr>
                </a:tc>
                <a:extLst>
                  <a:ext uri="{0D108BD9-81ED-4DB2-BD59-A6C34878D82A}">
                    <a16:rowId xmlns:a16="http://schemas.microsoft.com/office/drawing/2014/main" val="2745773553"/>
                  </a:ext>
                </a:extLst>
              </a:tr>
              <a:tr h="0">
                <a:tc>
                  <a:txBody>
                    <a:bodyPr/>
                    <a:lstStyle/>
                    <a:p>
                      <a:pPr algn="ctr"/>
                      <a:r>
                        <a:rPr lang="en-US" sz="1200" dirty="0"/>
                        <a:t>1</a:t>
                      </a:r>
                      <a:endParaRPr lang="fr-FR" sz="1200" dirty="0"/>
                    </a:p>
                  </a:txBody>
                  <a:tcPr>
                    <a:solidFill>
                      <a:schemeClr val="bg1">
                        <a:lumMod val="95000"/>
                      </a:schemeClr>
                    </a:solidFill>
                  </a:tcPr>
                </a:tc>
                <a:tc>
                  <a:txBody>
                    <a:bodyPr/>
                    <a:lstStyle/>
                    <a:p>
                      <a:pPr algn="ctr"/>
                      <a:r>
                        <a:rPr lang="en-US" sz="1200" dirty="0"/>
                        <a:t>6</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MF</a:t>
                      </a:r>
                      <a:endParaRPr lang="fr-FR" sz="1200" dirty="0"/>
                    </a:p>
                  </a:txBody>
                  <a:tcPr>
                    <a:solidFill>
                      <a:schemeClr val="bg1">
                        <a:lumMod val="95000"/>
                      </a:schemeClr>
                    </a:solidFill>
                  </a:tcPr>
                </a:tc>
                <a:tc>
                  <a:txBody>
                    <a:bodyPr/>
                    <a:lstStyle/>
                    <a:p>
                      <a:pPr algn="ctr"/>
                      <a:r>
                        <a:rPr lang="en-US" sz="1200" dirty="0"/>
                        <a:t>0.12</a:t>
                      </a:r>
                      <a:endParaRPr lang="fr-FR" sz="1200" dirty="0"/>
                    </a:p>
                  </a:txBody>
                  <a:tcPr>
                    <a:solidFill>
                      <a:schemeClr val="bg1">
                        <a:lumMod val="95000"/>
                      </a:schemeClr>
                    </a:solidFill>
                  </a:tcPr>
                </a:tc>
                <a:extLst>
                  <a:ext uri="{0D108BD9-81ED-4DB2-BD59-A6C34878D82A}">
                    <a16:rowId xmlns:a16="http://schemas.microsoft.com/office/drawing/2014/main" val="3019948275"/>
                  </a:ext>
                </a:extLst>
              </a:tr>
              <a:tr h="0">
                <a:tc>
                  <a:txBody>
                    <a:bodyPr/>
                    <a:lstStyle/>
                    <a:p>
                      <a:pPr algn="ctr"/>
                      <a:r>
                        <a:rPr lang="en-US" sz="1200" dirty="0"/>
                        <a:t>2</a:t>
                      </a:r>
                      <a:endParaRPr lang="fr-FR" sz="1200" dirty="0"/>
                    </a:p>
                  </a:txBody>
                  <a:tcPr>
                    <a:solidFill>
                      <a:schemeClr val="bg1">
                        <a:lumMod val="95000"/>
                      </a:schemeClr>
                    </a:solidFill>
                  </a:tcPr>
                </a:tc>
                <a:tc>
                  <a:txBody>
                    <a:bodyPr/>
                    <a:lstStyle/>
                    <a:p>
                      <a:pPr algn="ctr"/>
                      <a:r>
                        <a:rPr lang="en-US" sz="1200" dirty="0"/>
                        <a:t>4</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MM</a:t>
                      </a:r>
                      <a:endParaRPr lang="fr-FR" sz="1200" dirty="0"/>
                    </a:p>
                  </a:txBody>
                  <a:tcPr>
                    <a:solidFill>
                      <a:schemeClr val="bg1">
                        <a:lumMod val="95000"/>
                      </a:schemeClr>
                    </a:solidFill>
                  </a:tcPr>
                </a:tc>
                <a:tc>
                  <a:txBody>
                    <a:bodyPr/>
                    <a:lstStyle/>
                    <a:p>
                      <a:pPr algn="ctr"/>
                      <a:r>
                        <a:rPr lang="en-US" sz="1200" dirty="0"/>
                        <a:t>0.05</a:t>
                      </a:r>
                      <a:endParaRPr lang="fr-FR" sz="1200" dirty="0"/>
                    </a:p>
                  </a:txBody>
                  <a:tcPr>
                    <a:solidFill>
                      <a:schemeClr val="bg1">
                        <a:lumMod val="95000"/>
                      </a:schemeClr>
                    </a:solidFill>
                  </a:tcPr>
                </a:tc>
                <a:extLst>
                  <a:ext uri="{0D108BD9-81ED-4DB2-BD59-A6C34878D82A}">
                    <a16:rowId xmlns:a16="http://schemas.microsoft.com/office/drawing/2014/main" val="1806561758"/>
                  </a:ext>
                </a:extLst>
              </a:tr>
              <a:tr h="0">
                <a:tc>
                  <a:txBody>
                    <a:bodyPr/>
                    <a:lstStyle/>
                    <a:p>
                      <a:pPr algn="ctr"/>
                      <a:r>
                        <a:rPr lang="en-US" sz="1200" dirty="0"/>
                        <a:t>3</a:t>
                      </a:r>
                      <a:endParaRPr lang="fr-FR" sz="1200" dirty="0"/>
                    </a:p>
                  </a:txBody>
                  <a:tcPr>
                    <a:solidFill>
                      <a:schemeClr val="bg1">
                        <a:lumMod val="95000"/>
                      </a:schemeClr>
                    </a:solidFill>
                  </a:tcPr>
                </a:tc>
                <a:tc>
                  <a:txBody>
                    <a:bodyPr/>
                    <a:lstStyle/>
                    <a:p>
                      <a:pPr algn="ctr"/>
                      <a:r>
                        <a:rPr lang="en-US" sz="1200" dirty="0"/>
                        <a:t>4</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MF</a:t>
                      </a:r>
                      <a:endParaRPr lang="fr-FR" sz="1200" dirty="0"/>
                    </a:p>
                  </a:txBody>
                  <a:tcPr>
                    <a:solidFill>
                      <a:schemeClr val="bg1">
                        <a:lumMod val="95000"/>
                      </a:schemeClr>
                    </a:solidFill>
                  </a:tcPr>
                </a:tc>
                <a:tc>
                  <a:txBody>
                    <a:bodyPr/>
                    <a:lstStyle/>
                    <a:p>
                      <a:pPr algn="ctr"/>
                      <a:r>
                        <a:rPr lang="en-US" sz="1200" dirty="0"/>
                        <a:t>0.14</a:t>
                      </a:r>
                      <a:endParaRPr lang="fr-FR" sz="1200" dirty="0"/>
                    </a:p>
                  </a:txBody>
                  <a:tcPr>
                    <a:solidFill>
                      <a:schemeClr val="bg1">
                        <a:lumMod val="95000"/>
                      </a:schemeClr>
                    </a:solidFill>
                  </a:tcPr>
                </a:tc>
                <a:extLst>
                  <a:ext uri="{0D108BD9-81ED-4DB2-BD59-A6C34878D82A}">
                    <a16:rowId xmlns:a16="http://schemas.microsoft.com/office/drawing/2014/main" val="2008170764"/>
                  </a:ext>
                </a:extLst>
              </a:tr>
              <a:tr h="0">
                <a:tc>
                  <a:txBody>
                    <a:bodyPr/>
                    <a:lstStyle/>
                    <a:p>
                      <a:pPr algn="ctr"/>
                      <a:r>
                        <a:rPr lang="en-US" sz="1200" dirty="0"/>
                        <a:t>3</a:t>
                      </a:r>
                      <a:endParaRPr lang="fr-FR" sz="1200" dirty="0"/>
                    </a:p>
                  </a:txBody>
                  <a:tcPr>
                    <a:solidFill>
                      <a:schemeClr val="bg1">
                        <a:lumMod val="95000"/>
                      </a:schemeClr>
                    </a:solidFill>
                  </a:tcPr>
                </a:tc>
                <a:tc>
                  <a:txBody>
                    <a:bodyPr/>
                    <a:lstStyle/>
                    <a:p>
                      <a:pPr algn="ctr"/>
                      <a:r>
                        <a:rPr lang="en-US" sz="1200" dirty="0"/>
                        <a:t>5</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FF</a:t>
                      </a:r>
                      <a:endParaRPr lang="fr-FR" sz="1200" dirty="0"/>
                    </a:p>
                  </a:txBody>
                  <a:tcPr>
                    <a:solidFill>
                      <a:schemeClr val="bg1">
                        <a:lumMod val="95000"/>
                      </a:schemeClr>
                    </a:solidFill>
                  </a:tcPr>
                </a:tc>
                <a:tc>
                  <a:txBody>
                    <a:bodyPr/>
                    <a:lstStyle/>
                    <a:p>
                      <a:pPr algn="ctr"/>
                      <a:r>
                        <a:rPr lang="en-US" sz="1200" dirty="0"/>
                        <a:t>0.20</a:t>
                      </a:r>
                      <a:endParaRPr lang="fr-FR" sz="1200" dirty="0"/>
                    </a:p>
                  </a:txBody>
                  <a:tcPr>
                    <a:solidFill>
                      <a:schemeClr val="bg1">
                        <a:lumMod val="95000"/>
                      </a:schemeClr>
                    </a:solidFill>
                  </a:tcPr>
                </a:tc>
                <a:extLst>
                  <a:ext uri="{0D108BD9-81ED-4DB2-BD59-A6C34878D82A}">
                    <a16:rowId xmlns:a16="http://schemas.microsoft.com/office/drawing/2014/main" val="2456207752"/>
                  </a:ext>
                </a:extLst>
              </a:tr>
              <a:tr h="0">
                <a:tc>
                  <a:txBody>
                    <a:bodyPr/>
                    <a:lstStyle/>
                    <a:p>
                      <a:pPr algn="ctr"/>
                      <a:r>
                        <a:rPr lang="en-US" sz="1200" dirty="0"/>
                        <a:t>5</a:t>
                      </a:r>
                      <a:endParaRPr lang="fr-FR" sz="1200" dirty="0"/>
                    </a:p>
                  </a:txBody>
                  <a:tcPr>
                    <a:solidFill>
                      <a:schemeClr val="bg1">
                        <a:lumMod val="95000"/>
                      </a:schemeClr>
                    </a:solidFill>
                  </a:tcPr>
                </a:tc>
                <a:tc>
                  <a:txBody>
                    <a:bodyPr/>
                    <a:lstStyle/>
                    <a:p>
                      <a:pPr algn="ctr"/>
                      <a:r>
                        <a:rPr lang="en-US" sz="1200" dirty="0"/>
                        <a:t>6</a:t>
                      </a:r>
                      <a:endParaRPr lang="fr-FR" sz="1200" dirty="0"/>
                    </a:p>
                  </a:txBody>
                  <a:tcPr>
                    <a:solidFill>
                      <a:schemeClr val="bg1">
                        <a:lumMod val="95000"/>
                      </a:schemeClr>
                    </a:solidFill>
                  </a:tcPr>
                </a:tc>
                <a:tc>
                  <a:txBody>
                    <a:bodyPr/>
                    <a:lstStyle/>
                    <a:p>
                      <a:pPr algn="ctr"/>
                      <a:r>
                        <a:rPr lang="fr-FR" sz="1200" dirty="0"/>
                        <a:t>2</a:t>
                      </a:r>
                    </a:p>
                  </a:txBody>
                  <a:tcPr>
                    <a:solidFill>
                      <a:schemeClr val="bg1">
                        <a:lumMod val="95000"/>
                      </a:schemeClr>
                    </a:solidFill>
                  </a:tcPr>
                </a:tc>
                <a:tc>
                  <a:txBody>
                    <a:bodyPr/>
                    <a:lstStyle/>
                    <a:p>
                      <a:pPr algn="ctr"/>
                      <a:r>
                        <a:rPr lang="en-US" sz="1200" dirty="0"/>
                        <a:t>FF</a:t>
                      </a:r>
                      <a:endParaRPr lang="fr-FR" sz="1200" dirty="0"/>
                    </a:p>
                  </a:txBody>
                  <a:tcPr>
                    <a:solidFill>
                      <a:schemeClr val="bg1">
                        <a:lumMod val="95000"/>
                      </a:schemeClr>
                    </a:solidFill>
                  </a:tcPr>
                </a:tc>
                <a:tc>
                  <a:txBody>
                    <a:bodyPr/>
                    <a:lstStyle/>
                    <a:p>
                      <a:pPr algn="ctr"/>
                      <a:r>
                        <a:rPr lang="en-US" sz="1200" dirty="0"/>
                        <a:t>0.36</a:t>
                      </a:r>
                      <a:endParaRPr lang="fr-FR" sz="1200" dirty="0"/>
                    </a:p>
                  </a:txBody>
                  <a:tcPr>
                    <a:solidFill>
                      <a:schemeClr val="bg1">
                        <a:lumMod val="95000"/>
                      </a:schemeClr>
                    </a:solidFill>
                  </a:tcPr>
                </a:tc>
                <a:extLst>
                  <a:ext uri="{0D108BD9-81ED-4DB2-BD59-A6C34878D82A}">
                    <a16:rowId xmlns:a16="http://schemas.microsoft.com/office/drawing/2014/main" val="440282349"/>
                  </a:ext>
                </a:extLst>
              </a:tr>
              <a:tr h="0">
                <a:tc>
                  <a:txBody>
                    <a:bodyPr/>
                    <a:lstStyle/>
                    <a:p>
                      <a:pPr algn="ctr"/>
                      <a:r>
                        <a:rPr lang="en-US" sz="1200" dirty="0"/>
                        <a:t>5</a:t>
                      </a:r>
                      <a:endParaRPr lang="fr-FR" sz="1200" dirty="0"/>
                    </a:p>
                  </a:txBody>
                  <a:tcPr>
                    <a:solidFill>
                      <a:schemeClr val="bg1">
                        <a:lumMod val="95000"/>
                      </a:schemeClr>
                    </a:solidFill>
                  </a:tcPr>
                </a:tc>
                <a:tc>
                  <a:txBody>
                    <a:bodyPr/>
                    <a:lstStyle/>
                    <a:p>
                      <a:pPr algn="ctr"/>
                      <a:r>
                        <a:rPr lang="en-US" sz="1200" dirty="0"/>
                        <a:t>7</a:t>
                      </a:r>
                      <a:endParaRPr lang="fr-FR" sz="1200" dirty="0"/>
                    </a:p>
                  </a:txBody>
                  <a:tcPr>
                    <a:solidFill>
                      <a:schemeClr val="bg1">
                        <a:lumMod val="95000"/>
                      </a:schemeClr>
                    </a:solidFill>
                  </a:tcPr>
                </a:tc>
                <a:tc>
                  <a:txBody>
                    <a:bodyPr/>
                    <a:lstStyle/>
                    <a:p>
                      <a:pPr algn="ctr"/>
                      <a:r>
                        <a:rPr lang="fr-FR" sz="1200" dirty="0"/>
                        <a:t>2</a:t>
                      </a:r>
                    </a:p>
                  </a:txBody>
                  <a:tcPr>
                    <a:solidFill>
                      <a:schemeClr val="bg1">
                        <a:lumMod val="95000"/>
                      </a:schemeClr>
                    </a:solidFill>
                  </a:tcPr>
                </a:tc>
                <a:tc>
                  <a:txBody>
                    <a:bodyPr/>
                    <a:lstStyle/>
                    <a:p>
                      <a:pPr algn="ctr"/>
                      <a:r>
                        <a:rPr lang="en-US" sz="1200" dirty="0"/>
                        <a:t>FF</a:t>
                      </a:r>
                      <a:endParaRPr lang="fr-FR" sz="1200" dirty="0"/>
                    </a:p>
                  </a:txBody>
                  <a:tcPr>
                    <a:solidFill>
                      <a:schemeClr val="bg1">
                        <a:lumMod val="95000"/>
                      </a:schemeClr>
                    </a:solidFill>
                  </a:tcPr>
                </a:tc>
                <a:tc>
                  <a:txBody>
                    <a:bodyPr/>
                    <a:lstStyle/>
                    <a:p>
                      <a:pPr algn="ctr"/>
                      <a:r>
                        <a:rPr lang="en-US" sz="1200" dirty="0"/>
                        <a:t>0.11</a:t>
                      </a:r>
                      <a:endParaRPr lang="fr-FR" sz="1200" dirty="0"/>
                    </a:p>
                  </a:txBody>
                  <a:tcPr>
                    <a:solidFill>
                      <a:schemeClr val="bg1">
                        <a:lumMod val="95000"/>
                      </a:schemeClr>
                    </a:solidFill>
                  </a:tcPr>
                </a:tc>
                <a:extLst>
                  <a:ext uri="{0D108BD9-81ED-4DB2-BD59-A6C34878D82A}">
                    <a16:rowId xmlns:a16="http://schemas.microsoft.com/office/drawing/2014/main" val="1697648120"/>
                  </a:ext>
                </a:extLst>
              </a:tr>
              <a:tr h="0">
                <a:tc>
                  <a:txBody>
                    <a:bodyPr/>
                    <a:lstStyle/>
                    <a:p>
                      <a:pPr algn="ctr"/>
                      <a:r>
                        <a:rPr lang="en-US" sz="1200" dirty="0"/>
                        <a:t>6</a:t>
                      </a:r>
                      <a:endParaRPr lang="fr-FR" sz="1200" dirty="0"/>
                    </a:p>
                  </a:txBody>
                  <a:tcPr>
                    <a:solidFill>
                      <a:schemeClr val="bg1">
                        <a:lumMod val="95000"/>
                      </a:schemeClr>
                    </a:solidFill>
                  </a:tcPr>
                </a:tc>
                <a:tc>
                  <a:txBody>
                    <a:bodyPr/>
                    <a:lstStyle/>
                    <a:p>
                      <a:pPr algn="ctr"/>
                      <a:r>
                        <a:rPr lang="en-US" sz="1200" dirty="0"/>
                        <a:t>7</a:t>
                      </a:r>
                      <a:endParaRPr lang="fr-FR" sz="1200" dirty="0"/>
                    </a:p>
                  </a:txBody>
                  <a:tcPr>
                    <a:solidFill>
                      <a:schemeClr val="bg1">
                        <a:lumMod val="95000"/>
                      </a:schemeClr>
                    </a:solidFill>
                  </a:tcPr>
                </a:tc>
                <a:tc>
                  <a:txBody>
                    <a:bodyPr/>
                    <a:lstStyle/>
                    <a:p>
                      <a:pPr algn="ctr"/>
                      <a:r>
                        <a:rPr lang="fr-FR" sz="1200" dirty="0"/>
                        <a:t>2</a:t>
                      </a:r>
                    </a:p>
                  </a:txBody>
                  <a:tcPr>
                    <a:solidFill>
                      <a:schemeClr val="bg1">
                        <a:lumMod val="95000"/>
                      </a:schemeClr>
                    </a:solidFill>
                  </a:tcPr>
                </a:tc>
                <a:tc>
                  <a:txBody>
                    <a:bodyPr/>
                    <a:lstStyle/>
                    <a:p>
                      <a:pPr algn="ctr"/>
                      <a:r>
                        <a:rPr lang="en-US" sz="1200" dirty="0"/>
                        <a:t>FF</a:t>
                      </a:r>
                      <a:endParaRPr lang="fr-FR" sz="1200" dirty="0"/>
                    </a:p>
                  </a:txBody>
                  <a:tcPr>
                    <a:solidFill>
                      <a:schemeClr val="bg1">
                        <a:lumMod val="95000"/>
                      </a:schemeClr>
                    </a:solidFill>
                  </a:tcPr>
                </a:tc>
                <a:tc>
                  <a:txBody>
                    <a:bodyPr/>
                    <a:lstStyle/>
                    <a:p>
                      <a:pPr algn="ctr"/>
                      <a:r>
                        <a:rPr lang="en-US" sz="1200" dirty="0"/>
                        <a:t>0.09</a:t>
                      </a:r>
                      <a:endParaRPr lang="fr-FR" sz="1200" dirty="0"/>
                    </a:p>
                  </a:txBody>
                  <a:tcPr>
                    <a:solidFill>
                      <a:schemeClr val="bg1">
                        <a:lumMod val="95000"/>
                      </a:schemeClr>
                    </a:solidFill>
                  </a:tcPr>
                </a:tc>
                <a:extLst>
                  <a:ext uri="{0D108BD9-81ED-4DB2-BD59-A6C34878D82A}">
                    <a16:rowId xmlns:a16="http://schemas.microsoft.com/office/drawing/2014/main" val="1414656967"/>
                  </a:ext>
                </a:extLst>
              </a:tr>
              <a:tr h="0">
                <a:tc>
                  <a:txBody>
                    <a:bodyPr/>
                    <a:lstStyle/>
                    <a:p>
                      <a:pPr algn="ctr"/>
                      <a:r>
                        <a:rPr lang="en-US" sz="1200" dirty="0"/>
                        <a:t>7</a:t>
                      </a:r>
                      <a:endParaRPr lang="fr-FR" sz="1200" dirty="0"/>
                    </a:p>
                  </a:txBody>
                  <a:tcPr>
                    <a:solidFill>
                      <a:schemeClr val="bg1">
                        <a:lumMod val="95000"/>
                      </a:schemeClr>
                    </a:solidFill>
                  </a:tcPr>
                </a:tc>
                <a:tc>
                  <a:txBody>
                    <a:bodyPr/>
                    <a:lstStyle/>
                    <a:p>
                      <a:pPr algn="ctr"/>
                      <a:r>
                        <a:rPr lang="en-US" sz="1200" dirty="0"/>
                        <a:t>8</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MF</a:t>
                      </a:r>
                      <a:endParaRPr lang="fr-FR" sz="1200" dirty="0"/>
                    </a:p>
                  </a:txBody>
                  <a:tcPr>
                    <a:solidFill>
                      <a:schemeClr val="bg1">
                        <a:lumMod val="95000"/>
                      </a:schemeClr>
                    </a:solidFill>
                  </a:tcPr>
                </a:tc>
                <a:tc>
                  <a:txBody>
                    <a:bodyPr/>
                    <a:lstStyle/>
                    <a:p>
                      <a:pPr algn="ctr"/>
                      <a:r>
                        <a:rPr lang="en-US" sz="1200" dirty="0"/>
                        <a:t>0.02</a:t>
                      </a:r>
                      <a:endParaRPr lang="fr-FR" sz="1200" dirty="0"/>
                    </a:p>
                  </a:txBody>
                  <a:tcPr>
                    <a:solidFill>
                      <a:schemeClr val="bg1">
                        <a:lumMod val="95000"/>
                      </a:schemeClr>
                    </a:solidFill>
                  </a:tcPr>
                </a:tc>
                <a:extLst>
                  <a:ext uri="{0D108BD9-81ED-4DB2-BD59-A6C34878D82A}">
                    <a16:rowId xmlns:a16="http://schemas.microsoft.com/office/drawing/2014/main" val="3617806729"/>
                  </a:ext>
                </a:extLst>
              </a:tr>
            </a:tbl>
          </a:graphicData>
        </a:graphic>
      </p:graphicFrame>
    </p:spTree>
    <p:extLst>
      <p:ext uri="{BB962C8B-B14F-4D97-AF65-F5344CB8AC3E}">
        <p14:creationId xmlns:p14="http://schemas.microsoft.com/office/powerpoint/2010/main" val="32375773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4.    Dyadic regressions</a:t>
            </a:r>
          </a:p>
        </p:txBody>
      </p:sp>
      <p:sp>
        <p:nvSpPr>
          <p:cNvPr id="5" name="TextBox 4">
            <a:extLst>
              <a:ext uri="{FF2B5EF4-FFF2-40B4-BE49-F238E27FC236}">
                <a16:creationId xmlns:a16="http://schemas.microsoft.com/office/drawing/2014/main" id="{FC72DDAE-3FB3-4309-96E7-D3F1FC18B660}"/>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hypotheses directly related to the edges in the network and node traits</a:t>
            </a:r>
          </a:p>
        </p:txBody>
      </p:sp>
      <p:pic>
        <p:nvPicPr>
          <p:cNvPr id="2" name="Picture 1">
            <a:extLst>
              <a:ext uri="{FF2B5EF4-FFF2-40B4-BE49-F238E27FC236}">
                <a16:creationId xmlns:a16="http://schemas.microsoft.com/office/drawing/2014/main" id="{B16EE34E-772F-D879-7847-87547F262B9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9753" y="4974225"/>
            <a:ext cx="5054781" cy="847899"/>
          </a:xfrm>
          <a:prstGeom prst="rect">
            <a:avLst/>
          </a:prstGeom>
        </p:spPr>
      </p:pic>
      <p:pic>
        <p:nvPicPr>
          <p:cNvPr id="6" name="Picture 5" descr="A group of birds flying&#10;&#10;Description automatically generated with medium confidence">
            <a:extLst>
              <a:ext uri="{FF2B5EF4-FFF2-40B4-BE49-F238E27FC236}">
                <a16:creationId xmlns:a16="http://schemas.microsoft.com/office/drawing/2014/main" id="{EF763507-BB5C-1EFB-9678-4ABA926F5B1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62703" y="2787160"/>
            <a:ext cx="2654960" cy="1770569"/>
          </a:xfrm>
          <a:prstGeom prst="rect">
            <a:avLst/>
          </a:prstGeom>
          <a:ln>
            <a:noFill/>
          </a:ln>
          <a:effectLst>
            <a:softEdge rad="112500"/>
          </a:effectLst>
        </p:spPr>
      </p:pic>
      <p:pic>
        <p:nvPicPr>
          <p:cNvPr id="13" name="Picture 12">
            <a:extLst>
              <a:ext uri="{FF2B5EF4-FFF2-40B4-BE49-F238E27FC236}">
                <a16:creationId xmlns:a16="http://schemas.microsoft.com/office/drawing/2014/main" id="{2D0BD091-1E6B-F988-40D0-A01DF952A48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481638" y="2394473"/>
            <a:ext cx="5653007" cy="3720577"/>
          </a:xfrm>
          <a:prstGeom prst="rect">
            <a:avLst/>
          </a:prstGeom>
        </p:spPr>
      </p:pic>
    </p:spTree>
    <p:extLst>
      <p:ext uri="{BB962C8B-B14F-4D97-AF65-F5344CB8AC3E}">
        <p14:creationId xmlns:p14="http://schemas.microsoft.com/office/powerpoint/2010/main" val="46701499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4.    Dyadic regressions</a:t>
            </a:r>
          </a:p>
        </p:txBody>
      </p:sp>
      <p:sp>
        <p:nvSpPr>
          <p:cNvPr id="5" name="TextBox 4">
            <a:extLst>
              <a:ext uri="{FF2B5EF4-FFF2-40B4-BE49-F238E27FC236}">
                <a16:creationId xmlns:a16="http://schemas.microsoft.com/office/drawing/2014/main" id="{FC72DDAE-3FB3-4309-96E7-D3F1FC18B660}"/>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hypotheses directly related to the edges in the network and node traits</a:t>
            </a:r>
          </a:p>
        </p:txBody>
      </p:sp>
      <p:sp>
        <p:nvSpPr>
          <p:cNvPr id="28" name="TextBox 27">
            <a:extLst>
              <a:ext uri="{FF2B5EF4-FFF2-40B4-BE49-F238E27FC236}">
                <a16:creationId xmlns:a16="http://schemas.microsoft.com/office/drawing/2014/main" id="{29870AD1-06D9-4AAE-A4C4-E67406472ECF}"/>
              </a:ext>
            </a:extLst>
          </p:cNvPr>
          <p:cNvSpPr txBox="1"/>
          <p:nvPr/>
        </p:nvSpPr>
        <p:spPr>
          <a:xfrm>
            <a:off x="982026" y="2394379"/>
            <a:ext cx="10221683" cy="369332"/>
          </a:xfrm>
          <a:prstGeom prst="rect">
            <a:avLst/>
          </a:prstGeom>
          <a:noFill/>
        </p:spPr>
        <p:txBody>
          <a:bodyPr wrap="square" rtlCol="0">
            <a:spAutoFit/>
          </a:bodyPr>
          <a:lstStyle/>
          <a:p>
            <a:r>
              <a:rPr lang="en-US" dirty="0"/>
              <a:t>e.g. </a:t>
            </a:r>
            <a:r>
              <a:rPr lang="en-US" i="1" dirty="0"/>
              <a:t>Social network edges are more likely between individuals of the same sex and similar sizes</a:t>
            </a:r>
            <a:endParaRPr lang="fr-FR" i="1" dirty="0"/>
          </a:p>
        </p:txBody>
      </p:sp>
      <p:grpSp>
        <p:nvGrpSpPr>
          <p:cNvPr id="51" name="Group 50">
            <a:extLst>
              <a:ext uri="{FF2B5EF4-FFF2-40B4-BE49-F238E27FC236}">
                <a16:creationId xmlns:a16="http://schemas.microsoft.com/office/drawing/2014/main" id="{DDFFA461-931B-42D3-8599-6578248D2A8B}"/>
              </a:ext>
            </a:extLst>
          </p:cNvPr>
          <p:cNvGrpSpPr/>
          <p:nvPr/>
        </p:nvGrpSpPr>
        <p:grpSpPr>
          <a:xfrm>
            <a:off x="742764" y="3260262"/>
            <a:ext cx="1788767" cy="3083888"/>
            <a:chOff x="9277162" y="2195066"/>
            <a:chExt cx="1788767" cy="3083888"/>
          </a:xfrm>
        </p:grpSpPr>
        <p:cxnSp>
          <p:nvCxnSpPr>
            <p:cNvPr id="52" name="Straight Connector 51">
              <a:extLst>
                <a:ext uri="{FF2B5EF4-FFF2-40B4-BE49-F238E27FC236}">
                  <a16:creationId xmlns:a16="http://schemas.microsoft.com/office/drawing/2014/main" id="{BFB01FC0-A4FF-4B37-84C9-D31697E80931}"/>
                </a:ext>
              </a:extLst>
            </p:cNvPr>
            <p:cNvCxnSpPr>
              <a:cxnSpLocks/>
            </p:cNvCxnSpPr>
            <p:nvPr/>
          </p:nvCxnSpPr>
          <p:spPr>
            <a:xfrm>
              <a:off x="9448800" y="3146585"/>
              <a:ext cx="13626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D45D6B15-E411-48C4-B563-F5D8BE9140F5}"/>
                </a:ext>
              </a:extLst>
            </p:cNvPr>
            <p:cNvSpPr/>
            <p:nvPr/>
          </p:nvSpPr>
          <p:spPr>
            <a:xfrm>
              <a:off x="9277162"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Oval 53">
              <a:extLst>
                <a:ext uri="{FF2B5EF4-FFF2-40B4-BE49-F238E27FC236}">
                  <a16:creationId xmlns:a16="http://schemas.microsoft.com/office/drawing/2014/main" id="{ACE0F220-EE6A-41F5-A8D3-4B9D96F60C19}"/>
                </a:ext>
              </a:extLst>
            </p:cNvPr>
            <p:cNvSpPr/>
            <p:nvPr/>
          </p:nvSpPr>
          <p:spPr>
            <a:xfrm>
              <a:off x="10722653" y="29772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Oval 54">
              <a:extLst>
                <a:ext uri="{FF2B5EF4-FFF2-40B4-BE49-F238E27FC236}">
                  <a16:creationId xmlns:a16="http://schemas.microsoft.com/office/drawing/2014/main" id="{54773025-96B0-420E-AFC7-986644BF712D}"/>
                </a:ext>
              </a:extLst>
            </p:cNvPr>
            <p:cNvSpPr/>
            <p:nvPr/>
          </p:nvSpPr>
          <p:spPr>
            <a:xfrm>
              <a:off x="9769130" y="3580114"/>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val 55">
              <a:extLst>
                <a:ext uri="{FF2B5EF4-FFF2-40B4-BE49-F238E27FC236}">
                  <a16:creationId xmlns:a16="http://schemas.microsoft.com/office/drawing/2014/main" id="{5DBB0A1D-73ED-46E4-8CAA-32ED350ABD83}"/>
                </a:ext>
              </a:extLst>
            </p:cNvPr>
            <p:cNvSpPr/>
            <p:nvPr/>
          </p:nvSpPr>
          <p:spPr>
            <a:xfrm>
              <a:off x="10379377" y="383223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Oval 56">
              <a:extLst>
                <a:ext uri="{FF2B5EF4-FFF2-40B4-BE49-F238E27FC236}">
                  <a16:creationId xmlns:a16="http://schemas.microsoft.com/office/drawing/2014/main" id="{E876D390-A4C4-4E03-BF66-BB33ABA66C74}"/>
                </a:ext>
              </a:extLst>
            </p:cNvPr>
            <p:cNvSpPr/>
            <p:nvPr/>
          </p:nvSpPr>
          <p:spPr>
            <a:xfrm>
              <a:off x="9786837" y="4185280"/>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Oval 57">
              <a:extLst>
                <a:ext uri="{FF2B5EF4-FFF2-40B4-BE49-F238E27FC236}">
                  <a16:creationId xmlns:a16="http://schemas.microsoft.com/office/drawing/2014/main" id="{5AB9DB6C-4A13-4049-9AA3-5B1859C2F813}"/>
                </a:ext>
              </a:extLst>
            </p:cNvPr>
            <p:cNvSpPr/>
            <p:nvPr/>
          </p:nvSpPr>
          <p:spPr>
            <a:xfrm>
              <a:off x="10207739" y="4935678"/>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Oval 58">
              <a:extLst>
                <a:ext uri="{FF2B5EF4-FFF2-40B4-BE49-F238E27FC236}">
                  <a16:creationId xmlns:a16="http://schemas.microsoft.com/office/drawing/2014/main" id="{621E5BE3-D32A-47DD-9871-D6D52C168C0F}"/>
                </a:ext>
              </a:extLst>
            </p:cNvPr>
            <p:cNvSpPr/>
            <p:nvPr/>
          </p:nvSpPr>
          <p:spPr>
            <a:xfrm>
              <a:off x="9714895" y="2196423"/>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Oval 59">
              <a:extLst>
                <a:ext uri="{FF2B5EF4-FFF2-40B4-BE49-F238E27FC236}">
                  <a16:creationId xmlns:a16="http://schemas.microsoft.com/office/drawing/2014/main" id="{79D603B2-F897-4B11-956A-E0CD91B0A1FE}"/>
                </a:ext>
              </a:extLst>
            </p:cNvPr>
            <p:cNvSpPr/>
            <p:nvPr/>
          </p:nvSpPr>
          <p:spPr>
            <a:xfrm>
              <a:off x="10462871" y="2195066"/>
              <a:ext cx="343276" cy="34327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1" name="Straight Connector 60">
              <a:extLst>
                <a:ext uri="{FF2B5EF4-FFF2-40B4-BE49-F238E27FC236}">
                  <a16:creationId xmlns:a16="http://schemas.microsoft.com/office/drawing/2014/main" id="{461108BD-0248-4807-B624-891A860B23D5}"/>
                </a:ext>
              </a:extLst>
            </p:cNvPr>
            <p:cNvCxnSpPr>
              <a:cxnSpLocks/>
            </p:cNvCxnSpPr>
            <p:nvPr/>
          </p:nvCxnSpPr>
          <p:spPr>
            <a:xfrm flipV="1">
              <a:off x="9448800" y="2381719"/>
              <a:ext cx="437733" cy="7648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F5999F6-8B3C-4265-8F23-44E74C372A6B}"/>
                </a:ext>
              </a:extLst>
            </p:cNvPr>
            <p:cNvCxnSpPr>
              <a:cxnSpLocks/>
            </p:cNvCxnSpPr>
            <p:nvPr/>
          </p:nvCxnSpPr>
          <p:spPr>
            <a:xfrm flipH="1" flipV="1">
              <a:off x="9886533" y="2366705"/>
              <a:ext cx="747976" cy="102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4F38AF-9C18-47DA-89CE-20F79CB14502}"/>
                </a:ext>
              </a:extLst>
            </p:cNvPr>
            <p:cNvCxnSpPr>
              <a:cxnSpLocks/>
            </p:cNvCxnSpPr>
            <p:nvPr/>
          </p:nvCxnSpPr>
          <p:spPr>
            <a:xfrm>
              <a:off x="10634509" y="2381719"/>
              <a:ext cx="259782" cy="7831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8796780-3413-42B2-9A56-FB8896019954}"/>
                </a:ext>
              </a:extLst>
            </p:cNvPr>
            <p:cNvCxnSpPr>
              <a:cxnSpLocks/>
            </p:cNvCxnSpPr>
            <p:nvPr/>
          </p:nvCxnSpPr>
          <p:spPr>
            <a:xfrm>
              <a:off x="9448800" y="3164870"/>
              <a:ext cx="491968" cy="6068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885E598-0E67-416E-A466-D0115CACA82D}"/>
                </a:ext>
              </a:extLst>
            </p:cNvPr>
            <p:cNvCxnSpPr>
              <a:cxnSpLocks/>
            </p:cNvCxnSpPr>
            <p:nvPr/>
          </p:nvCxnSpPr>
          <p:spPr>
            <a:xfrm>
              <a:off x="9940768" y="3771756"/>
              <a:ext cx="17707" cy="5851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8877B73-9608-40D3-B84A-65BF2D2DBA1C}"/>
                </a:ext>
              </a:extLst>
            </p:cNvPr>
            <p:cNvCxnSpPr>
              <a:cxnSpLocks/>
            </p:cNvCxnSpPr>
            <p:nvPr/>
          </p:nvCxnSpPr>
          <p:spPr>
            <a:xfrm>
              <a:off x="9958475" y="3748551"/>
              <a:ext cx="592540" cy="255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794F3E5-394E-4BA5-A23B-AD79EFF44ACD}"/>
                </a:ext>
              </a:extLst>
            </p:cNvPr>
            <p:cNvCxnSpPr>
              <a:cxnSpLocks/>
            </p:cNvCxnSpPr>
            <p:nvPr/>
          </p:nvCxnSpPr>
          <p:spPr>
            <a:xfrm flipV="1">
              <a:off x="9969302" y="4003871"/>
              <a:ext cx="581713" cy="353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EF4EDCB-EE6C-4AF1-95C4-DB3CC699EB72}"/>
                </a:ext>
              </a:extLst>
            </p:cNvPr>
            <p:cNvCxnSpPr>
              <a:cxnSpLocks/>
            </p:cNvCxnSpPr>
            <p:nvPr/>
          </p:nvCxnSpPr>
          <p:spPr>
            <a:xfrm>
              <a:off x="9969302" y="4379070"/>
              <a:ext cx="427782" cy="728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D8A3D87-0904-42F1-83B3-B0349B7BF950}"/>
                </a:ext>
              </a:extLst>
            </p:cNvPr>
            <p:cNvCxnSpPr>
              <a:cxnSpLocks/>
            </p:cNvCxnSpPr>
            <p:nvPr/>
          </p:nvCxnSpPr>
          <p:spPr>
            <a:xfrm>
              <a:off x="9886533" y="2366704"/>
              <a:ext cx="664482" cy="1637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70" name="Table 4">
            <a:extLst>
              <a:ext uri="{FF2B5EF4-FFF2-40B4-BE49-F238E27FC236}">
                <a16:creationId xmlns:a16="http://schemas.microsoft.com/office/drawing/2014/main" id="{05A06F44-CB78-4F28-81E9-5E59D32CB412}"/>
              </a:ext>
            </a:extLst>
          </p:cNvPr>
          <p:cNvGraphicFramePr>
            <a:graphicFrameLocks noGrp="1"/>
          </p:cNvGraphicFramePr>
          <p:nvPr/>
        </p:nvGraphicFramePr>
        <p:xfrm>
          <a:off x="3099788" y="3230110"/>
          <a:ext cx="3657600" cy="313944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3633928271"/>
                    </a:ext>
                  </a:extLst>
                </a:gridCol>
                <a:gridCol w="731520">
                  <a:extLst>
                    <a:ext uri="{9D8B030D-6E8A-4147-A177-3AD203B41FA5}">
                      <a16:colId xmlns:a16="http://schemas.microsoft.com/office/drawing/2014/main" val="448717354"/>
                    </a:ext>
                  </a:extLst>
                </a:gridCol>
                <a:gridCol w="731520">
                  <a:extLst>
                    <a:ext uri="{9D8B030D-6E8A-4147-A177-3AD203B41FA5}">
                      <a16:colId xmlns:a16="http://schemas.microsoft.com/office/drawing/2014/main" val="4130169604"/>
                    </a:ext>
                  </a:extLst>
                </a:gridCol>
                <a:gridCol w="731520">
                  <a:extLst>
                    <a:ext uri="{9D8B030D-6E8A-4147-A177-3AD203B41FA5}">
                      <a16:colId xmlns:a16="http://schemas.microsoft.com/office/drawing/2014/main" val="566693594"/>
                    </a:ext>
                  </a:extLst>
                </a:gridCol>
                <a:gridCol w="731520">
                  <a:extLst>
                    <a:ext uri="{9D8B030D-6E8A-4147-A177-3AD203B41FA5}">
                      <a16:colId xmlns:a16="http://schemas.microsoft.com/office/drawing/2014/main" val="2956079013"/>
                    </a:ext>
                  </a:extLst>
                </a:gridCol>
              </a:tblGrid>
              <a:tr h="370840">
                <a:tc>
                  <a:txBody>
                    <a:bodyPr/>
                    <a:lstStyle/>
                    <a:p>
                      <a:pPr algn="ctr"/>
                      <a:r>
                        <a:rPr lang="en-US" sz="1400" dirty="0">
                          <a:solidFill>
                            <a:schemeClr val="accent4">
                              <a:lumMod val="60000"/>
                              <a:lumOff val="40000"/>
                            </a:schemeClr>
                          </a:solidFill>
                        </a:rPr>
                        <a:t>ID 1</a:t>
                      </a:r>
                      <a:endParaRPr lang="fr-FR" sz="1400" dirty="0">
                        <a:solidFill>
                          <a:schemeClr val="accent4">
                            <a:lumMod val="60000"/>
                            <a:lumOff val="40000"/>
                          </a:schemeClr>
                        </a:solidFill>
                      </a:endParaRPr>
                    </a:p>
                  </a:txBody>
                  <a:tcPr anchor="ctr">
                    <a:solidFill>
                      <a:schemeClr val="tx1"/>
                    </a:solidFill>
                  </a:tcPr>
                </a:tc>
                <a:tc>
                  <a:txBody>
                    <a:bodyPr/>
                    <a:lstStyle/>
                    <a:p>
                      <a:pPr algn="ctr"/>
                      <a:r>
                        <a:rPr lang="en-US" sz="1400" dirty="0">
                          <a:solidFill>
                            <a:schemeClr val="accent4">
                              <a:lumMod val="60000"/>
                              <a:lumOff val="40000"/>
                            </a:schemeClr>
                          </a:solidFill>
                        </a:rPr>
                        <a:t>ID 2</a:t>
                      </a:r>
                      <a:endParaRPr lang="fr-FR" sz="1400" dirty="0">
                        <a:solidFill>
                          <a:schemeClr val="accent4">
                            <a:lumMod val="60000"/>
                            <a:lumOff val="40000"/>
                          </a:schemeClr>
                        </a:solidFill>
                      </a:endParaRPr>
                    </a:p>
                  </a:txBody>
                  <a:tcPr anchor="ctr">
                    <a:solidFill>
                      <a:schemeClr val="tx1"/>
                    </a:solidFill>
                  </a:tcPr>
                </a:tc>
                <a:tc>
                  <a:txBody>
                    <a:bodyPr/>
                    <a:lstStyle/>
                    <a:p>
                      <a:pPr algn="ctr"/>
                      <a:r>
                        <a:rPr lang="en-US" sz="1400" dirty="0">
                          <a:solidFill>
                            <a:schemeClr val="accent4">
                              <a:lumMod val="60000"/>
                              <a:lumOff val="40000"/>
                            </a:schemeClr>
                          </a:solidFill>
                        </a:rPr>
                        <a:t>Weight</a:t>
                      </a:r>
                      <a:endParaRPr lang="fr-FR" sz="1400" dirty="0">
                        <a:solidFill>
                          <a:schemeClr val="accent4">
                            <a:lumMod val="60000"/>
                            <a:lumOff val="40000"/>
                          </a:schemeClr>
                        </a:solidFill>
                      </a:endParaRPr>
                    </a:p>
                  </a:txBody>
                  <a:tcPr anchor="ctr">
                    <a:solidFill>
                      <a:schemeClr val="tx1"/>
                    </a:solidFill>
                  </a:tcPr>
                </a:tc>
                <a:tc>
                  <a:txBody>
                    <a:bodyPr/>
                    <a:lstStyle/>
                    <a:p>
                      <a:pPr algn="ctr"/>
                      <a:r>
                        <a:rPr lang="en-US" sz="1400" dirty="0">
                          <a:solidFill>
                            <a:schemeClr val="accent4">
                              <a:lumMod val="60000"/>
                              <a:lumOff val="40000"/>
                            </a:schemeClr>
                          </a:solidFill>
                        </a:rPr>
                        <a:t>Sex</a:t>
                      </a:r>
                      <a:endParaRPr lang="fr-FR" sz="1400" dirty="0">
                        <a:solidFill>
                          <a:schemeClr val="accent4">
                            <a:lumMod val="60000"/>
                            <a:lumOff val="40000"/>
                          </a:schemeClr>
                        </a:solidFill>
                      </a:endParaRPr>
                    </a:p>
                  </a:txBody>
                  <a:tcPr anchor="ctr">
                    <a:solidFill>
                      <a:schemeClr val="tx1"/>
                    </a:solidFill>
                  </a:tcPr>
                </a:tc>
                <a:tc>
                  <a:txBody>
                    <a:bodyPr/>
                    <a:lstStyle/>
                    <a:p>
                      <a:pPr algn="ctr"/>
                      <a:r>
                        <a:rPr lang="en-US" sz="1000" dirty="0">
                          <a:solidFill>
                            <a:schemeClr val="accent4">
                              <a:lumMod val="60000"/>
                              <a:lumOff val="40000"/>
                            </a:schemeClr>
                          </a:solidFill>
                        </a:rPr>
                        <a:t>Size difference</a:t>
                      </a:r>
                      <a:endParaRPr lang="fr-FR" sz="1000" dirty="0">
                        <a:solidFill>
                          <a:schemeClr val="accent4">
                            <a:lumMod val="60000"/>
                            <a:lumOff val="40000"/>
                          </a:schemeClr>
                        </a:solidFill>
                      </a:endParaRPr>
                    </a:p>
                  </a:txBody>
                  <a:tcPr anchor="ctr">
                    <a:solidFill>
                      <a:schemeClr val="tx1"/>
                    </a:solidFill>
                  </a:tcPr>
                </a:tc>
                <a:extLst>
                  <a:ext uri="{0D108BD9-81ED-4DB2-BD59-A6C34878D82A}">
                    <a16:rowId xmlns:a16="http://schemas.microsoft.com/office/drawing/2014/main" val="3390748688"/>
                  </a:ext>
                </a:extLst>
              </a:tr>
              <a:tr h="0">
                <a:tc>
                  <a:txBody>
                    <a:bodyPr/>
                    <a:lstStyle/>
                    <a:p>
                      <a:pPr algn="ctr"/>
                      <a:r>
                        <a:rPr lang="en-US" sz="1200" dirty="0"/>
                        <a:t>1</a:t>
                      </a:r>
                      <a:endParaRPr lang="fr-FR" sz="1200" dirty="0"/>
                    </a:p>
                  </a:txBody>
                  <a:tcPr>
                    <a:solidFill>
                      <a:schemeClr val="bg1">
                        <a:lumMod val="95000"/>
                      </a:schemeClr>
                    </a:solidFill>
                  </a:tcPr>
                </a:tc>
                <a:tc>
                  <a:txBody>
                    <a:bodyPr/>
                    <a:lstStyle/>
                    <a:p>
                      <a:pPr algn="ctr"/>
                      <a:r>
                        <a:rPr lang="en-US" sz="1200" dirty="0"/>
                        <a:t>2</a:t>
                      </a:r>
                      <a:endParaRPr lang="fr-FR" sz="1200" dirty="0"/>
                    </a:p>
                  </a:txBody>
                  <a:tcPr>
                    <a:solidFill>
                      <a:schemeClr val="bg1">
                        <a:lumMod val="95000"/>
                      </a:schemeClr>
                    </a:solidFill>
                  </a:tcPr>
                </a:tc>
                <a:tc>
                  <a:txBody>
                    <a:bodyPr/>
                    <a:lstStyle/>
                    <a:p>
                      <a:pPr algn="ctr"/>
                      <a:r>
                        <a:rPr lang="fr-FR" sz="1200" dirty="0"/>
                        <a:t>3</a:t>
                      </a:r>
                    </a:p>
                  </a:txBody>
                  <a:tcPr>
                    <a:solidFill>
                      <a:schemeClr val="bg1">
                        <a:lumMod val="95000"/>
                      </a:schemeClr>
                    </a:solidFill>
                  </a:tcPr>
                </a:tc>
                <a:tc>
                  <a:txBody>
                    <a:bodyPr/>
                    <a:lstStyle/>
                    <a:p>
                      <a:pPr algn="ctr"/>
                      <a:r>
                        <a:rPr lang="en-US" sz="1200" dirty="0"/>
                        <a:t>MM</a:t>
                      </a:r>
                      <a:endParaRPr lang="fr-FR" sz="1200" dirty="0"/>
                    </a:p>
                  </a:txBody>
                  <a:tcPr>
                    <a:solidFill>
                      <a:schemeClr val="bg1">
                        <a:lumMod val="95000"/>
                      </a:schemeClr>
                    </a:solidFill>
                  </a:tcPr>
                </a:tc>
                <a:tc>
                  <a:txBody>
                    <a:bodyPr/>
                    <a:lstStyle/>
                    <a:p>
                      <a:pPr algn="ctr"/>
                      <a:r>
                        <a:rPr lang="en-US" sz="1200" dirty="0"/>
                        <a:t>0.32</a:t>
                      </a:r>
                      <a:endParaRPr lang="fr-FR" sz="1200" dirty="0"/>
                    </a:p>
                  </a:txBody>
                  <a:tcPr>
                    <a:solidFill>
                      <a:schemeClr val="bg1">
                        <a:lumMod val="95000"/>
                      </a:schemeClr>
                    </a:solidFill>
                  </a:tcPr>
                </a:tc>
                <a:extLst>
                  <a:ext uri="{0D108BD9-81ED-4DB2-BD59-A6C34878D82A}">
                    <a16:rowId xmlns:a16="http://schemas.microsoft.com/office/drawing/2014/main" val="551088812"/>
                  </a:ext>
                </a:extLst>
              </a:tr>
              <a:tr h="0">
                <a:tc>
                  <a:txBody>
                    <a:bodyPr/>
                    <a:lstStyle/>
                    <a:p>
                      <a:pPr algn="ctr"/>
                      <a:r>
                        <a:rPr lang="en-US" sz="1200" dirty="0"/>
                        <a:t>1</a:t>
                      </a:r>
                      <a:endParaRPr lang="fr-FR" sz="1200" dirty="0"/>
                    </a:p>
                  </a:txBody>
                  <a:tcPr>
                    <a:solidFill>
                      <a:schemeClr val="bg1">
                        <a:lumMod val="95000"/>
                      </a:schemeClr>
                    </a:solidFill>
                  </a:tcPr>
                </a:tc>
                <a:tc>
                  <a:txBody>
                    <a:bodyPr/>
                    <a:lstStyle/>
                    <a:p>
                      <a:pPr algn="ctr"/>
                      <a:r>
                        <a:rPr lang="en-US" sz="1200" dirty="0"/>
                        <a:t>3</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MF</a:t>
                      </a:r>
                      <a:endParaRPr lang="fr-FR" sz="1200" dirty="0"/>
                    </a:p>
                  </a:txBody>
                  <a:tcPr>
                    <a:solidFill>
                      <a:schemeClr val="bg1">
                        <a:lumMod val="95000"/>
                      </a:schemeClr>
                    </a:solidFill>
                  </a:tcPr>
                </a:tc>
                <a:tc>
                  <a:txBody>
                    <a:bodyPr/>
                    <a:lstStyle/>
                    <a:p>
                      <a:pPr algn="ctr"/>
                      <a:r>
                        <a:rPr lang="en-US" sz="1200" dirty="0"/>
                        <a:t>0.47</a:t>
                      </a:r>
                      <a:endParaRPr lang="fr-FR" sz="1200" dirty="0"/>
                    </a:p>
                  </a:txBody>
                  <a:tcPr>
                    <a:solidFill>
                      <a:schemeClr val="bg1">
                        <a:lumMod val="95000"/>
                      </a:schemeClr>
                    </a:solidFill>
                  </a:tcPr>
                </a:tc>
                <a:extLst>
                  <a:ext uri="{0D108BD9-81ED-4DB2-BD59-A6C34878D82A}">
                    <a16:rowId xmlns:a16="http://schemas.microsoft.com/office/drawing/2014/main" val="2745773553"/>
                  </a:ext>
                </a:extLst>
              </a:tr>
              <a:tr h="0">
                <a:tc>
                  <a:txBody>
                    <a:bodyPr/>
                    <a:lstStyle/>
                    <a:p>
                      <a:pPr algn="ctr"/>
                      <a:r>
                        <a:rPr lang="en-US" sz="1200" dirty="0"/>
                        <a:t>1</a:t>
                      </a:r>
                      <a:endParaRPr lang="fr-FR" sz="1200" dirty="0"/>
                    </a:p>
                  </a:txBody>
                  <a:tcPr>
                    <a:solidFill>
                      <a:schemeClr val="bg1">
                        <a:lumMod val="95000"/>
                      </a:schemeClr>
                    </a:solidFill>
                  </a:tcPr>
                </a:tc>
                <a:tc>
                  <a:txBody>
                    <a:bodyPr/>
                    <a:lstStyle/>
                    <a:p>
                      <a:pPr algn="ctr"/>
                      <a:r>
                        <a:rPr lang="en-US" sz="1200" dirty="0"/>
                        <a:t>6</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MF</a:t>
                      </a:r>
                      <a:endParaRPr lang="fr-FR" sz="1200" dirty="0"/>
                    </a:p>
                  </a:txBody>
                  <a:tcPr>
                    <a:solidFill>
                      <a:schemeClr val="bg1">
                        <a:lumMod val="95000"/>
                      </a:schemeClr>
                    </a:solidFill>
                  </a:tcPr>
                </a:tc>
                <a:tc>
                  <a:txBody>
                    <a:bodyPr/>
                    <a:lstStyle/>
                    <a:p>
                      <a:pPr algn="ctr"/>
                      <a:r>
                        <a:rPr lang="en-US" sz="1200" dirty="0"/>
                        <a:t>0.12</a:t>
                      </a:r>
                      <a:endParaRPr lang="fr-FR" sz="1200" dirty="0"/>
                    </a:p>
                  </a:txBody>
                  <a:tcPr>
                    <a:solidFill>
                      <a:schemeClr val="bg1">
                        <a:lumMod val="95000"/>
                      </a:schemeClr>
                    </a:solidFill>
                  </a:tcPr>
                </a:tc>
                <a:extLst>
                  <a:ext uri="{0D108BD9-81ED-4DB2-BD59-A6C34878D82A}">
                    <a16:rowId xmlns:a16="http://schemas.microsoft.com/office/drawing/2014/main" val="3019948275"/>
                  </a:ext>
                </a:extLst>
              </a:tr>
              <a:tr h="0">
                <a:tc>
                  <a:txBody>
                    <a:bodyPr/>
                    <a:lstStyle/>
                    <a:p>
                      <a:pPr algn="ctr"/>
                      <a:r>
                        <a:rPr lang="en-US" sz="1200" dirty="0"/>
                        <a:t>2</a:t>
                      </a:r>
                      <a:endParaRPr lang="fr-FR" sz="1200" dirty="0"/>
                    </a:p>
                  </a:txBody>
                  <a:tcPr>
                    <a:solidFill>
                      <a:schemeClr val="bg1">
                        <a:lumMod val="95000"/>
                      </a:schemeClr>
                    </a:solidFill>
                  </a:tcPr>
                </a:tc>
                <a:tc>
                  <a:txBody>
                    <a:bodyPr/>
                    <a:lstStyle/>
                    <a:p>
                      <a:pPr algn="ctr"/>
                      <a:r>
                        <a:rPr lang="en-US" sz="1200" dirty="0"/>
                        <a:t>4</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MM</a:t>
                      </a:r>
                      <a:endParaRPr lang="fr-FR" sz="1200" dirty="0"/>
                    </a:p>
                  </a:txBody>
                  <a:tcPr>
                    <a:solidFill>
                      <a:schemeClr val="bg1">
                        <a:lumMod val="95000"/>
                      </a:schemeClr>
                    </a:solidFill>
                  </a:tcPr>
                </a:tc>
                <a:tc>
                  <a:txBody>
                    <a:bodyPr/>
                    <a:lstStyle/>
                    <a:p>
                      <a:pPr algn="ctr"/>
                      <a:r>
                        <a:rPr lang="en-US" sz="1200" dirty="0"/>
                        <a:t>0.05</a:t>
                      </a:r>
                      <a:endParaRPr lang="fr-FR" sz="1200" dirty="0"/>
                    </a:p>
                  </a:txBody>
                  <a:tcPr>
                    <a:solidFill>
                      <a:schemeClr val="bg1">
                        <a:lumMod val="95000"/>
                      </a:schemeClr>
                    </a:solidFill>
                  </a:tcPr>
                </a:tc>
                <a:extLst>
                  <a:ext uri="{0D108BD9-81ED-4DB2-BD59-A6C34878D82A}">
                    <a16:rowId xmlns:a16="http://schemas.microsoft.com/office/drawing/2014/main" val="1806561758"/>
                  </a:ext>
                </a:extLst>
              </a:tr>
              <a:tr h="0">
                <a:tc>
                  <a:txBody>
                    <a:bodyPr/>
                    <a:lstStyle/>
                    <a:p>
                      <a:pPr algn="ctr"/>
                      <a:r>
                        <a:rPr lang="en-US" sz="1200" dirty="0"/>
                        <a:t>3</a:t>
                      </a:r>
                      <a:endParaRPr lang="fr-FR" sz="1200" dirty="0"/>
                    </a:p>
                  </a:txBody>
                  <a:tcPr>
                    <a:solidFill>
                      <a:schemeClr val="bg1">
                        <a:lumMod val="95000"/>
                      </a:schemeClr>
                    </a:solidFill>
                  </a:tcPr>
                </a:tc>
                <a:tc>
                  <a:txBody>
                    <a:bodyPr/>
                    <a:lstStyle/>
                    <a:p>
                      <a:pPr algn="ctr"/>
                      <a:r>
                        <a:rPr lang="en-US" sz="1200" dirty="0"/>
                        <a:t>4</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MF</a:t>
                      </a:r>
                      <a:endParaRPr lang="fr-FR" sz="1200" dirty="0"/>
                    </a:p>
                  </a:txBody>
                  <a:tcPr>
                    <a:solidFill>
                      <a:schemeClr val="bg1">
                        <a:lumMod val="95000"/>
                      </a:schemeClr>
                    </a:solidFill>
                  </a:tcPr>
                </a:tc>
                <a:tc>
                  <a:txBody>
                    <a:bodyPr/>
                    <a:lstStyle/>
                    <a:p>
                      <a:pPr algn="ctr"/>
                      <a:r>
                        <a:rPr lang="en-US" sz="1200" dirty="0"/>
                        <a:t>0.14</a:t>
                      </a:r>
                      <a:endParaRPr lang="fr-FR" sz="1200" dirty="0"/>
                    </a:p>
                  </a:txBody>
                  <a:tcPr>
                    <a:solidFill>
                      <a:schemeClr val="bg1">
                        <a:lumMod val="95000"/>
                      </a:schemeClr>
                    </a:solidFill>
                  </a:tcPr>
                </a:tc>
                <a:extLst>
                  <a:ext uri="{0D108BD9-81ED-4DB2-BD59-A6C34878D82A}">
                    <a16:rowId xmlns:a16="http://schemas.microsoft.com/office/drawing/2014/main" val="2008170764"/>
                  </a:ext>
                </a:extLst>
              </a:tr>
              <a:tr h="0">
                <a:tc>
                  <a:txBody>
                    <a:bodyPr/>
                    <a:lstStyle/>
                    <a:p>
                      <a:pPr algn="ctr"/>
                      <a:r>
                        <a:rPr lang="en-US" sz="1200" dirty="0"/>
                        <a:t>3</a:t>
                      </a:r>
                      <a:endParaRPr lang="fr-FR" sz="1200" dirty="0"/>
                    </a:p>
                  </a:txBody>
                  <a:tcPr>
                    <a:solidFill>
                      <a:schemeClr val="bg1">
                        <a:lumMod val="95000"/>
                      </a:schemeClr>
                    </a:solidFill>
                  </a:tcPr>
                </a:tc>
                <a:tc>
                  <a:txBody>
                    <a:bodyPr/>
                    <a:lstStyle/>
                    <a:p>
                      <a:pPr algn="ctr"/>
                      <a:r>
                        <a:rPr lang="en-US" sz="1200" dirty="0"/>
                        <a:t>5</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FF</a:t>
                      </a:r>
                      <a:endParaRPr lang="fr-FR" sz="1200" dirty="0"/>
                    </a:p>
                  </a:txBody>
                  <a:tcPr>
                    <a:solidFill>
                      <a:schemeClr val="bg1">
                        <a:lumMod val="95000"/>
                      </a:schemeClr>
                    </a:solidFill>
                  </a:tcPr>
                </a:tc>
                <a:tc>
                  <a:txBody>
                    <a:bodyPr/>
                    <a:lstStyle/>
                    <a:p>
                      <a:pPr algn="ctr"/>
                      <a:r>
                        <a:rPr lang="en-US" sz="1200" dirty="0"/>
                        <a:t>0.20</a:t>
                      </a:r>
                      <a:endParaRPr lang="fr-FR" sz="1200" dirty="0"/>
                    </a:p>
                  </a:txBody>
                  <a:tcPr>
                    <a:solidFill>
                      <a:schemeClr val="bg1">
                        <a:lumMod val="95000"/>
                      </a:schemeClr>
                    </a:solidFill>
                  </a:tcPr>
                </a:tc>
                <a:extLst>
                  <a:ext uri="{0D108BD9-81ED-4DB2-BD59-A6C34878D82A}">
                    <a16:rowId xmlns:a16="http://schemas.microsoft.com/office/drawing/2014/main" val="2456207752"/>
                  </a:ext>
                </a:extLst>
              </a:tr>
              <a:tr h="0">
                <a:tc>
                  <a:txBody>
                    <a:bodyPr/>
                    <a:lstStyle/>
                    <a:p>
                      <a:pPr algn="ctr"/>
                      <a:r>
                        <a:rPr lang="en-US" sz="1200" dirty="0"/>
                        <a:t>5</a:t>
                      </a:r>
                      <a:endParaRPr lang="fr-FR" sz="1200" dirty="0"/>
                    </a:p>
                  </a:txBody>
                  <a:tcPr>
                    <a:solidFill>
                      <a:schemeClr val="bg1">
                        <a:lumMod val="95000"/>
                      </a:schemeClr>
                    </a:solidFill>
                  </a:tcPr>
                </a:tc>
                <a:tc>
                  <a:txBody>
                    <a:bodyPr/>
                    <a:lstStyle/>
                    <a:p>
                      <a:pPr algn="ctr"/>
                      <a:r>
                        <a:rPr lang="en-US" sz="1200" dirty="0"/>
                        <a:t>6</a:t>
                      </a:r>
                      <a:endParaRPr lang="fr-FR" sz="1200" dirty="0"/>
                    </a:p>
                  </a:txBody>
                  <a:tcPr>
                    <a:solidFill>
                      <a:schemeClr val="bg1">
                        <a:lumMod val="95000"/>
                      </a:schemeClr>
                    </a:solidFill>
                  </a:tcPr>
                </a:tc>
                <a:tc>
                  <a:txBody>
                    <a:bodyPr/>
                    <a:lstStyle/>
                    <a:p>
                      <a:pPr algn="ctr"/>
                      <a:r>
                        <a:rPr lang="fr-FR" sz="1200" dirty="0"/>
                        <a:t>2</a:t>
                      </a:r>
                    </a:p>
                  </a:txBody>
                  <a:tcPr>
                    <a:solidFill>
                      <a:schemeClr val="bg1">
                        <a:lumMod val="95000"/>
                      </a:schemeClr>
                    </a:solidFill>
                  </a:tcPr>
                </a:tc>
                <a:tc>
                  <a:txBody>
                    <a:bodyPr/>
                    <a:lstStyle/>
                    <a:p>
                      <a:pPr algn="ctr"/>
                      <a:r>
                        <a:rPr lang="en-US" sz="1200" dirty="0"/>
                        <a:t>FF</a:t>
                      </a:r>
                      <a:endParaRPr lang="fr-FR" sz="1200" dirty="0"/>
                    </a:p>
                  </a:txBody>
                  <a:tcPr>
                    <a:solidFill>
                      <a:schemeClr val="bg1">
                        <a:lumMod val="95000"/>
                      </a:schemeClr>
                    </a:solidFill>
                  </a:tcPr>
                </a:tc>
                <a:tc>
                  <a:txBody>
                    <a:bodyPr/>
                    <a:lstStyle/>
                    <a:p>
                      <a:pPr algn="ctr"/>
                      <a:r>
                        <a:rPr lang="en-US" sz="1200" dirty="0"/>
                        <a:t>0.36</a:t>
                      </a:r>
                      <a:endParaRPr lang="fr-FR" sz="1200" dirty="0"/>
                    </a:p>
                  </a:txBody>
                  <a:tcPr>
                    <a:solidFill>
                      <a:schemeClr val="bg1">
                        <a:lumMod val="95000"/>
                      </a:schemeClr>
                    </a:solidFill>
                  </a:tcPr>
                </a:tc>
                <a:extLst>
                  <a:ext uri="{0D108BD9-81ED-4DB2-BD59-A6C34878D82A}">
                    <a16:rowId xmlns:a16="http://schemas.microsoft.com/office/drawing/2014/main" val="440282349"/>
                  </a:ext>
                </a:extLst>
              </a:tr>
              <a:tr h="0">
                <a:tc>
                  <a:txBody>
                    <a:bodyPr/>
                    <a:lstStyle/>
                    <a:p>
                      <a:pPr algn="ctr"/>
                      <a:r>
                        <a:rPr lang="en-US" sz="1200" dirty="0"/>
                        <a:t>5</a:t>
                      </a:r>
                      <a:endParaRPr lang="fr-FR" sz="1200" dirty="0"/>
                    </a:p>
                  </a:txBody>
                  <a:tcPr>
                    <a:solidFill>
                      <a:schemeClr val="bg1">
                        <a:lumMod val="95000"/>
                      </a:schemeClr>
                    </a:solidFill>
                  </a:tcPr>
                </a:tc>
                <a:tc>
                  <a:txBody>
                    <a:bodyPr/>
                    <a:lstStyle/>
                    <a:p>
                      <a:pPr algn="ctr"/>
                      <a:r>
                        <a:rPr lang="en-US" sz="1200" dirty="0"/>
                        <a:t>7</a:t>
                      </a:r>
                      <a:endParaRPr lang="fr-FR" sz="1200" dirty="0"/>
                    </a:p>
                  </a:txBody>
                  <a:tcPr>
                    <a:solidFill>
                      <a:schemeClr val="bg1">
                        <a:lumMod val="95000"/>
                      </a:schemeClr>
                    </a:solidFill>
                  </a:tcPr>
                </a:tc>
                <a:tc>
                  <a:txBody>
                    <a:bodyPr/>
                    <a:lstStyle/>
                    <a:p>
                      <a:pPr algn="ctr"/>
                      <a:r>
                        <a:rPr lang="fr-FR" sz="1200" dirty="0"/>
                        <a:t>2</a:t>
                      </a:r>
                    </a:p>
                  </a:txBody>
                  <a:tcPr>
                    <a:solidFill>
                      <a:schemeClr val="bg1">
                        <a:lumMod val="95000"/>
                      </a:schemeClr>
                    </a:solidFill>
                  </a:tcPr>
                </a:tc>
                <a:tc>
                  <a:txBody>
                    <a:bodyPr/>
                    <a:lstStyle/>
                    <a:p>
                      <a:pPr algn="ctr"/>
                      <a:r>
                        <a:rPr lang="en-US" sz="1200" dirty="0"/>
                        <a:t>FF</a:t>
                      </a:r>
                      <a:endParaRPr lang="fr-FR" sz="1200" dirty="0"/>
                    </a:p>
                  </a:txBody>
                  <a:tcPr>
                    <a:solidFill>
                      <a:schemeClr val="bg1">
                        <a:lumMod val="95000"/>
                      </a:schemeClr>
                    </a:solidFill>
                  </a:tcPr>
                </a:tc>
                <a:tc>
                  <a:txBody>
                    <a:bodyPr/>
                    <a:lstStyle/>
                    <a:p>
                      <a:pPr algn="ctr"/>
                      <a:r>
                        <a:rPr lang="en-US" sz="1200" dirty="0"/>
                        <a:t>0.11</a:t>
                      </a:r>
                      <a:endParaRPr lang="fr-FR" sz="1200" dirty="0"/>
                    </a:p>
                  </a:txBody>
                  <a:tcPr>
                    <a:solidFill>
                      <a:schemeClr val="bg1">
                        <a:lumMod val="95000"/>
                      </a:schemeClr>
                    </a:solidFill>
                  </a:tcPr>
                </a:tc>
                <a:extLst>
                  <a:ext uri="{0D108BD9-81ED-4DB2-BD59-A6C34878D82A}">
                    <a16:rowId xmlns:a16="http://schemas.microsoft.com/office/drawing/2014/main" val="1697648120"/>
                  </a:ext>
                </a:extLst>
              </a:tr>
              <a:tr h="0">
                <a:tc>
                  <a:txBody>
                    <a:bodyPr/>
                    <a:lstStyle/>
                    <a:p>
                      <a:pPr algn="ctr"/>
                      <a:r>
                        <a:rPr lang="en-US" sz="1200" dirty="0"/>
                        <a:t>6</a:t>
                      </a:r>
                      <a:endParaRPr lang="fr-FR" sz="1200" dirty="0"/>
                    </a:p>
                  </a:txBody>
                  <a:tcPr>
                    <a:solidFill>
                      <a:schemeClr val="bg1">
                        <a:lumMod val="95000"/>
                      </a:schemeClr>
                    </a:solidFill>
                  </a:tcPr>
                </a:tc>
                <a:tc>
                  <a:txBody>
                    <a:bodyPr/>
                    <a:lstStyle/>
                    <a:p>
                      <a:pPr algn="ctr"/>
                      <a:r>
                        <a:rPr lang="en-US" sz="1200" dirty="0"/>
                        <a:t>7</a:t>
                      </a:r>
                      <a:endParaRPr lang="fr-FR" sz="1200" dirty="0"/>
                    </a:p>
                  </a:txBody>
                  <a:tcPr>
                    <a:solidFill>
                      <a:schemeClr val="bg1">
                        <a:lumMod val="95000"/>
                      </a:schemeClr>
                    </a:solidFill>
                  </a:tcPr>
                </a:tc>
                <a:tc>
                  <a:txBody>
                    <a:bodyPr/>
                    <a:lstStyle/>
                    <a:p>
                      <a:pPr algn="ctr"/>
                      <a:r>
                        <a:rPr lang="fr-FR" sz="1200" dirty="0"/>
                        <a:t>2</a:t>
                      </a:r>
                    </a:p>
                  </a:txBody>
                  <a:tcPr>
                    <a:solidFill>
                      <a:schemeClr val="bg1">
                        <a:lumMod val="95000"/>
                      </a:schemeClr>
                    </a:solidFill>
                  </a:tcPr>
                </a:tc>
                <a:tc>
                  <a:txBody>
                    <a:bodyPr/>
                    <a:lstStyle/>
                    <a:p>
                      <a:pPr algn="ctr"/>
                      <a:r>
                        <a:rPr lang="en-US" sz="1200" dirty="0"/>
                        <a:t>FF</a:t>
                      </a:r>
                      <a:endParaRPr lang="fr-FR" sz="1200" dirty="0"/>
                    </a:p>
                  </a:txBody>
                  <a:tcPr>
                    <a:solidFill>
                      <a:schemeClr val="bg1">
                        <a:lumMod val="95000"/>
                      </a:schemeClr>
                    </a:solidFill>
                  </a:tcPr>
                </a:tc>
                <a:tc>
                  <a:txBody>
                    <a:bodyPr/>
                    <a:lstStyle/>
                    <a:p>
                      <a:pPr algn="ctr"/>
                      <a:r>
                        <a:rPr lang="en-US" sz="1200" dirty="0"/>
                        <a:t>0.09</a:t>
                      </a:r>
                      <a:endParaRPr lang="fr-FR" sz="1200" dirty="0"/>
                    </a:p>
                  </a:txBody>
                  <a:tcPr>
                    <a:solidFill>
                      <a:schemeClr val="bg1">
                        <a:lumMod val="95000"/>
                      </a:schemeClr>
                    </a:solidFill>
                  </a:tcPr>
                </a:tc>
                <a:extLst>
                  <a:ext uri="{0D108BD9-81ED-4DB2-BD59-A6C34878D82A}">
                    <a16:rowId xmlns:a16="http://schemas.microsoft.com/office/drawing/2014/main" val="1414656967"/>
                  </a:ext>
                </a:extLst>
              </a:tr>
              <a:tr h="0">
                <a:tc>
                  <a:txBody>
                    <a:bodyPr/>
                    <a:lstStyle/>
                    <a:p>
                      <a:pPr algn="ctr"/>
                      <a:r>
                        <a:rPr lang="en-US" sz="1200" dirty="0"/>
                        <a:t>7</a:t>
                      </a:r>
                      <a:endParaRPr lang="fr-FR" sz="1200" dirty="0"/>
                    </a:p>
                  </a:txBody>
                  <a:tcPr>
                    <a:solidFill>
                      <a:schemeClr val="bg1">
                        <a:lumMod val="95000"/>
                      </a:schemeClr>
                    </a:solidFill>
                  </a:tcPr>
                </a:tc>
                <a:tc>
                  <a:txBody>
                    <a:bodyPr/>
                    <a:lstStyle/>
                    <a:p>
                      <a:pPr algn="ctr"/>
                      <a:r>
                        <a:rPr lang="en-US" sz="1200" dirty="0"/>
                        <a:t>8</a:t>
                      </a:r>
                      <a:endParaRPr lang="fr-FR" sz="1200" dirty="0"/>
                    </a:p>
                  </a:txBody>
                  <a:tcPr>
                    <a:solidFill>
                      <a:schemeClr val="bg1">
                        <a:lumMod val="95000"/>
                      </a:schemeClr>
                    </a:solidFill>
                  </a:tcPr>
                </a:tc>
                <a:tc>
                  <a:txBody>
                    <a:bodyPr/>
                    <a:lstStyle/>
                    <a:p>
                      <a:pPr algn="ctr"/>
                      <a:r>
                        <a:rPr lang="fr-FR" sz="1200" dirty="0"/>
                        <a:t>1</a:t>
                      </a:r>
                    </a:p>
                  </a:txBody>
                  <a:tcPr>
                    <a:solidFill>
                      <a:schemeClr val="bg1">
                        <a:lumMod val="95000"/>
                      </a:schemeClr>
                    </a:solidFill>
                  </a:tcPr>
                </a:tc>
                <a:tc>
                  <a:txBody>
                    <a:bodyPr/>
                    <a:lstStyle/>
                    <a:p>
                      <a:pPr algn="ctr"/>
                      <a:r>
                        <a:rPr lang="en-US" sz="1200" dirty="0"/>
                        <a:t>MF</a:t>
                      </a:r>
                      <a:endParaRPr lang="fr-FR" sz="1200" dirty="0"/>
                    </a:p>
                  </a:txBody>
                  <a:tcPr>
                    <a:solidFill>
                      <a:schemeClr val="bg1">
                        <a:lumMod val="95000"/>
                      </a:schemeClr>
                    </a:solidFill>
                  </a:tcPr>
                </a:tc>
                <a:tc>
                  <a:txBody>
                    <a:bodyPr/>
                    <a:lstStyle/>
                    <a:p>
                      <a:pPr algn="ctr"/>
                      <a:r>
                        <a:rPr lang="en-US" sz="1200" dirty="0"/>
                        <a:t>0.02</a:t>
                      </a:r>
                      <a:endParaRPr lang="fr-FR" sz="1200" dirty="0"/>
                    </a:p>
                  </a:txBody>
                  <a:tcPr>
                    <a:solidFill>
                      <a:schemeClr val="bg1">
                        <a:lumMod val="95000"/>
                      </a:schemeClr>
                    </a:solidFill>
                  </a:tcPr>
                </a:tc>
                <a:extLst>
                  <a:ext uri="{0D108BD9-81ED-4DB2-BD59-A6C34878D82A}">
                    <a16:rowId xmlns:a16="http://schemas.microsoft.com/office/drawing/2014/main" val="3617806729"/>
                  </a:ext>
                </a:extLst>
              </a:tr>
            </a:tbl>
          </a:graphicData>
        </a:graphic>
      </p:graphicFrame>
      <p:sp>
        <p:nvSpPr>
          <p:cNvPr id="71" name="TextBox 70">
            <a:extLst>
              <a:ext uri="{FF2B5EF4-FFF2-40B4-BE49-F238E27FC236}">
                <a16:creationId xmlns:a16="http://schemas.microsoft.com/office/drawing/2014/main" id="{5F750F7F-481E-4637-A8EB-971FBA4530C5}"/>
              </a:ext>
            </a:extLst>
          </p:cNvPr>
          <p:cNvSpPr txBox="1"/>
          <p:nvPr/>
        </p:nvSpPr>
        <p:spPr>
          <a:xfrm>
            <a:off x="7478310" y="3091038"/>
            <a:ext cx="4404536" cy="3108543"/>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400" b="1" dirty="0"/>
              <a:t>Multiple-membership random effects </a:t>
            </a:r>
            <a:r>
              <a:rPr lang="en-US" sz="2400" dirty="0"/>
              <a:t>can help control for non-independence in dyadic regressions</a:t>
            </a:r>
          </a:p>
          <a:p>
            <a:endParaRPr lang="en-US" sz="2000" dirty="0"/>
          </a:p>
          <a:p>
            <a:r>
              <a:rPr lang="en-US" sz="2000" dirty="0"/>
              <a:t>Possible using </a:t>
            </a:r>
            <a:r>
              <a:rPr lang="en-US" sz="2000" b="1" i="1" dirty="0"/>
              <a:t>brms </a:t>
            </a:r>
            <a:r>
              <a:rPr lang="en-US" sz="2000" dirty="0"/>
              <a:t>(more user friendly)</a:t>
            </a:r>
            <a:endParaRPr lang="en-US" sz="2000" b="1" i="1" dirty="0"/>
          </a:p>
          <a:p>
            <a:endParaRPr lang="en-US" sz="2000" dirty="0"/>
          </a:p>
          <a:p>
            <a:r>
              <a:rPr lang="en-US" sz="2000" i="1" dirty="0"/>
              <a:t>Or using other Bayesian modelling frameworks (INLA, Stan, Nimble etc.)</a:t>
            </a:r>
          </a:p>
        </p:txBody>
      </p:sp>
    </p:spTree>
    <p:extLst>
      <p:ext uri="{BB962C8B-B14F-4D97-AF65-F5344CB8AC3E}">
        <p14:creationId xmlns:p14="http://schemas.microsoft.com/office/powerpoint/2010/main" val="30709636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06FBAE3C-3B8C-45CD-B315-8C5387604A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60777" y="61588"/>
            <a:ext cx="444138" cy="430822"/>
          </a:xfrm>
          <a:prstGeom prst="rect">
            <a:avLst/>
          </a:prstGeom>
        </p:spPr>
      </p:pic>
      <p:sp>
        <p:nvSpPr>
          <p:cNvPr id="8" name="TextBox 7">
            <a:extLst>
              <a:ext uri="{FF2B5EF4-FFF2-40B4-BE49-F238E27FC236}">
                <a16:creationId xmlns:a16="http://schemas.microsoft.com/office/drawing/2014/main" id="{7E602986-6F72-4A43-954F-C71F6B51EF34}"/>
              </a:ext>
            </a:extLst>
          </p:cNvPr>
          <p:cNvSpPr txBox="1"/>
          <p:nvPr/>
        </p:nvSpPr>
        <p:spPr>
          <a:xfrm>
            <a:off x="452928" y="1035876"/>
            <a:ext cx="10008144" cy="461665"/>
          </a:xfrm>
          <a:prstGeom prst="rect">
            <a:avLst/>
          </a:prstGeom>
          <a:noFill/>
        </p:spPr>
        <p:txBody>
          <a:bodyPr wrap="square">
            <a:spAutoFit/>
          </a:bodyPr>
          <a:lstStyle/>
          <a:p>
            <a:r>
              <a:rPr lang="en-US" sz="2400" dirty="0"/>
              <a:t>4.    Dyadic regressions</a:t>
            </a:r>
          </a:p>
        </p:txBody>
      </p:sp>
      <p:sp>
        <p:nvSpPr>
          <p:cNvPr id="5" name="TextBox 4">
            <a:extLst>
              <a:ext uri="{FF2B5EF4-FFF2-40B4-BE49-F238E27FC236}">
                <a16:creationId xmlns:a16="http://schemas.microsoft.com/office/drawing/2014/main" id="{FC72DDAE-3FB3-4309-96E7-D3F1FC18B660}"/>
              </a:ext>
            </a:extLst>
          </p:cNvPr>
          <p:cNvSpPr txBox="1"/>
          <p:nvPr/>
        </p:nvSpPr>
        <p:spPr>
          <a:xfrm>
            <a:off x="982026" y="1696405"/>
            <a:ext cx="11090323" cy="400110"/>
          </a:xfrm>
          <a:prstGeom prst="rect">
            <a:avLst/>
          </a:prstGeom>
          <a:noFill/>
        </p:spPr>
        <p:txBody>
          <a:bodyPr wrap="square">
            <a:spAutoFit/>
          </a:bodyPr>
          <a:lstStyle/>
          <a:p>
            <a:r>
              <a:rPr lang="en-US" sz="2000" b="1" dirty="0"/>
              <a:t>I might want to test hypotheses directly related to the edges in the network and node traits</a:t>
            </a:r>
          </a:p>
        </p:txBody>
      </p:sp>
      <p:sp>
        <p:nvSpPr>
          <p:cNvPr id="9" name="TextBox 8">
            <a:extLst>
              <a:ext uri="{FF2B5EF4-FFF2-40B4-BE49-F238E27FC236}">
                <a16:creationId xmlns:a16="http://schemas.microsoft.com/office/drawing/2014/main" id="{41095107-67A5-487E-AF0A-EC8CE219CB13}"/>
              </a:ext>
            </a:extLst>
          </p:cNvPr>
          <p:cNvSpPr txBox="1"/>
          <p:nvPr/>
        </p:nvSpPr>
        <p:spPr>
          <a:xfrm>
            <a:off x="1510344" y="2967441"/>
            <a:ext cx="8851554" cy="1015663"/>
          </a:xfrm>
          <a:prstGeom prst="rect">
            <a:avLst/>
          </a:prstGeom>
          <a:solidFill>
            <a:schemeClr val="accent1">
              <a:lumMod val="75000"/>
            </a:schemeClr>
          </a:solidFill>
        </p:spPr>
        <p:txBody>
          <a:bodyPr wrap="square" rtlCol="0">
            <a:spAutoFit/>
          </a:bodyPr>
          <a:lstStyle/>
          <a:p>
            <a:pPr algn="ctr"/>
            <a:r>
              <a:rPr lang="en-US" sz="3000" b="1" dirty="0">
                <a:solidFill>
                  <a:schemeClr val="bg1"/>
                </a:solidFill>
              </a:rPr>
              <a:t>Go to the R Markdown for Session 3 and work through the section SESSION 3: PART 5 </a:t>
            </a:r>
          </a:p>
        </p:txBody>
      </p:sp>
    </p:spTree>
    <p:extLst>
      <p:ext uri="{BB962C8B-B14F-4D97-AF65-F5344CB8AC3E}">
        <p14:creationId xmlns:p14="http://schemas.microsoft.com/office/powerpoint/2010/main" val="2566958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16542</TotalTime>
  <Words>6310</Words>
  <Application>Microsoft Office PowerPoint</Application>
  <PresentationFormat>Widescreen</PresentationFormat>
  <Paragraphs>1751</Paragraphs>
  <Slides>104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104</vt:i4>
      </vt:variant>
    </vt:vector>
  </HeadingPairs>
  <TitlesOfParts>
    <vt:vector size="110" baseType="lpstr">
      <vt:lpstr>Arial</vt:lpstr>
      <vt:lpstr>Calibri</vt:lpstr>
      <vt:lpstr>Calibri Light</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Matthew Silk</cp:lastModifiedBy>
  <cp:revision>102</cp:revision>
  <dcterms:created xsi:type="dcterms:W3CDTF">2023-03-06T09:50:44Z</dcterms:created>
  <dcterms:modified xsi:type="dcterms:W3CDTF">2025-10-26T15:13:08Z</dcterms:modified>
</cp:coreProperties>
</file>